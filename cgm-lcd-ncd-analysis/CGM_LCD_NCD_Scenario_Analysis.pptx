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Continuous Glucose Monitors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9FC2E8"/>
                </a:solidFill>
                <a:latin typeface="Calibri"/>
              </a:rPr>
              <a:t>Scenario Analysis of a New Medicare LCD / NCD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9184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BFD3EC"/>
                </a:solidFill>
                <a:latin typeface="Calibri"/>
              </a:rPr>
              <a:t>Probability-Weighted Outcomes  ·  Precedent Base Rates  ·  Investment Implications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3484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Prepared for: Investment Diligence — Internal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Date: June 10, 2026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Horizon: Coverage &amp; payment events through YE2028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FC2E8"/>
                </a:solidFill>
                <a:latin typeface="Calibri"/>
              </a:rPr>
              <a:t>Bottom line: </a:t>
            </a:r>
            <a:r>
              <a:rPr sz="1300" b="0" i="1">
                <a:solidFill>
                  <a:srgbClr val="FFFFFF"/>
                </a:solidFill>
                <a:latin typeface="Calibri"/>
              </a:rPr>
              <a:t>Coverage is expanding while payment is being cut — two opposing tracks, often conflated.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Central Idea: Two Opposing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The most common analytical error is conflating coverage with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4480560"/>
          </a:xfrm>
          <a:prstGeom prst="rect">
            <a:avLst/>
          </a:prstGeom>
          <a:solidFill>
            <a:srgbClr val="E3F1E4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120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E7D32"/>
                </a:solidFill>
                <a:latin typeface="Calibri"/>
              </a:rPr>
              <a:t>TRACK A — ELIGIBILITY  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12064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Direction:  </a:t>
            </a:r>
            <a:r>
              <a:rPr sz="1300" b="1" i="0">
                <a:solidFill>
                  <a:srgbClr val="2E7D32"/>
                </a:solidFill>
                <a:latin typeface="Calibri"/>
              </a:rPr>
              <a:t>Expansionary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Instrument:  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DME MAC LCD L33822 revision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Status:  </a:t>
            </a:r>
            <a:r>
              <a:rPr sz="1300" b="1" i="0">
                <a:solidFill>
                  <a:srgbClr val="B8860B"/>
                </a:solidFill>
                <a:latin typeface="Calibri"/>
              </a:rPr>
              <a:t>Anticipated, not yet filed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Key event:  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Draft LCD for non-insulin T2D, exp. H2 2026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Effect:  </a:t>
            </a:r>
            <a:r>
              <a:rPr sz="1300" b="1" i="0">
                <a:solidFill>
                  <a:srgbClr val="2E7D32"/>
                </a:solidFill>
                <a:latin typeface="Calibri"/>
              </a:rPr>
              <a:t>Adds up to ~12M eligible lives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86400" cy="4480560"/>
          </a:xfrm>
          <a:prstGeom prst="rect">
            <a:avLst/>
          </a:prstGeom>
          <a:solidFill>
            <a:srgbClr val="FBE7E5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120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TRACK B — PAYMENT  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12064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C0392B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Direction: 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Restrictive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C0392B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Instrument:  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Competitive bidding + monthly rental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C0392B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Status: 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FINALIZED Nov 28, 2025 — now law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C0392B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Key event:  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Contracts effective ≤ Jan 1, 2028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C0392B"/>
                </a:solidFill>
              </a:rPr>
              <a:t>▪  </a:t>
            </a:r>
            <a:r>
              <a:rPr sz="1300" b="1" i="0">
                <a:solidFill>
                  <a:srgbClr val="1F335E"/>
                </a:solidFill>
                <a:latin typeface="Calibri"/>
              </a:rPr>
              <a:t>Effect: 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Cuts unit reimbursement ~15–40%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35E"/>
                </a:solidFill>
                <a:latin typeface="Calibri"/>
              </a:rPr>
              <a:t>Model Medicare CGM revenue = VOLUME (coverage scenario) × PRICE (almost certainly lower from 2028). No scenario leaves 2028 unit price above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Probability-Weighted Scenario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Coverage-instrument outcome over a ~24–36 month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74552" cy="41148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25880"/>
            <a:ext cx="66751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25880"/>
            <a:ext cx="11887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325880"/>
            <a:ext cx="2770632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Net 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11274552" cy="713232"/>
          </a:xfrm>
          <a:prstGeom prst="rect">
            <a:avLst/>
          </a:prstGeom>
          <a:solidFill>
            <a:srgbClr val="E3F1E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6400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35E"/>
                </a:solidFill>
                <a:latin typeface="Calibri"/>
              </a:rPr>
              <a:t>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737360"/>
            <a:ext cx="65836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Conditioned LCD expansion to non-insulin T2D (A1c / hypo-med / structured)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737360"/>
            <a:ext cx="11887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737360"/>
            <a:ext cx="27432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MODAL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75992"/>
            <a:ext cx="11274552" cy="713232"/>
          </a:xfrm>
          <a:prstGeom prst="rect">
            <a:avLst/>
          </a:prstGeom>
          <a:solidFill>
            <a:srgbClr val="E3F1E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75992"/>
            <a:ext cx="6400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35E"/>
                </a:solidFill>
                <a:latin typeface="Calibri"/>
              </a:rPr>
              <a:t>S2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475992"/>
            <a:ext cx="65836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Broad LCD expansion to all non-insulin T2D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475992"/>
            <a:ext cx="11887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475992"/>
            <a:ext cx="27432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Bull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14624"/>
            <a:ext cx="11274552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14624"/>
            <a:ext cx="6400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35E"/>
                </a:solidFill>
                <a:latin typeface="Calibri"/>
              </a:rPr>
              <a:t>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214624"/>
            <a:ext cx="65836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Status quo persists (expansion slips past horizon)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14624"/>
            <a:ext cx="11887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B8860B"/>
                </a:solidFill>
                <a:latin typeface="Calibri"/>
              </a:rP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214624"/>
            <a:ext cx="27432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8860B"/>
                </a:solidFill>
                <a:latin typeface="Calibri"/>
              </a:rPr>
              <a:t>Neutral*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53256"/>
            <a:ext cx="11274552" cy="713232"/>
          </a:xfrm>
          <a:prstGeom prst="rect">
            <a:avLst/>
          </a:prstGeom>
          <a:solidFill>
            <a:srgbClr val="FBE7E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53256"/>
            <a:ext cx="6400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35E"/>
                </a:solidFill>
                <a:latin typeface="Calibri"/>
              </a:rPr>
              <a:t>S4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953256"/>
            <a:ext cx="65836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Restriction-led: bidding bites + documentation / prior-auth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953256"/>
            <a:ext cx="11887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953256"/>
            <a:ext cx="27432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Bear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91888"/>
            <a:ext cx="11274552" cy="713232"/>
          </a:xfrm>
          <a:prstGeom prst="rect">
            <a:avLst/>
          </a:prstGeom>
          <a:solidFill>
            <a:srgbClr val="FBE7E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91888"/>
            <a:ext cx="6400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35E"/>
                </a:solidFill>
                <a:latin typeface="Calibri"/>
              </a:rPr>
              <a:t>S5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691888"/>
            <a:ext cx="65836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NCD / CED tail (national action; restrictive trapdoor)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691888"/>
            <a:ext cx="11887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691888"/>
            <a:ext cx="27432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Binary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335E"/>
                </a:solidFill>
                <a:latin typeface="Calibri"/>
              </a:rPr>
              <a:t>Some expansion (S1+S2) ≈ 55%   ·   Do-no-harm-to-volume (S1+S2+S3) ≈ 80%   ·   Materially adverse (S4 + restrictive S5) ≈ 18%.   </a:t>
            </a:r>
            <a:r>
              <a:rPr sz="1250" b="0" i="1">
                <a:solidFill>
                  <a:srgbClr val="595959"/>
                </a:solidFill>
                <a:latin typeface="Calibri"/>
              </a:rPr>
              <a:t>*S3 still neutral-to-negative because the price cut lands regardless.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We Got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Coverage has expanded via the lightest instruments; payment only now turned restrictive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383280"/>
            <a:ext cx="9902952" cy="50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" y="3264408"/>
            <a:ext cx="292608" cy="292608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554480"/>
            <a:ext cx="1700784" cy="1554480"/>
          </a:xfrm>
          <a:prstGeom prst="rect">
            <a:avLst/>
          </a:prstGeom>
          <a:solidFill>
            <a:srgbClr val="EEF2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627632"/>
            <a:ext cx="17007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35E"/>
                </a:solidFill>
                <a:latin typeface="Calibri"/>
              </a:rPr>
              <a:t>Ruling 1682-R: therapeutic CGM = DME</a:t>
            </a:r>
          </a:p>
        </p:txBody>
      </p:sp>
      <p:sp>
        <p:nvSpPr>
          <p:cNvPr id="12" name="Oval 11"/>
          <p:cNvSpPr/>
          <p:nvPr/>
        </p:nvSpPr>
        <p:spPr>
          <a:xfrm>
            <a:off x="2977286" y="3264408"/>
            <a:ext cx="292608" cy="292608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73198" y="3886200"/>
            <a:ext cx="1700784" cy="1554480"/>
          </a:xfrm>
          <a:prstGeom prst="rect">
            <a:avLst/>
          </a:prstGeom>
          <a:solidFill>
            <a:srgbClr val="EEF2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3198" y="3959352"/>
            <a:ext cx="17007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350" y="4343400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35E"/>
                </a:solidFill>
                <a:latin typeface="Calibri"/>
              </a:rPr>
              <a:t>Fingerstick 4×/day prerequisite removed</a:t>
            </a:r>
          </a:p>
        </p:txBody>
      </p:sp>
      <p:sp>
        <p:nvSpPr>
          <p:cNvPr id="16" name="Oval 15"/>
          <p:cNvSpPr/>
          <p:nvPr/>
        </p:nvSpPr>
        <p:spPr>
          <a:xfrm>
            <a:off x="4957876" y="3264408"/>
            <a:ext cx="292608" cy="292608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3788" y="1554480"/>
            <a:ext cx="1700784" cy="1554480"/>
          </a:xfrm>
          <a:prstGeom prst="rect">
            <a:avLst/>
          </a:prstGeom>
          <a:solidFill>
            <a:srgbClr val="EEF2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3788" y="1627632"/>
            <a:ext cx="17007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6940" y="2011680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35E"/>
                </a:solidFill>
                <a:latin typeface="Calibri"/>
              </a:rPr>
              <a:t>Expansion: any insulin / problematic hypo</a:t>
            </a:r>
          </a:p>
        </p:txBody>
      </p:sp>
      <p:sp>
        <p:nvSpPr>
          <p:cNvPr id="20" name="Oval 19"/>
          <p:cNvSpPr/>
          <p:nvPr/>
        </p:nvSpPr>
        <p:spPr>
          <a:xfrm>
            <a:off x="6938467" y="3264408"/>
            <a:ext cx="292608" cy="292608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4379" y="3886200"/>
            <a:ext cx="1700784" cy="1554480"/>
          </a:xfrm>
          <a:prstGeom prst="rect">
            <a:avLst/>
          </a:prstGeom>
          <a:solidFill>
            <a:srgbClr val="EEF2F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4379" y="3959352"/>
            <a:ext cx="17007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Nov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7531" y="4343400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35E"/>
                </a:solidFill>
                <a:latin typeface="Calibri"/>
              </a:rPr>
              <a:t>FINAL: bidding + monthly rental</a:t>
            </a:r>
          </a:p>
        </p:txBody>
      </p:sp>
      <p:sp>
        <p:nvSpPr>
          <p:cNvPr id="24" name="Oval 23"/>
          <p:cNvSpPr/>
          <p:nvPr/>
        </p:nvSpPr>
        <p:spPr>
          <a:xfrm>
            <a:off x="8919057" y="3264408"/>
            <a:ext cx="292608" cy="292608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14969" y="1554480"/>
            <a:ext cx="1700784" cy="1554480"/>
          </a:xfrm>
          <a:prstGeom prst="rect">
            <a:avLst/>
          </a:prstGeom>
          <a:solidFill>
            <a:srgbClr val="EEF2F8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4969" y="1627632"/>
            <a:ext cx="17007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H2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121" y="2011680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35E"/>
                </a:solidFill>
                <a:latin typeface="Calibri"/>
              </a:rPr>
              <a:t>Expected draft LCD: non-insulin T2D</a:t>
            </a:r>
          </a:p>
        </p:txBody>
      </p:sp>
      <p:sp>
        <p:nvSpPr>
          <p:cNvPr id="28" name="Oval 27"/>
          <p:cNvSpPr/>
          <p:nvPr/>
        </p:nvSpPr>
        <p:spPr>
          <a:xfrm>
            <a:off x="10899648" y="3264408"/>
            <a:ext cx="292608" cy="292608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95560" y="3886200"/>
            <a:ext cx="1700784" cy="1554480"/>
          </a:xfrm>
          <a:prstGeom prst="rect">
            <a:avLst/>
          </a:prstGeom>
          <a:solidFill>
            <a:srgbClr val="EEF2F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3959352"/>
            <a:ext cx="17007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Jan 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8712" y="4343400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35E"/>
                </a:solidFill>
                <a:latin typeface="Calibri"/>
              </a:rPr>
              <a:t>Bidding contracts effective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35E"/>
                </a:solidFill>
                <a:latin typeface="Calibri"/>
              </a:rPr>
              <a:t>Pattern:  </a:t>
            </a:r>
            <a:r>
              <a:rPr sz="1300" b="0" i="1">
                <a:solidFill>
                  <a:srgbClr val="595959"/>
                </a:solidFill>
                <a:latin typeface="Calibri"/>
              </a:rPr>
              <a:t>every coverage change rode a sub-NCD instrument (ruling, payment rule, LCD). The next move is overwhelmingly likely to be an LCD, not an NCD.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Is at Stake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Medicare CGM spend grew ~12× in five years; the non-insulin TAM is the prize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2377440"/>
          </a:xfrm>
          <a:prstGeom prst="rect">
            <a:avLst/>
          </a:prstGeom>
          <a:solidFill>
            <a:srgbClr val="EEF2F8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4B5"/>
                </a:solidFill>
                <a:latin typeface="Calibri"/>
              </a:rPr>
              <a:t>MEDICARE CGM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1206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595959"/>
                </a:solidFill>
                <a:latin typeface="Calibri"/>
              </a:rPr>
              <a:t>$109M </a:t>
            </a:r>
            <a:r>
              <a:rPr sz="1600" b="0" i="0">
                <a:solidFill>
                  <a:srgbClr val="595959"/>
                </a:solidFill>
                <a:latin typeface="Calibri"/>
              </a:rPr>
              <a:t>(2018)   →   </a:t>
            </a:r>
            <a:r>
              <a:rPr sz="2400" b="1" i="0">
                <a:solidFill>
                  <a:srgbClr val="1F335E"/>
                </a:solidFill>
                <a:latin typeface="Calibri"/>
              </a:rPr>
              <a:t>$1.3B </a:t>
            </a:r>
            <a:r>
              <a:rPr sz="1600" b="0" i="0">
                <a:solidFill>
                  <a:srgbClr val="595959"/>
                </a:solidFill>
                <a:latin typeface="Calibri"/>
              </a:rPr>
              <a:t>(2023)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OIG (Nov 2025): paid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69% above supplier cost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 — $377M/yr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25.2% improper-payment rate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 on glucose monitors (2024)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A4239 supply allowance </a:t>
            </a:r>
            <a:r>
              <a:rPr sz="1200" b="1" i="0">
                <a:solidFill>
                  <a:srgbClr val="1F335E"/>
                </a:solidFill>
                <a:latin typeface="Calibri"/>
              </a:rPr>
              <a:t>~$268/mo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vs. OTC ~$89–99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00" cy="1920240"/>
          </a:xfrm>
          <a:prstGeom prst="rect">
            <a:avLst/>
          </a:prstGeom>
          <a:solidFill>
            <a:srgbClr val="E3F1E4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ADOPTION INFLECTED POST-2023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51206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CGM use, MA Type 2 insulin users:  </a:t>
            </a:r>
            <a:r>
              <a:rPr sz="1400" b="1" i="0">
                <a:solidFill>
                  <a:srgbClr val="2E7D32"/>
                </a:solidFill>
                <a:latin typeface="Calibri"/>
              </a:rPr>
              <a:t>1.4% → 17.2%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Jan 2021 → 2023, accelerating with the April 2023 LCD expansion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GLP-1s a modest tailwind, not a substitute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54864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35E"/>
                </a:solidFill>
                <a:latin typeface="Calibri"/>
              </a:rPr>
              <a:t>THE TAM LADDER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828800"/>
            <a:ext cx="5120640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335E"/>
                </a:solidFill>
                <a:latin typeface="Calibri"/>
              </a:rPr>
              <a:t>Type 1 + intensive insulin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828800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Covered 2017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587752"/>
            <a:ext cx="5120640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87752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335E"/>
                </a:solidFill>
                <a:latin typeface="Calibri"/>
              </a:rPr>
              <a:t>Basal-only insulin (T2)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587752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Covered 2023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346704"/>
            <a:ext cx="5120640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346704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335E"/>
                </a:solidFill>
                <a:latin typeface="Calibri"/>
              </a:rPr>
              <a:t>Non-insulin T2 w/ problematic hypo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346704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Covered 2023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105656"/>
            <a:ext cx="5120640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105656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335E"/>
                </a:solidFill>
                <a:latin typeface="Calibri"/>
              </a:rPr>
              <a:t>Non-insulin T2 (no hypo) — ~12M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105656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THE 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4864608"/>
            <a:ext cx="5120640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864608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335E"/>
                </a:solidFill>
                <a:latin typeface="Calibri"/>
              </a:rPr>
              <a:t>Prediabetes / wellness — ~31M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864608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Calibri"/>
              </a:rPr>
              <a:t>OTC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Evidence That Drives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Borderline-and-strengthening for structured populations; not a slam-dunk for blanket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Clinical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064240" cy="384048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25880"/>
            <a:ext cx="3657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25880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325880"/>
            <a:ext cx="16459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11064240" cy="566928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709928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Intensive insulin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709928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DIAMOND, GOLD, HypoDE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1709928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Large benefit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1709928"/>
            <a:ext cx="1645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Settled (A)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95906"/>
            <a:ext cx="11064240" cy="566928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295906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Older adults (T1D)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0752" y="2295906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WISDM (n=203, ≥60y)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295906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−1.9% time &lt;70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2295906"/>
            <a:ext cx="1645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Strong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1884"/>
            <a:ext cx="11064240" cy="566928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881884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Basal insulin T2D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2881884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MOBILE (JAMA 2021)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2881884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−0.4% A1c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2881884"/>
            <a:ext cx="1645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Adequate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67862"/>
            <a:ext cx="11064240" cy="566928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467862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Non-insulin T2D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3467862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CONNECT (Jun 2026); IMMEDIATE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3467862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CONNECT −0.9%; pooled ~−0.3%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3467862"/>
            <a:ext cx="1645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8860B"/>
                </a:solidFill>
                <a:latin typeface="Calibri"/>
              </a:rPr>
              <a:t>Contested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53840"/>
            <a:ext cx="11064240" cy="566928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53840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Prediabetes / wellness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4053840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No supportive RCT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352" y="4053840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335E"/>
                </a:solidFill>
                <a:latin typeface="Calibri"/>
              </a:rPr>
              <a:t>Null / minimal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4053840"/>
            <a:ext cx="1645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Calibri"/>
              </a:rPr>
              <a:t>Weak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83480"/>
            <a:ext cx="5486400" cy="1417320"/>
          </a:xfrm>
          <a:prstGeom prst="rect">
            <a:avLst/>
          </a:prstGeom>
          <a:solidFill>
            <a:srgbClr val="E3F1E4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047488"/>
            <a:ext cx="52120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PIVOTAL: CONNECT (Jun 2026)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35E"/>
                </a:solidFill>
                <a:latin typeface="Calibri"/>
              </a:rPr>
              <a:t>n=283 non-insulin T2D, 22 sites: </a:t>
            </a:r>
            <a:r>
              <a:rPr sz="1100" b="1" i="0">
                <a:solidFill>
                  <a:srgbClr val="2E7D32"/>
                </a:solidFill>
                <a:latin typeface="Calibri"/>
              </a:rPr>
              <a:t>−0.9% A1c</a:t>
            </a:r>
            <a:r>
              <a:rPr sz="1100" b="0" i="0">
                <a:solidFill>
                  <a:srgbClr val="1F335E"/>
                </a:solidFill>
                <a:latin typeface="Calibri"/>
              </a:rPr>
              <a:t> vs. routine care. "First Level A evidence." But open-label, industry-funded, 26 wks, A1c not hard outcomes.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983480"/>
            <a:ext cx="5257800" cy="1417320"/>
          </a:xfrm>
          <a:prstGeom prst="rect">
            <a:avLst/>
          </a:prstGeom>
          <a:solidFill>
            <a:srgbClr val="FBE7E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047488"/>
            <a:ext cx="502920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SKEPTIC CASE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35E"/>
                </a:solidFill>
                <a:latin typeface="Calibri"/>
              </a:rPr>
              <a:t>Pooled effects shrink to ~−0.28% (Richardson 2024); durability unproven; hard-outcome data uncontrolled; NICE &amp; USPSTF decline non-insulin. </a:t>
            </a:r>
            <a:r>
              <a:rPr sz="1100" b="1" i="0">
                <a:solidFill>
                  <a:srgbClr val="C0392B"/>
                </a:solidFill>
                <a:latin typeface="Calibri"/>
              </a:rPr>
              <a:t>→ favors a conditioned expansion.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Precedent Base Rates: Bull vs. Bear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Analogous Medicare decisions bracket the plausible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Precedent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2240280"/>
          </a:xfrm>
          <a:prstGeom prst="rect">
            <a:avLst/>
          </a:prstGeom>
          <a:solidFill>
            <a:srgbClr val="E3F1E4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7160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BULL — CPAP analog (2008)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10512"/>
            <a:ext cx="512064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</a:rPr>
              <a:t>▪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Lowered diagnostic barrier (home sleep test) → </a:t>
            </a:r>
            <a:r>
              <a:rPr sz="1150" b="1" i="0">
                <a:solidFill>
                  <a:srgbClr val="2E7D32"/>
                </a:solidFill>
                <a:latin typeface="Calibri"/>
              </a:rPr>
              <a:t>decade-plus volume boom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</a:rPr>
              <a:t>▪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The 2023 CGM LCD already ran this play (dropped fingerstick). Non-insulin would extend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</a:rPr>
              <a:t>▪  </a:t>
            </a:r>
            <a:r>
              <a:rPr sz="1150" b="1" i="0">
                <a:solidFill>
                  <a:srgbClr val="C0392B"/>
                </a:solidFill>
                <a:latin typeface="Calibri"/>
              </a:rPr>
              <a:t>Catch: </a:t>
            </a:r>
            <a:r>
              <a:rPr sz="1150" b="0" i="1">
                <a:solidFill>
                  <a:srgbClr val="1F335E"/>
                </a:solidFill>
                <a:latin typeface="Calibri"/>
              </a:rPr>
              <a:t>a resupply boom invites the OIG/audit scrutiny CGM now faces.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86400" cy="2240280"/>
          </a:xfrm>
          <a:prstGeom prst="rect">
            <a:avLst/>
          </a:prstGeom>
          <a:solidFill>
            <a:srgbClr val="FBE7E5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37160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BEAR — Power mobility analog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10512"/>
            <a:ext cx="512064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</a:rPr>
              <a:t>▪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Documentation + prior auth + competitive bidding → </a:t>
            </a:r>
            <a:r>
              <a:rPr sz="1150" b="1" i="0">
                <a:solidFill>
                  <a:srgbClr val="C0392B"/>
                </a:solidFill>
                <a:latin typeface="Calibri"/>
              </a:rPr>
              <a:t>spend ~$964M→$190M (~80%)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</a:rPr>
              <a:t>▪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No formal "non-coverage" decision needed — attrition does the work.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</a:rPr>
              <a:t>▪  </a:t>
            </a:r>
            <a:r>
              <a:rPr sz="1150" b="0" i="1">
                <a:solidFill>
                  <a:srgbClr val="1F335E"/>
                </a:solidFill>
                <a:latin typeface="Calibri"/>
              </a:rPr>
              <a:t>CGM is already 3 of 4 steps in: growing spend, fraud takedowns, bidding finalized.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35E"/>
                </a:solidFill>
                <a:latin typeface="Calibri"/>
              </a:rPr>
              <a:t>OTHER INSTRUCTIVE PRECEDENTS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2157984" cy="1143000"/>
          </a:xfrm>
          <a:prstGeom prst="rect">
            <a:avLst/>
          </a:prstGeom>
          <a:solidFill>
            <a:srgbClr val="EEF2F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35E"/>
                </a:solidFill>
                <a:latin typeface="Calibri"/>
              </a:rPr>
              <a:t>Test strips (CB)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Price −79%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8336" y="4069080"/>
            <a:ext cx="2157984" cy="1143000"/>
          </a:xfrm>
          <a:prstGeom prst="rect">
            <a:avLst/>
          </a:prstGeom>
          <a:solidFill>
            <a:srgbClr val="EEF2F8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9776" y="416052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35E"/>
                </a:solidFill>
                <a:latin typeface="Calibri"/>
              </a:rPr>
              <a:t>TENS / CLBP (CED)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6" y="470916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CED = de facto non-coverage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9472" y="4069080"/>
            <a:ext cx="2157984" cy="1143000"/>
          </a:xfrm>
          <a:prstGeom prst="rect">
            <a:avLst/>
          </a:prstGeom>
          <a:solidFill>
            <a:srgbClr val="EEF2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912" y="416052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35E"/>
                </a:solidFill>
                <a:latin typeface="Calibri"/>
              </a:rPr>
              <a:t>Seat elevation NCD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470916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7D32"/>
                </a:solidFill>
                <a:latin typeface="Calibri"/>
              </a:rPr>
              <a:t>Advocacy widened final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8" y="4069080"/>
            <a:ext cx="2157984" cy="1143000"/>
          </a:xfrm>
          <a:prstGeom prst="rect">
            <a:avLst/>
          </a:prstGeom>
          <a:solidFill>
            <a:srgbClr val="EEF2F8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416052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35E"/>
                </a:solidFill>
                <a:latin typeface="Calibri"/>
              </a:rPr>
              <a:t>Insulin pump NCD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470916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8860B"/>
                </a:solidFill>
                <a:latin typeface="Calibri"/>
              </a:rPr>
              <a:t>Restrictive criteria stick 20+ yrs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81744" y="4069080"/>
            <a:ext cx="2157984" cy="1143000"/>
          </a:xfrm>
          <a:prstGeom prst="rect">
            <a:avLst/>
          </a:prstGeom>
          <a:solidFill>
            <a:srgbClr val="EEF2F8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73184" y="416052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35E"/>
                </a:solidFill>
                <a:latin typeface="Calibri"/>
              </a:rPr>
              <a:t>Eversense I-CGM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4709160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8860B"/>
                </a:solidFill>
                <a:latin typeface="Calibri"/>
              </a:rPr>
              <a:t>Coverage ≠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40680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335E"/>
                </a:solidFill>
                <a:latin typeface="Calibri"/>
              </a:rPr>
              <a:t>Process reality:  </a:t>
            </a:r>
            <a:r>
              <a:rPr sz="1250" b="0" i="0">
                <a:solidFill>
                  <a:srgbClr val="595959"/>
                </a:solidFill>
                <a:latin typeface="Calibri"/>
              </a:rPr>
              <a:t>NCDs are rare (~4/yr) and slowing (CMS coverage staff −22% since Dec 2024). LCDs finalize within 365 days and flex both ways. Comment volume &amp; advocacy demonstrably move CMS.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Scenarios in Detail (1 of 2): The Expansion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S1 + S2 ≈ 55% probability of some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S1–S2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5074920"/>
          </a:xfrm>
          <a:prstGeom prst="rect">
            <a:avLst/>
          </a:prstGeom>
          <a:solidFill>
            <a:srgbClr val="E3F1E4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71600"/>
            <a:ext cx="515721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S1  </a:t>
            </a:r>
            <a:r>
              <a:rPr sz="2000" b="1" i="0">
                <a:solidFill>
                  <a:srgbClr val="1F335E"/>
                </a:solidFill>
                <a:latin typeface="Calibri"/>
              </a:rPr>
              <a:t>—  35%  MODAL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15721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35E"/>
                </a:solidFill>
                <a:latin typeface="Calibri"/>
              </a:rPr>
              <a:t>Conditioned LCD expansion to non-insulin T2D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14600"/>
            <a:ext cx="5157216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Mechanism: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DME MACs add non-insulin T2D but gated by an A1c threshold, hypoglycemia-risk meds, or a structured / time-limited (professional) CGM allowance — the outcome the evidence and hedged ADA-2026 language best support.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Timeline: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Draft LCD H2 2026 → comment + open meeting → final mid-2027 → effective ~Q3–Q4 2027, landing alongside the Jan 2028 price cut.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Impact: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Positive but margin-compressed. A gate may capture 30–60% of the ~12M, phased in as documentation throttles uptake. Net revenue grows; realized uptake lags the headline TAM (the Eversense lesson).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486400" cy="5074920"/>
          </a:xfrm>
          <a:prstGeom prst="rect">
            <a:avLst/>
          </a:prstGeom>
          <a:solidFill>
            <a:srgbClr val="E3F1E4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371600"/>
            <a:ext cx="515721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S2  </a:t>
            </a:r>
            <a:r>
              <a:rPr sz="2000" b="1" i="0">
                <a:solidFill>
                  <a:srgbClr val="1F335E"/>
                </a:solidFill>
                <a:latin typeface="Calibri"/>
              </a:rPr>
              <a:t>— 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28800"/>
            <a:ext cx="515721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35E"/>
                </a:solidFill>
                <a:latin typeface="Calibri"/>
              </a:rPr>
              <a:t>Broad LCD expansion to all non-insulin T2D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14600"/>
            <a:ext cx="5157216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Mechanism: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Minimal gating (diagnosis + visit cadence), mirroring how the 2023 final LCD came out broader than its draft. Driven by advocacy/comment volume, MAHA wearable enthusiasm, and lobbying.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Timeline: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Draft H2 2026 → final broadened by comments → effective 2027. Fastest large-TAM unlock.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Impact: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Strongly positive on volume — approaches the full ~12M over time and de-risks ~6.5M commercial lives. Still subject to the price cut, but volume dominates. The manufacturers’ base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Scenarios in Detail (2 of 2): Stall &amp; Restriction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S3 delay vs. S4 the highest-conviction bear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S3–S4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5074920"/>
          </a:xfrm>
          <a:prstGeom prst="rect">
            <a:avLst/>
          </a:prstGeom>
          <a:solidFill>
            <a:srgbClr val="FBF3DD"/>
          </a:solidFill>
          <a:ln w="254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71600"/>
            <a:ext cx="515721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S3  </a:t>
            </a:r>
            <a:r>
              <a:rPr sz="2000" b="1" i="0">
                <a:solidFill>
                  <a:srgbClr val="1F335E"/>
                </a:solidFill>
                <a:latin typeface="Calibri"/>
              </a:rPr>
              <a:t>—  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15721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35E"/>
                </a:solidFill>
                <a:latin typeface="Calibri"/>
              </a:rPr>
              <a:t>Status quo persists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14600"/>
            <a:ext cx="5157216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B8860B"/>
                </a:solidFill>
                <a:latin typeface="Calibri"/>
              </a:rPr>
              <a:t>Mechanism: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No expansion LCD finalizes in-horizon — delayed, withdrawn, or stuck. Drivers: depleted coverage staff, MAHA fiscal hawkishness, an evidence base critics call thin, CMS bandwidth on bidding.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B8860B"/>
                </a:solidFill>
                <a:latin typeface="Calibri"/>
              </a:rPr>
              <a:t>Timeline: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No draft, or a draft that does not finalize by early 2028. Eligibility frozen at 2023 criteria.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8860B"/>
                </a:solidFill>
                <a:latin typeface="Calibri"/>
              </a:rPr>
              <a:t>Impact: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Neutral on the thesis but NOT overall — the price cut still lands in 2028. Mild negative to flat; likely a "TAM-unlock-delayed" de-rating.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486400" cy="5074920"/>
          </a:xfrm>
          <a:prstGeom prst="rect">
            <a:avLst/>
          </a:prstGeom>
          <a:solidFill>
            <a:srgbClr val="FBE7E5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371600"/>
            <a:ext cx="515721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S4  </a:t>
            </a:r>
            <a:r>
              <a:rPr sz="2000" b="1" i="0">
                <a:solidFill>
                  <a:srgbClr val="1F335E"/>
                </a:solidFill>
                <a:latin typeface="Calibri"/>
              </a:rPr>
              <a:t>—  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28800"/>
            <a:ext cx="515721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35E"/>
                </a:solidFill>
                <a:latin typeface="Calibri"/>
              </a:rPr>
              <a:t>Restriction-led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14600"/>
            <a:ext cx="5157216" cy="3749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C0392B"/>
                </a:solidFill>
                <a:latin typeface="Calibri"/>
              </a:rPr>
              <a:t>Mechanism: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Beyond bidding, integrity pressure (OIG 69% overpayment, DOJ CGM fraud, 25% improper rate) prompts documentation tightening, prior authorization, or resupply audits — the PAP / power-mobility playbook. Expansion stalls.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C0392B"/>
                </a:solidFill>
                <a:latin typeface="Calibri"/>
              </a:rPr>
              <a:t>Timeline: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Prior auth / enhanced docs 2026–27; bidding SPAs at the low end (−30–45%); resupply audits expand.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Calibri"/>
              </a:rPr>
              <a:t>Impact:  </a:t>
            </a:r>
            <a:r>
              <a:rPr sz="1150" b="0" i="0">
                <a:solidFill>
                  <a:srgbClr val="1F335E"/>
                </a:solidFill>
                <a:latin typeface="Calibri"/>
              </a:rPr>
              <a:t>Negative. Volume throttled by friction and prior auth; price cut hard. The realistic downside is multi-year category attrition, not "non-coverage" — the highest-conviction bear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Tail (S5) and the Certainty (Payment)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A low-odds binary, and the cross-cutting price cut present in every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S5 + 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5074920"/>
          </a:xfrm>
          <a:prstGeom prst="rect">
            <a:avLst/>
          </a:prstGeom>
          <a:solidFill>
            <a:srgbClr val="FBE7E5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71600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S5  </a:t>
            </a:r>
            <a:r>
              <a:rPr sz="2000" b="1" i="0">
                <a:solidFill>
                  <a:srgbClr val="1F335E"/>
                </a:solidFill>
                <a:latin typeface="Calibri"/>
              </a:rPr>
              <a:t>—  NCD / CED tail   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20240"/>
            <a:ext cx="512064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Mechanism: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CMS opens a National Coverage Analysis — either to lock in expansion (seat-elevation style) or, adversely, to impose Coverage-with-Evidence-Development.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Why it matters: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CED without funded trials = de facto non-coverage (the TENS precedent). Restrictive NCD criteria are sticky for 20+ years (the insulin-pump lesson).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Odds: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Low — ~4 NCAs/yr, depleted staff, a 1–2 yr pre-opening queue.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Impact:  </a:t>
            </a:r>
            <a:r>
              <a:rPr sz="1200" b="1" i="0">
                <a:solidFill>
                  <a:srgbClr val="1F335E"/>
                </a:solidFill>
                <a:latin typeface="Calibri"/>
              </a:rPr>
              <a:t>Binary, high-variance — a tail to hedge, not a base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86400" cy="5074920"/>
          </a:xfrm>
          <a:prstGeom prst="rect">
            <a:avLst/>
          </a:prstGeom>
          <a:solidFill>
            <a:srgbClr val="EEF2F8"/>
          </a:solidFill>
          <a:ln w="25400">
            <a:solidFill>
              <a:srgbClr val="1F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371600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35E"/>
                </a:solidFill>
                <a:latin typeface="Calibri"/>
              </a:rPr>
              <a:t>PAYMENT: THE CROSS-CUTTING 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920240"/>
            <a:ext cx="512064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200" b="1" i="0">
                <a:solidFill>
                  <a:srgbClr val="2E74B5"/>
                </a:solidFill>
                <a:latin typeface="Calibri"/>
              </a:rPr>
              <a:t>Magnitude: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CB cuts DMEPOS 15–45%; test strips fell 79%. Plan for a ~20–35% CGM SPA cut.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200" b="1" i="0">
                <a:solidFill>
                  <a:srgbClr val="2E74B5"/>
                </a:solidFill>
                <a:latin typeface="Calibri"/>
              </a:rPr>
              <a:t>Structure: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Monthly rental + ~10 national suppliers compresses the distributor layer.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200" b="1" i="0">
                <a:solidFill>
                  <a:srgbClr val="2E74B5"/>
                </a:solidFill>
                <a:latin typeface="Calibri"/>
              </a:rPr>
              <a:t>Wildcard: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DIABETES Act (S.4037) would exempt CGMs 5 yrs — ~30–40% upside option, not a base case.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200" b="1" i="0">
                <a:solidFill>
                  <a:srgbClr val="2E74B5"/>
                </a:solidFill>
                <a:latin typeface="Calibri"/>
              </a:rPr>
              <a:t>OTC gravity:  </a:t>
            </a:r>
            <a:r>
              <a:rPr sz="1200" b="0" i="0">
                <a:solidFill>
                  <a:srgbClr val="1F335E"/>
                </a:solidFill>
                <a:latin typeface="Calibri"/>
              </a:rPr>
              <a:t>~$89–99/mo cash anchors reimbursement down over time, bidding or not.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No scenario leaves 2028 unit price above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Signposts: What Would Change Our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Track these to update probabilities in near-real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4552" cy="384048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858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If you observe…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71600"/>
            <a:ext cx="4023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Update toward…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11274552" cy="54864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55648"/>
            <a:ext cx="6858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Draft LCD posted H2 2026 with an A1c / med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55648"/>
            <a:ext cx="4023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Raise S1 → ~45%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23338"/>
            <a:ext cx="11274552" cy="54864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23338"/>
            <a:ext cx="6858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Draft LCD posted with no gating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323338"/>
            <a:ext cx="4023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Raise S2 → ~30%+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91028"/>
            <a:ext cx="11274552" cy="54864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91028"/>
            <a:ext cx="6858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No draft by YE2026 + integrity-focused messaging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891028"/>
            <a:ext cx="4023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Shift to S3 / S4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58718"/>
            <a:ext cx="11274552" cy="54864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458718"/>
            <a:ext cx="6858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CGM added to Required Prior Auth List / new TPE wave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458718"/>
            <a:ext cx="4023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Raise S4 materially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6408"/>
            <a:ext cx="11274552" cy="54864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26408"/>
            <a:ext cx="6858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An NCA tracking sheet for CGM appears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026408"/>
            <a:ext cx="4023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Re-underwrite S5 as binary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94098"/>
            <a:ext cx="11274552" cy="54864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94098"/>
            <a:ext cx="6858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DIABETES Act advances out of committee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594098"/>
            <a:ext cx="4023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Soften the price-cut assumption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61788"/>
            <a:ext cx="11274552" cy="54864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61788"/>
            <a:ext cx="6858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Bidding SPAs come in &lt;$200/mo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161788"/>
            <a:ext cx="4023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Deepen price compression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29478"/>
            <a:ext cx="11274552" cy="54864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729478"/>
            <a:ext cx="6858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ADA / AACE upgrade non-insulin CGM to clear (A)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729478"/>
            <a:ext cx="4023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Raise S1 + S2 jointly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Primary Diligence: Who to Speak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Edge = non-public read on draft-LCD timing, gating criteria, and the bidding price cut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Diligence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4552" cy="1737360"/>
          </a:xfrm>
          <a:prstGeom prst="rect">
            <a:avLst/>
          </a:prstGeom>
          <a:solidFill>
            <a:srgbClr val="EEF2F8"/>
          </a:solidFill>
          <a:ln w="19050">
            <a:solidFill>
              <a:srgbClr val="1F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35E"/>
                </a:solidFill>
                <a:latin typeface="Calibri"/>
              </a:rPr>
              <a:t>TIER 1 — Closest to the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2496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335E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Current &amp; former DME MAC Medical Directors (Noridian: Caldarella — endocrinologist, Ballyamanda, Mamuya; CGS: Lalla) — author the LCD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335E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Former CMS Coverage &amp; Analysis Group leadership (e.g., ex-CAG Director T. Syrek Jensen) — NCD-vs-LCD routing, CED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0428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335E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Former CMS DMEPOS / competitive-bidding payment officials — realistic SPA discount range, rental mechanics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15184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335E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DME MAC reconsideration / medical-policy staff — is a request pending? comment calendar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1274552" cy="1426464"/>
          </a:xfrm>
          <a:prstGeom prst="rect">
            <a:avLst/>
          </a:prstGeom>
          <a:solidFill>
            <a:srgbClr val="EEF2F8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63824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74B5"/>
                </a:solidFill>
                <a:latin typeface="Calibri"/>
              </a:rPr>
              <a:t>TIER 2 — Expert intermediaries &amp; advocates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11296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Reimbursement attorneys &amp; consultancies (Epstein Becker Green, DLA Piper, Applied Policy, Avalere, ADVI) — base rates,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22192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ADA, Breakthrough T1D, ADCES, Endocrine Society policy staff — reconsideration filed? MAC receptiveness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3308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CGM trialists (MOBILE / CONNECT / WISDM investigators) — will evidence clear "reasonable &amp; necessary"?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26864"/>
            <a:ext cx="11274552" cy="1737360"/>
          </a:xfrm>
          <a:prstGeom prst="rect">
            <a:avLst/>
          </a:prstGeom>
          <a:solidFill>
            <a:srgbClr val="EEF2F8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81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Calibri"/>
              </a:rPr>
              <a:t>TIER 3 — Market &amp; channel reality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95959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DME distributors / suppliers (Byram, Edgepark/Cardinal, US MED) — bid behavior, margin at $200–270/mo, consolidation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40096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95959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Manufacturer market-access / gov-affairs leads (DexCom, Abbott) — timeline beyond earnings-call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50992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95959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MA &amp; commercial payer medical directors / PBM leads — covering non-insulin ahead of FFS? UM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6188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95959"/>
                </a:solidFill>
              </a:rPr>
              <a:t>▪  </a:t>
            </a:r>
            <a:r>
              <a:rPr sz="1050" b="0" i="0">
                <a:solidFill>
                  <a:srgbClr val="1F335E"/>
                </a:solidFill>
                <a:latin typeface="Calibri"/>
              </a:rPr>
              <a:t>Prescribers &amp; diabetes educators — documentation burden; how a gate throttles real-world uptake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Diligence Sequencing &amp; Conflict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3EC"/>
                </a:solidFill>
                <a:latin typeface="Calibri"/>
              </a:rPr>
              <a:t>A four-step path to de-risk the two questions that matter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6400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FD3EC"/>
                </a:solidFill>
                <a:latin typeface="Calibri"/>
              </a:rPr>
              <a:t>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468880" cy="9601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28600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1. CALIBRATE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417320"/>
            <a:ext cx="8714232" cy="960120"/>
          </a:xfrm>
          <a:prstGeom prst="rect">
            <a:avLst/>
          </a:prstGeom>
          <a:solidFill>
            <a:srgbClr val="EEF2F8"/>
          </a:solidFill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17320"/>
            <a:ext cx="841248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2–3 reimbursement consultancies / attorneys to set the base case and the calendar — fast, broad, non-confidential.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2468880" cy="96012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228600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2. GO DEEP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514600"/>
            <a:ext cx="8714232" cy="960120"/>
          </a:xfrm>
          <a:prstGeom prst="rect">
            <a:avLst/>
          </a:prstGeom>
          <a:solidFill>
            <a:srgbClr val="EEF2F8"/>
          </a:solidFill>
          <a:ln w="19050">
            <a:solidFill>
              <a:srgbClr val="1F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514600"/>
            <a:ext cx="841248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A former DME MAC medical director + a former CMS payment official — the two people who most directly de-risk timing and the SPA magnitude.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246888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228600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3. REALITY-CHECK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611880"/>
            <a:ext cx="8714232" cy="960120"/>
          </a:xfrm>
          <a:prstGeom prst="rect">
            <a:avLst/>
          </a:prstGeom>
          <a:solidFill>
            <a:srgbClr val="EEF2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611880"/>
            <a:ext cx="841248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Distributors + MA/PBM medical directors to ground the TAM-to-revenue conversion and the real price.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2468880" cy="9601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228600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4. CONFIRM THESIS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709160"/>
            <a:ext cx="8714232" cy="960120"/>
          </a:xfrm>
          <a:prstGeom prst="rect">
            <a:avLst/>
          </a:prstGeom>
          <a:solidFill>
            <a:srgbClr val="EEF2F8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4709160"/>
            <a:ext cx="841248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335E"/>
                </a:solidFill>
                <a:latin typeface="Calibri"/>
              </a:rPr>
              <a:t>Advocacy + academic calls to test whether evidence and the advocacy push are strong enough to force the modal S1/S2 vs. an S3 delay.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52160"/>
            <a:ext cx="11274552" cy="640080"/>
          </a:xfrm>
          <a:prstGeom prst="rect">
            <a:avLst/>
          </a:prstGeom>
          <a:solidFill>
            <a:srgbClr val="FBF3DD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60"/>
            <a:ext cx="10972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Conflict discipline:  </a:t>
            </a:r>
            <a:r>
              <a:rPr sz="1250" b="0" i="0">
                <a:solidFill>
                  <a:srgbClr val="1F335E"/>
                </a:solidFill>
                <a:latin typeface="Calibri"/>
              </a:rPr>
              <a:t>manufacturer, advocacy &amp; consultancy sources are long the expansion. Weight former-government and independent-distributor sources most for timing and the price cut, where the incentive to spin is lowest.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CGM Medicare LCD / NCD Scenario Analysis  |  Confidential — Draft for Discussion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88136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Bottom Line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664208"/>
            <a:ext cx="201168" cy="20116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1042416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Two tracks, not one.  </a:t>
            </a:r>
            <a:r>
              <a:rPr sz="1350" b="0" i="0">
                <a:solidFill>
                  <a:srgbClr val="BFD3EC"/>
                </a:solidFill>
                <a:latin typeface="Calibri"/>
              </a:rPr>
              <a:t>Coverage is expanding (eligibility) while payment is being cut (price). Most market commentary conflates them.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68880"/>
            <a:ext cx="201168" cy="20116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04872"/>
            <a:ext cx="1042416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next instrument is an LCD, not an NCD.  </a:t>
            </a:r>
            <a:r>
              <a:rPr sz="1350" b="0" i="0">
                <a:solidFill>
                  <a:srgbClr val="BFD3EC"/>
                </a:solidFill>
                <a:latin typeface="Calibri"/>
              </a:rPr>
              <a:t>Every CGM change since 2017 used sub-NCD instruments; NCDs are rare and slowing.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273552"/>
            <a:ext cx="201168" cy="20116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09544"/>
            <a:ext cx="1042416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Some expansion is the modal outcome (~55%) — most likely conditioned.  </a:t>
            </a:r>
            <a:r>
              <a:rPr sz="1350" b="0" i="0">
                <a:solidFill>
                  <a:srgbClr val="BFD3EC"/>
                </a:solidFill>
                <a:latin typeface="Calibri"/>
              </a:rPr>
              <a:t>The evidence supports a structured / A1c-gated non-insulin expansion over blanket coverage.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078224"/>
            <a:ext cx="201168" cy="20116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14216"/>
            <a:ext cx="1042416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payment cut is effectively certain.  </a:t>
            </a:r>
            <a:r>
              <a:rPr sz="1350" b="0" i="0">
                <a:solidFill>
                  <a:srgbClr val="BFD3EC"/>
                </a:solidFill>
                <a:latin typeface="Calibri"/>
              </a:rPr>
              <a:t>Competitive bidding + monthly rental is finalized, effective ≤ Jan 1, 2028; only magnitude and the DIABETES Act delay are open.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882896"/>
            <a:ext cx="201168" cy="20116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18888"/>
            <a:ext cx="1042416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Bull = CPAP; Bear = power mobility.  </a:t>
            </a:r>
            <a:r>
              <a:rPr sz="1350" b="0" i="0">
                <a:solidFill>
                  <a:srgbClr val="BFD3EC"/>
                </a:solidFill>
                <a:latin typeface="Calibri"/>
              </a:rPr>
              <a:t>CGM sits between a barrier-lowering volume boom and a documentation/bidding attrition of category spend.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687568"/>
            <a:ext cx="201168" cy="20116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Edge is in primary diligence.  </a:t>
            </a:r>
            <a:r>
              <a:rPr sz="1350" b="0" i="0">
                <a:solidFill>
                  <a:srgbClr val="BFD3EC"/>
                </a:solidFill>
                <a:latin typeface="Calibri"/>
              </a:rPr>
              <a:t>Former DME MAC medical directors and CMS payment officials can de-risk the two questions that matter: timing and the price cut.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