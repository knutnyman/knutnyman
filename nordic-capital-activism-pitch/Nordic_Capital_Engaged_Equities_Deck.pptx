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10128"/>
            <a:ext cx="12191695" cy="3810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C49A3B"/>
                </a:solidFill>
                <a:latin typeface="Georgia"/>
              </a:rPr>
              <a:t>STRICTLY PRIVATE &amp;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Georgia"/>
              </a:rPr>
              <a:t>Nordic Capital Engaged Equities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900" b="0" i="0">
                <a:solidFill>
                  <a:srgbClr val="C9D3E0"/>
                </a:solidFill>
                <a:latin typeface="Georgia"/>
              </a:rPr>
              <a:t>A constructive activism strategy for US and European public markets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033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C49A3B"/>
                </a:solidFill>
                <a:latin typeface="Georgia"/>
              </a:rPr>
              <a:t>Proposal for a USD 1.5bn engaged public-equities vehicle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C9D3E0"/>
                </a:solidFill>
                <a:latin typeface="Georgia"/>
              </a:rPr>
              <a:t>Prepared for the Managing Partner &amp; Executive Committee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8A96A6"/>
                </a:solidFill>
                <a:latin typeface="Georgia"/>
              </a:rPr>
              <a:t>June 2026  |  Company references are based on public information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C49A3B"/>
                </a:solidFill>
                <a:latin typeface="Georgia"/>
              </a:rPr>
              <a:t>THE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Georgia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9AA4B2"/>
                </a:solidFill>
                <a:latin typeface="Georgia"/>
              </a:rPr>
              <a:t>Strictly private &amp; confidential — illustrative discussion material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6766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>
                <a:solidFill>
                  <a:srgbClr val="C49A3B"/>
                </a:solidFill>
                <a:latin typeface="Georgia"/>
              </a:rPr>
              <a:t>▪  </a:t>
            </a:r>
            <a:r>
              <a:rPr b="1" sz="1350">
                <a:solidFill>
                  <a:srgbClr val="0B2545"/>
                </a:solidFill>
                <a:latin typeface="Georgia"/>
              </a:rPr>
              <a:t>Launch “Nordic Capital Engaged Equities”: </a:t>
            </a:r>
            <a:r>
              <a:rPr sz="1350">
                <a:solidFill>
                  <a:srgbClr val="2B3340"/>
                </a:solidFill>
                <a:latin typeface="Georgia"/>
              </a:rPr>
              <a:t>a USD 1.5bn (cap USD 2.0bn) constructive-activism fund taking 2–10% stakes in 6–8 listed US and European companies (USD 2–15bn market cap) in the firm's core sectors.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>
                <a:solidFill>
                  <a:srgbClr val="C49A3B"/>
                </a:solidFill>
                <a:latin typeface="Georgia"/>
              </a:rPr>
              <a:t>▪  </a:t>
            </a:r>
            <a:r>
              <a:rPr b="1" sz="1350">
                <a:solidFill>
                  <a:srgbClr val="0B2545"/>
                </a:solidFill>
                <a:latin typeface="Georgia"/>
              </a:rPr>
              <a:t>Apply the firm's PE playbook in public markets: </a:t>
            </a:r>
            <a:r>
              <a:rPr sz="1350">
                <a:solidFill>
                  <a:srgbClr val="2B3340"/>
                </a:solidFill>
                <a:latin typeface="Georgia"/>
              </a:rPr>
              <a:t>operational improvement, portfolio separation, capital-allocation reform — via nomination committees and board seats in Europe, universal-proxy-backed engagement in the US.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>
                <a:solidFill>
                  <a:srgbClr val="C49A3B"/>
                </a:solidFill>
                <a:latin typeface="Georgia"/>
              </a:rPr>
              <a:t>▪  </a:t>
            </a:r>
            <a:r>
              <a:rPr b="1" sz="1350">
                <a:solidFill>
                  <a:srgbClr val="0B2545"/>
                </a:solidFill>
                <a:latin typeface="Georgia"/>
              </a:rPr>
              <a:t>The window is open: </a:t>
            </a:r>
            <a:r>
              <a:rPr sz="1350">
                <a:solidFill>
                  <a:srgbClr val="2B3340"/>
                </a:solidFill>
                <a:latin typeface="Georgia"/>
              </a:rPr>
              <a:t>record global activism with an M&amp;A-heavy mix that favours a PE sponsor, 30–50% value gaps in de-rated quality mid-caps on both continents — and no practitioner combining operating depth with a transatlantic mandate.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>
                <a:solidFill>
                  <a:srgbClr val="C49A3B"/>
                </a:solidFill>
                <a:latin typeface="Georgia"/>
              </a:rPr>
              <a:t>▪  </a:t>
            </a:r>
            <a:r>
              <a:rPr b="1" sz="1350">
                <a:solidFill>
                  <a:srgbClr val="0B2545"/>
                </a:solidFill>
                <a:latin typeface="Georgia"/>
              </a:rPr>
              <a:t>Nordic Capital's edge is structural: </a:t>
            </a:r>
            <a:r>
              <a:rPr sz="1350">
                <a:solidFill>
                  <a:srgbClr val="2B3340"/>
                </a:solidFill>
                <a:latin typeface="Georgia"/>
              </a:rPr>
              <a:t>operating credibility, the best director bench in Europe, a New York platform, and sector depth in healthcare, tech &amp; payments, financial services and industrials. US campaign strategy led by Knut Nyman, joining from Elliott.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>
                <a:solidFill>
                  <a:srgbClr val="C49A3B"/>
                </a:solidFill>
                <a:latin typeface="Georgia"/>
              </a:rPr>
              <a:t>▪  </a:t>
            </a:r>
            <a:r>
              <a:rPr b="1" sz="1350">
                <a:solidFill>
                  <a:srgbClr val="0B2545"/>
                </a:solidFill>
                <a:latin typeface="Georgia"/>
              </a:rPr>
              <a:t>Platform synergies compound: </a:t>
            </a:r>
            <a:r>
              <a:rPr sz="1350">
                <a:solidFill>
                  <a:srgbClr val="2B3340"/>
                </a:solidFill>
                <a:latin typeface="Georgia"/>
              </a:rPr>
              <a:t>take-private and PIPE pipeline for the buyout funds, carve-out deal flow, and a new fee stream — accretive from year two.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143000"/>
            <a:ext cx="4023360" cy="51206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417320"/>
            <a:ext cx="37490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C49A3B"/>
                </a:solidFill>
                <a:latin typeface="Georgia"/>
              </a:rPr>
              <a:t>USD 1.5bn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947672"/>
            <a:ext cx="374903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Georgia"/>
              </a:rPr>
              <a:t>Target size (hard cap USD 2.0bn)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606040"/>
            <a:ext cx="37490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C49A3B"/>
                </a:solidFill>
                <a:latin typeface="Georgia"/>
              </a:rPr>
              <a:t>6–8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136392"/>
            <a:ext cx="374903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Georgia"/>
              </a:rPr>
              <a:t>Core positions · ~50/50 US &amp; Europe · 2–10% stakes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794760"/>
            <a:ext cx="37490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C49A3B"/>
                </a:solidFill>
                <a:latin typeface="Georgia"/>
              </a:rPr>
              <a:t>15%+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325112"/>
            <a:ext cx="374903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Georgia"/>
              </a:rPr>
              <a:t>Target net IRR over a 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983480"/>
            <a:ext cx="37490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C49A3B"/>
                </a:solidFill>
                <a:latin typeface="Georgia"/>
              </a:rPr>
              <a:t>H2 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5513832"/>
            <a:ext cx="3749039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Georgia"/>
              </a:rPr>
              <a:t>First close &amp; initial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C49A3B"/>
                </a:solidFill>
                <a:latin typeface="Georgia"/>
              </a:rPr>
              <a:t>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Georgia"/>
              </a:rPr>
              <a:t>Why now: the opening for a transatlantic engagement franchise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9AA4B2"/>
                </a:solidFill>
                <a:latin typeface="Georgia"/>
              </a:rPr>
              <a:t>Strictly private &amp; confidential — illustrative discussion material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5577840" cy="15544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44450" cy="155448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80160"/>
            <a:ext cx="5303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B2545"/>
                </a:solidFill>
                <a:latin typeface="Georgia"/>
              </a:rPr>
              <a:t>Record activism, M&amp;A-centric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664208"/>
            <a:ext cx="5303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55F6E"/>
                </a:solidFill>
                <a:latin typeface="Georgia"/>
              </a:rPr>
              <a:t>2025 set a record for global activist campaigns; ~6 in 10 late-2025 campaigns carried M&amp;A demands (break-ups, divestitures, sale processes) — terrain where a private equity sponsor has advantages no hedge-fund activist can match.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188720"/>
            <a:ext cx="5486400" cy="15544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188720"/>
            <a:ext cx="44450" cy="155448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280160"/>
            <a:ext cx="5212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B2545"/>
                </a:solidFill>
                <a:latin typeface="Georgia"/>
              </a:rPr>
              <a:t>Value gaps on both continents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1664208"/>
            <a:ext cx="5212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55F6E"/>
                </a:solidFill>
                <a:latin typeface="Georgia"/>
              </a:rPr>
              <a:t>Europe: structural discount to the US, compounded in under-covered mid-caps. US: the post-2021 de-rating left fallen-angel quality in medtech, payments and software at 30–50% discounts — below the multiples our buyout funds pay in auctions.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26080"/>
            <a:ext cx="5577840" cy="15544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926080"/>
            <a:ext cx="44450" cy="155448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017520"/>
            <a:ext cx="5303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B2545"/>
                </a:solidFill>
                <a:latin typeface="Georgia"/>
              </a:rPr>
              <a:t>Mis-shaped competition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3401568"/>
            <a:ext cx="5303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55F6E"/>
                </a:solidFill>
                <a:latin typeface="Georgia"/>
              </a:rPr>
              <a:t>US activism is crowded at the mega-cap end but thin in operationally complex mid-caps; in Europe, Cevian has drifted large-cap and has no US book. Nobody combines PE operating depth with a transatlantic mandate.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926080"/>
            <a:ext cx="5486400" cy="15544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926080"/>
            <a:ext cx="44450" cy="155448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3017520"/>
            <a:ext cx="5212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B2545"/>
                </a:solidFill>
                <a:latin typeface="Georgia"/>
              </a:rPr>
              <a:t>Supportive shareholder 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3401568"/>
            <a:ext cx="52120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55F6E"/>
                </a:solidFill>
                <a:latin typeface="Georgia"/>
              </a:rPr>
              <a:t>Index funds and pension institutions on both continents increasingly back well-argued engagement agendas — lowering the cost of building winning coalitions.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709160"/>
            <a:ext cx="11247120" cy="14173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919472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C49A3B"/>
                </a:solidFill>
                <a:latin typeface="Georgia"/>
              </a:rPr>
              <a:t>The strategic point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Georgia"/>
              </a:rPr>
              <a:t>The category-defining sponsor-backed engagement franchise spanning the US and Europe has not yet been built. Nordic Capital can build it — with advantages neither Cevian nor the US funds have: a buyout platform behind the engagement and an operating bench measured in hundreds of professionals.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C49A3B"/>
                </a:solidFill>
                <a:latin typeface="Georgia"/>
              </a:rPr>
              <a:t>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Georgia"/>
              </a:rPr>
              <a:t>Two engagement regimes, one playbook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9AA4B2"/>
                </a:solidFill>
                <a:latin typeface="Georgia"/>
              </a:rPr>
              <a:t>Strictly private &amp; confidential — illustrative discussion material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2471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846320"/>
                <a:gridCol w="4754880"/>
              </a:tblGrid>
              <a:tr h="8686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Dimension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Europe / Nordics (home field)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United States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3340"/>
                          </a:solidFill>
                          <a:latin typeface="Georgia"/>
                        </a:rPr>
                        <a:t>Path to the 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3340"/>
                          </a:solidFill>
                          <a:latin typeface="Georgia"/>
                        </a:rPr>
                        <a:t>Shareholder-elected nomination committees (Nordics: top 3–4 holders as of Aug/Sep records); sphere engagement; 4–8% wins influence without a proxy fight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3340"/>
                          </a:solidFill>
                          <a:latin typeface="Georgia"/>
                        </a:rPr>
                        <a:t>Universal proxy card (2022) slashed the cost of board challenges; most campaigns settle for seats; 2–6% stakes suffice with a credible slate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3340"/>
                          </a:solidFill>
                          <a:latin typeface="Georgia"/>
                        </a:rPr>
                        <a:t>Escalation tools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3340"/>
                          </a:solidFill>
                          <a:latin typeface="Georgia"/>
                        </a:rPr>
                        <a:t>Low EGM thresholds (10% in Sweden); public shareholder registers enable precise coalition mapping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3340"/>
                          </a:solidFill>
                          <a:latin typeface="Georgia"/>
                        </a:rPr>
                        <a:t>13D platform; precision proxy contests; settlement negotiation; deep advisor ecosystem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3340"/>
                          </a:solidFill>
                          <a:latin typeface="Georgia"/>
                        </a:rPr>
                        <a:t>Culture &amp;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3340"/>
                          </a:solidFill>
                          <a:latin typeface="Georgia"/>
                        </a:rPr>
                        <a:t>Consensus boards; private argumentation usually sufficient; low campaign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3340"/>
                          </a:solidFill>
                          <a:latin typeface="Georgia"/>
                        </a:rPr>
                        <a:t>Faster, transactional; settlements within 6–12 months; higher cost, higher liquidity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3340"/>
                          </a:solidFill>
                          <a:latin typeface="Georgia"/>
                        </a:rPr>
                        <a:t>Our edge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3340"/>
                          </a:solidFill>
                          <a:latin typeface="Georgia"/>
                        </a:rPr>
                        <a:t>Domestic legitimacy of a 30-year Stockholm-rooted owner; Europe's best director bench; Cevian-validated model, no second practitioner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3340"/>
                          </a:solidFill>
                          <a:latin typeface="Georgia"/>
                        </a:rPr>
                        <a:t>Sector operating credibility US activists lack; PE-grade separation expertise; campaign leadership hired from the US activist front line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3492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 i="1">
                <a:solidFill>
                  <a:srgbClr val="555F6E"/>
                </a:solidFill>
                <a:latin typeface="Georgia"/>
              </a:rPr>
              <a:t>Same underwriting, same value plans, different influence mechanics. Timing discipline in both: Q3 ownership snapshots seat Nordic nomination committees; US nomination windows gate the proxy season.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C49A3B"/>
                </a:solidFill>
                <a:latin typeface="Georgia"/>
              </a:rPr>
              <a:t>RIGHT TO 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Georgia"/>
              </a:rPr>
              <a:t>Why Nordic Capital wins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9AA4B2"/>
                </a:solidFill>
                <a:latin typeface="Georgia"/>
              </a:rPr>
              <a:t>Strictly private &amp; confidential — illustrative discussion material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3611880" cy="23317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44450" cy="233172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80160"/>
            <a:ext cx="3337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B2545"/>
                </a:solidFill>
                <a:latin typeface="Georgia"/>
              </a:rPr>
              <a:t>Operating credibility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664208"/>
            <a:ext cx="333756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55F6E"/>
                </a:solidFill>
                <a:latin typeface="Georgia"/>
              </a:rPr>
              <a:t>30 years and &gt;EUR 31bn AUM built on operational transformation. When we tell a board the margin gap is 400bps, we speak as an owner that has closed it repeatedly in private portfolios.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5112" y="1188720"/>
            <a:ext cx="3611880" cy="23317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5112" y="1188720"/>
            <a:ext cx="44450" cy="233172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280160"/>
            <a:ext cx="3337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B2545"/>
                </a:solidFill>
                <a:latin typeface="Georgia"/>
              </a:rPr>
              <a:t>The director bench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1664208"/>
            <a:ext cx="333756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55F6E"/>
                </a:solidFill>
                <a:latin typeface="Georgia"/>
              </a:rPr>
              <a:t>An unmatched network of Nordic chairs, former CEOs and operating advisors to propose as board candidates — the resource that decides outcomes in a nomination-committee system.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47304" y="1188720"/>
            <a:ext cx="3611880" cy="23317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7304" y="1188720"/>
            <a:ext cx="44450" cy="233172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1280160"/>
            <a:ext cx="3337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B2545"/>
                </a:solidFill>
                <a:latin typeface="Georgia"/>
              </a:rPr>
              <a:t>Legitimacy + US credibility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1664208"/>
            <a:ext cx="333756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55F6E"/>
                </a:solidFill>
                <a:latin typeface="Georgia"/>
              </a:rPr>
              <a:t>European spheres and institutions trust a Stockholm-rooted owner; in the US, our New York platform and a campaign team hired from the activist front line give standing European funds never built.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03320"/>
            <a:ext cx="3611880" cy="23317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703320"/>
            <a:ext cx="44450" cy="233172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3794760"/>
            <a:ext cx="3337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B2545"/>
                </a:solidFill>
                <a:latin typeface="Georgia"/>
              </a:rPr>
              <a:t>Sector underwriting 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4178808"/>
            <a:ext cx="333756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55F6E"/>
                </a:solidFill>
                <a:latin typeface="Georgia"/>
              </a:rPr>
              <a:t>Healthcare, tech &amp; payments, financial services, industrials — the same lens in Boston, Amsterdam and Stockholm; a universe of businesses we have studied, bid on or competed against.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5112" y="3703320"/>
            <a:ext cx="3611880" cy="23317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25112" y="3703320"/>
            <a:ext cx="44450" cy="233172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9704" y="3794760"/>
            <a:ext cx="3337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B2545"/>
                </a:solidFill>
                <a:latin typeface="Georgia"/>
              </a:rPr>
              <a:t>Two-way PE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9704" y="4178808"/>
            <a:ext cx="333756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55F6E"/>
                </a:solidFill>
                <a:latin typeface="Georgia"/>
              </a:rPr>
              <a:t>Engagement surfaces take-privates and PIPEs for the flagship funds; activist-catalysed carve-outs create proprietary deal flow (strict info barriers; see governance slide).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47304" y="3703320"/>
            <a:ext cx="3611880" cy="23317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47304" y="3703320"/>
            <a:ext cx="44450" cy="233172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11896" y="3794760"/>
            <a:ext cx="3337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B2545"/>
                </a:solidFill>
                <a:latin typeface="Georgia"/>
              </a:rPr>
              <a:t>LP demand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1896" y="4178808"/>
            <a:ext cx="333756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555F6E"/>
                </a:solidFill>
                <a:latin typeface="Georgia"/>
              </a:rPr>
              <a:t>Existing LPs want Nordic exposure with liquidity; Evolution II's four-month hard-cap close shows the franchise's fundraising velocity.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C49A3B"/>
                </a:solidFill>
                <a:latin typeface="Georgia"/>
              </a:rPr>
              <a:t>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Georgia"/>
              </a:rPr>
              <a:t>Investment strategy: constructive activism, board-led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9AA4B2"/>
                </a:solidFill>
                <a:latin typeface="Georgia"/>
              </a:rPr>
              <a:t>Strictly private &amp; confidential — illustrative discussion material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247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 i="0">
                <a:solidFill>
                  <a:srgbClr val="0B2545"/>
                </a:solidFill>
                <a:latin typeface="Georgia"/>
              </a:rPr>
              <a:t>Take 2–10% positions in 6–8 listed US and European companies (USD 2–15bn market cap) with ≥30% upside to intrinsic value, and close the gap in 2–4 years through actions the company itself can take — driven from the boardroom under each market's governance regime.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48840"/>
            <a:ext cx="2121408" cy="26517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28600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C49A3B"/>
                </a:solidFill>
                <a:latin typeface="Georgia"/>
              </a:rPr>
              <a:t>1. Underwrite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670048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9AA4B2"/>
                </a:solidFill>
                <a:latin typeface="Georgia"/>
              </a:rPr>
              <a:t>M 0–4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971800"/>
            <a:ext cx="19202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Georgia"/>
              </a:rPr>
              <a:t>PE-grade diligence; operational benchmark; SOTP; red-team; ≥30% upside with limited structural downside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07208" y="2148840"/>
            <a:ext cx="2121408" cy="2651760"/>
          </a:xfrm>
          <a:prstGeom prst="rect">
            <a:avLst/>
          </a:prstGeom>
          <a:solidFill>
            <a:srgbClr val="13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6936" y="228600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C49A3B"/>
                </a:solidFill>
                <a:latin typeface="Georgia"/>
              </a:rPr>
              <a:t>2. Accumulate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6936" y="2670048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9AA4B2"/>
                </a:solidFill>
                <a:latin typeface="Georgia"/>
              </a:rPr>
              <a:t>M 3–9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6936" y="2971800"/>
            <a:ext cx="19202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Georgia"/>
              </a:rPr>
              <a:t>2–10% via market + blocks, timed to each market's board calendar; chair meeting before crossing 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11496" y="2148840"/>
            <a:ext cx="2121408" cy="26517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21224" y="228600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C49A3B"/>
                </a:solidFill>
                <a:latin typeface="Georgia"/>
              </a:rPr>
              <a:t>3. Engage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4" y="2670048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9AA4B2"/>
                </a:solidFill>
                <a:latin typeface="Georgia"/>
              </a:rPr>
              <a:t>M 6–18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2971800"/>
            <a:ext cx="19202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Georgia"/>
              </a:rPr>
              <a:t>Private value plan to board &amp; anchors; EU: nomination-committee seat; US: negotiated refreshment under universal-proxy optionality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15784" y="2148840"/>
            <a:ext cx="2121408" cy="2651760"/>
          </a:xfrm>
          <a:prstGeom prst="rect">
            <a:avLst/>
          </a:prstGeom>
          <a:solidFill>
            <a:srgbClr val="13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5512" y="228600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C49A3B"/>
                </a:solidFill>
                <a:latin typeface="Georgia"/>
              </a:rPr>
              <a:t>4. Execute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5512" y="2670048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9AA4B2"/>
                </a:solidFill>
                <a:latin typeface="Georgia"/>
              </a:rPr>
              <a:t>M 12–36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5512" y="2971800"/>
            <a:ext cx="19202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Georgia"/>
              </a:rPr>
              <a:t>Margin program / separation / balance-sheet reset; quarterly milestones vs the underwrite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20072" y="2148840"/>
            <a:ext cx="2121408" cy="26517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9800" y="228600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C49A3B"/>
                </a:solidFill>
                <a:latin typeface="Georgia"/>
              </a:rPr>
              <a:t>5. Realise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2670048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9AA4B2"/>
                </a:solidFill>
                <a:latin typeface="Georgia"/>
              </a:rPr>
              <a:t>M 24–48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2971800"/>
            <a:ext cx="19202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Georgia"/>
              </a:rPr>
              <a:t>Re-rating, strategic sale — or conflict-cleared take-private by our buyout funds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07492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>
                <a:solidFill>
                  <a:srgbClr val="C49A3B"/>
                </a:solidFill>
                <a:latin typeface="Georgia"/>
              </a:rPr>
              <a:t>▪  </a:t>
            </a:r>
            <a:r>
              <a:rPr b="1" sz="1250">
                <a:solidFill>
                  <a:srgbClr val="0B2545"/>
                </a:solidFill>
                <a:latin typeface="Georgia"/>
              </a:rPr>
              <a:t>Doctrine: </a:t>
            </a:r>
            <a:r>
              <a:rPr sz="1250">
                <a:solidFill>
                  <a:srgbClr val="2B3340"/>
                </a:solidFill>
                <a:latin typeface="Georgia"/>
              </a:rPr>
              <a:t>constructive-first — public escalation needs IC + reputation-committee sign-off; never a hostile opening move; no shorting of engagement targets; max 2 concurrent public-phase campaigns.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C49A3B"/>
                </a:solidFill>
                <a:latin typeface="Georgia"/>
              </a:rPr>
              <a:t>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Georgia"/>
              </a:rPr>
              <a:t>Three thesis archetypes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9AA4B2"/>
                </a:solidFill>
                <a:latin typeface="Georgia"/>
              </a:rPr>
              <a:t>Strictly private &amp; confidential — illustrative discussion material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611880" cy="42976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3611880" cy="5080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3246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0B2545"/>
                </a:solidFill>
                <a:latin typeface="Georgia"/>
              </a:rPr>
              <a:t>Margin-gap operators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03120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49A3B"/>
                </a:solidFill>
                <a:latin typeface="Georgia"/>
              </a:rPr>
              <a:t>40–50% of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68880"/>
            <a:ext cx="32461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555F6E"/>
                </a:solidFill>
                <a:latin typeface="Georgia"/>
              </a:rPr>
              <a:t>Quality franchises running 300–600bps below achievable margins (execution, supply chain, quality systems — not market position). Value plan: board-sponsored operational program with hard milestones.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892040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B2545"/>
                </a:solidFill>
                <a:latin typeface="Georgia"/>
              </a:rPr>
              <a:t>Examples: Elekta, Smith+Nephew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1234440"/>
            <a:ext cx="3611880" cy="42976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1234440"/>
            <a:ext cx="3611880" cy="5080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1417320"/>
            <a:ext cx="3246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0B2545"/>
                </a:solidFill>
                <a:latin typeface="Georgia"/>
              </a:rPr>
              <a:t>Conglomerate / SOTP discounts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103120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49A3B"/>
                </a:solidFill>
                <a:latin typeface="Georgia"/>
              </a:rPr>
              <a:t>30–40% of 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468880"/>
            <a:ext cx="32461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555F6E"/>
                </a:solidFill>
                <a:latin typeface="Georgia"/>
              </a:rPr>
              <a:t>Multi-division companies where separation, divestiture or monetisation of hidden assets unlocks 30–60% upside. Plays to the record M&amp;A-activism mix and our carve-out expertise.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4892040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B2545"/>
                </a:solidFill>
                <a:latin typeface="Georgia"/>
              </a:rPr>
              <a:t>Examples: Philips, Baxter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7304" y="1234440"/>
            <a:ext cx="3611880" cy="42976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47304" y="1234440"/>
            <a:ext cx="3611880" cy="5080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0184" y="1417320"/>
            <a:ext cx="3246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0B2545"/>
                </a:solidFill>
                <a:latin typeface="Georgia"/>
              </a:rPr>
              <a:t>Capital allocation &amp; strategic catalysts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184" y="2103120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49A3B"/>
                </a:solidFill>
                <a:latin typeface="Georgia"/>
              </a:rPr>
              <a:t>15–25% of 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4" y="2468880"/>
            <a:ext cx="32461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555F6E"/>
                </a:solidFill>
                <a:latin typeface="Georgia"/>
              </a:rPr>
              <a:t>Lazy balance sheets, value-destructive M&amp;A patterns, or companies that should start or accept strategic processes; often overlaps the other archetypes.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4" y="4892040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B2545"/>
                </a:solidFill>
                <a:latin typeface="Georgia"/>
              </a:rPr>
              <a:t>Examples: Global Payments, Zimmer Biomet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8064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1">
                <a:solidFill>
                  <a:srgbClr val="555F6E"/>
                </a:solidFill>
                <a:latin typeface="Georgia"/>
              </a:rPr>
              <a:t>Sector focus mirrors the PE franchise: Healthcare &amp; MedTech 30–40% · Industrials &amp; Business Services 25–35% · Tech, Software &amp; Payments 15–25% · Financial Services 10–20%. Geography: US 40–50% · Europe 50–60% (of which Nordics 20–30%).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C49A3B"/>
                </a:solidFill>
                <a:latin typeface="Georgia"/>
              </a:rPr>
              <a:t>UNIVERSE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Georgia"/>
              </a:rPr>
              <a:t>Target universe: a disciplined funnel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9AA4B2"/>
                </a:solidFill>
                <a:latin typeface="Georgia"/>
              </a:rPr>
              <a:t>Strictly private &amp; confidential — illustrative discussion material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11247120" cy="65836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61872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~1,300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316736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Georgia"/>
              </a:rPr>
              <a:t>US &amp; European listed names in our four core sectors, USD 2–15bn, post liquidity screens (~55% US / 45% EU)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1993392"/>
            <a:ext cx="9326880" cy="658368"/>
          </a:xfrm>
          <a:prstGeom prst="rect">
            <a:avLst/>
          </a:prstGeom>
          <a:solidFill>
            <a:srgbClr val="13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2066544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~300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121408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Georgia"/>
              </a:rPr>
              <a:t>Quality screen: defensible position, sound gross margins, clear peer 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60" y="2798064"/>
            <a:ext cx="7406640" cy="658368"/>
          </a:xfrm>
          <a:prstGeom prst="rect">
            <a:avLst/>
          </a:prstGeom>
          <a:solidFill>
            <a:srgbClr val="1E4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2871216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~80–100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292608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Georgia"/>
              </a:rPr>
              <a:t>Value gap ≥30% on normalised margins or SOTP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3602736"/>
            <a:ext cx="5486400" cy="658368"/>
          </a:xfrm>
          <a:prstGeom prst="rect">
            <a:avLst/>
          </a:prstGeom>
          <a:solidFill>
            <a:srgbClr val="2E6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3675887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~40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730752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Georgia"/>
              </a:rPr>
              <a:t>Path to influence: open register, no hostile blocker, no defeating defence structures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4407408"/>
            <a:ext cx="3840480" cy="658368"/>
          </a:xfrm>
          <a:prstGeom prst="rect">
            <a:avLst/>
          </a:prstGeom>
          <a:solidFill>
            <a:srgbClr val="4474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4480560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12–16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4535424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Georgia"/>
              </a:rPr>
              <a:t>Live underwritten pipeline (after MNPI / conflicts clearance)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5212080"/>
            <a:ext cx="2377440" cy="658368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60" y="5285232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B2545"/>
                </a:solidFill>
                <a:latin typeface="Georgia"/>
              </a:rPr>
              <a:t>6–8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340096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B2545"/>
                </a:solidFill>
                <a:latin typeface="Georgia"/>
              </a:rPr>
              <a:t>Funded core positions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1264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0B2545"/>
                </a:solidFill>
                <a:latin typeface="Georgia"/>
              </a:rPr>
              <a:t>USD 1.5bn across 6–8 cores = USD 180–280m per position = 4–10% of a USD 3–6bn European mid-cap or 2–5% of a USD 5–15bn US name — influential under both regimes, in the band where competition is thinnest.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C49A3B"/>
                </a:solidFill>
                <a:latin typeface="Georgia"/>
              </a:rP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Georgia"/>
              </a:rPr>
              <a:t>Illustrative pipeline (1/2) — public information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9AA4B2"/>
                </a:solidFill>
                <a:latin typeface="Georgia"/>
              </a:rPr>
              <a:t>Strictly private &amp; confidential — illustrative discussion material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11247120" cy="162763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0800" cy="1627632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6187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B2545"/>
                </a:solidFill>
                <a:latin typeface="Georgia"/>
              </a:rPr>
              <a:t>Elekta  ·  Sweden  ·  MedTech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261872"/>
            <a:ext cx="3749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C49A3B"/>
                </a:solidFill>
                <a:latin typeface="Georgia"/>
              </a:rPr>
              <a:t>Margin-gap operator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0020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555F6E"/>
                </a:solidFill>
                <a:latin typeface="Georgia"/>
              </a:rPr>
              <a:t>Situation: Global #2 in radiation oncology in a growing oligopoly; heavily de-rated, with third-party fair-value estimates implying ~50%+ discounts during 2026. FY25/26 adj. EBIT margin ~12% vs mid-to-high teens at Siemens Healthineers/Varian.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600200"/>
            <a:ext cx="46634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2B3340"/>
                </a:solidFill>
                <a:latin typeface="Georgia"/>
              </a:rPr>
              <a:t>Value plan: Board-sponsored margin program; order-to-revenue execution reset; service acceleration; strategic optionality. Home-field nomination-committee engagement.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944368"/>
            <a:ext cx="11247120" cy="162763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944368"/>
            <a:ext cx="50800" cy="1627632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1752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B2545"/>
                </a:solidFill>
                <a:latin typeface="Georgia"/>
              </a:rPr>
              <a:t>Smith+Nephew  ·  UK  ·  MedTech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017520"/>
            <a:ext cx="3749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C49A3B"/>
                </a:solidFill>
                <a:latin typeface="Georgia"/>
              </a:rPr>
              <a:t>Margin gap &amp; structural options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355848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555F6E"/>
                </a:solidFill>
                <a:latin typeface="Georgia"/>
              </a:rPr>
              <a:t>Situation: Quality ortho/sports-med/wound franchise lagging peers on margin and execution for years; engagement validated (Cevian on the register since 2024) with the turnaround only partly delivered.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355848"/>
            <a:ext cx="46634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2B3340"/>
                </a:solidFill>
                <a:latin typeface="Georgia"/>
              </a:rPr>
              <a:t>Value plan: Hold the board to peer-level margins; evaluate separation of underperforming franchises and a US listing review — a second credible engaged owner can be decisive.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700016"/>
            <a:ext cx="11247120" cy="162763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700016"/>
            <a:ext cx="50800" cy="1627632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773168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B2545"/>
                </a:solidFill>
                <a:latin typeface="Georgia"/>
              </a:rPr>
              <a:t>Philips  ·  Netherlands  ·  HealthTech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773168"/>
            <a:ext cx="3749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C49A3B"/>
                </a:solidFill>
                <a:latin typeface="Georgia"/>
              </a:rPr>
              <a:t>Recovery &amp; SOTP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111496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555F6E"/>
                </a:solidFill>
                <a:latin typeface="Georgia"/>
              </a:rPr>
              <a:t>Situation: Emerging from the Respironics recall era (US litigation settled) with margins well below pre-crisis levels and peers; anchor shareholder (Exor) shows the register is open to engaged owners.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5111496"/>
            <a:ext cx="46634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050" b="0" i="0">
                <a:solidFill>
                  <a:srgbClr val="2B3340"/>
                </a:solidFill>
                <a:latin typeface="Georgia"/>
              </a:rPr>
              <a:t>Value plan: Margin normalisation with board accountability; portfolio review of Personal Health vs the healthcare core — force the SOTP into the price.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C49A3B"/>
                </a:solidFill>
                <a:latin typeface="Georgia"/>
              </a:rP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Georgia"/>
              </a:rPr>
              <a:t>Illustrative pipeline (2/2) — public information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9AA4B2"/>
                </a:solidFill>
                <a:latin typeface="Georgia"/>
              </a:rPr>
              <a:t>Strictly private &amp; confidential — illustrative discussion material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11247120" cy="13716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50800" cy="137160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43584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B2545"/>
                </a:solidFill>
                <a:latin typeface="Georgia"/>
              </a:rPr>
              <a:t>Baxter International  ·  US  ·  MedTech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243584"/>
            <a:ext cx="3749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C49A3B"/>
                </a:solidFill>
                <a:latin typeface="Georgia"/>
              </a:rPr>
              <a:t>Completing the simplification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60350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980" b="0" i="0">
                <a:solidFill>
                  <a:srgbClr val="555F6E"/>
                </a:solidFill>
                <a:latin typeface="Georgia"/>
              </a:rPr>
              <a:t>Situation: Multi-year simplification in motion (BioPharma Solutions sold; Vantive kidney-care divested to Carlyle, early 2025), yet the equity kept de-rating amid execution stumbles and a CEO transition — a fallen angel far below peer multiples.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554480"/>
            <a:ext cx="46634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980" b="0" i="0">
                <a:solidFill>
                  <a:srgbClr val="2B3340"/>
                </a:solidFill>
                <a:latin typeface="Georgia"/>
              </a:rPr>
              <a:t>Value plan: Finish the job: complete the separation program, reset the cost base, refresh the board, disciplined capital-return framework. Classic universal-proxy-era engagement.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688336"/>
            <a:ext cx="11247120" cy="13716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688336"/>
            <a:ext cx="50800" cy="137160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B2545"/>
                </a:solidFill>
                <a:latin typeface="Georgia"/>
              </a:rPr>
              <a:t>Global Payments  ·  US  ·  Payments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743200"/>
            <a:ext cx="3749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C49A3B"/>
                </a:solidFill>
                <a:latin typeface="Georgia"/>
              </a:rPr>
              <a:t>Capital allocation &amp; credibility reset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54096"/>
            <a:ext cx="60350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980" b="0" i="0">
                <a:solidFill>
                  <a:srgbClr val="555F6E"/>
                </a:solidFill>
                <a:latin typeface="Georgia"/>
              </a:rPr>
              <a:t>Situation: Scaled merchant-acquiring franchise at a deeply depressed multiple after the poorly received 2025 Worldpay / Issuer Solutions restructuring; activist interest publicly reported — the value gap is recognised.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054096"/>
            <a:ext cx="46634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980" b="0" i="0">
                <a:solidFill>
                  <a:srgbClr val="2B3340"/>
                </a:solidFill>
                <a:latin typeface="Georgia"/>
              </a:rPr>
              <a:t>Value plan: Integration milestones with board accountability; divest non-core; binding capital-return commitments post-deleveraging; payments operating expertise to the board (our Nets/Nexi heritage).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87952"/>
            <a:ext cx="11247120" cy="13716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187952"/>
            <a:ext cx="50800" cy="137160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42816"/>
            <a:ext cx="5120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B2545"/>
                </a:solidFill>
                <a:latin typeface="Georgia"/>
              </a:rPr>
              <a:t>Zimmer Biomet  ·  US  ·  MedTech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242816"/>
            <a:ext cx="3749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C49A3B"/>
                </a:solidFill>
                <a:latin typeface="Georgia"/>
              </a:rPr>
              <a:t>Capital-allocation catalyst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53712"/>
            <a:ext cx="60350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980" b="0" i="0">
                <a:solidFill>
                  <a:srgbClr val="555F6E"/>
                </a:solidFill>
                <a:latin typeface="Georgia"/>
              </a:rPr>
              <a:t>Situation: Orthopaedics leader compounding modestly at a structurally depressed multiple; investor confidence eroded by guidance resets and M&amp;A choices.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553712"/>
            <a:ext cx="46634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980" b="0" i="0">
                <a:solidFill>
                  <a:srgbClr val="2B3340"/>
                </a:solidFill>
                <a:latin typeface="Georgia"/>
              </a:rPr>
              <a:t>Value plan: Capital-allocation framework (organic + buybacks over dilutive M&amp;A); prune subscale adjacencies; margin program toward peer levels.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715000"/>
            <a:ext cx="11247120" cy="7772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788152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C49A3B"/>
                </a:solidFill>
                <a:latin typeface="Georgia"/>
              </a:rPr>
              <a:t>Watchlist (survives screens 1–3)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Georgia"/>
              </a:rPr>
              <a:t>EU: Getinge · GN Store Nord · Orkla · Tieto · Demant · Securitas · ISS · Valmet · Storebrand   |   US: Teleflex · Henry Schein · Fiserv · specialty insurers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C49A3B"/>
                </a:solidFill>
                <a:latin typeface="Georgia"/>
              </a:rPr>
              <a:t>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Georgia"/>
              </a:rPr>
              <a:t>Vehicle, size &amp; 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9AA4B2"/>
                </a:solidFill>
                <a:latin typeface="Georgia"/>
              </a:rPr>
              <a:t>Strictly private &amp; confidential — illustrative discussion material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188720"/>
          <a:ext cx="11247120" cy="4974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9052560"/>
              </a:tblGrid>
              <a:tr h="6217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Parameter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Recommendation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3340"/>
                          </a:solidFill>
                          <a:latin typeface="Georgia"/>
                        </a:rPr>
                        <a:t>Target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3340"/>
                          </a:solidFill>
                          <a:latin typeface="Georgia"/>
                        </a:rPr>
                        <a:t>USD 1.5bn target; USD 2.0bn hard cap — sized to the USD 2–15bn transatlantic mid-cap band where influence is cheap and competition thin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3340"/>
                          </a:solidFill>
                          <a:latin typeface="Georgia"/>
                        </a:rPr>
                        <a:t>Structure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3340"/>
                          </a:solidFill>
                          <a:latin typeface="Georgia"/>
                        </a:rPr>
                        <a:t>Luxembourg RAIF (AIFMD); evergreen with 3-year soft lock, then quarterly liquidity with 25% investor-level gates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3340"/>
                          </a:solidFill>
                          <a:latin typeface="Georgia"/>
                        </a:rPr>
                        <a:t>GP commitment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3340"/>
                          </a:solidFill>
                          <a:latin typeface="Georgia"/>
                        </a:rPr>
                        <a:t>EUR 150–200m from balance sheet + partners/employees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3340"/>
                          </a:solidFill>
                          <a:latin typeface="Georgia"/>
                        </a:rPr>
                        <a:t>Fees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3340"/>
                          </a:solidFill>
                          <a:latin typeface="Georgia"/>
                        </a:rPr>
                        <a:t>1.25–1.50% management; 17.5% performance over max(50/50 S&amp;P 500 / MSCI Europe + 200bps, 5% absolute); 3-year crystallisation; high-water mark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3340"/>
                          </a:solidFill>
                          <a:latin typeface="Georgia"/>
                        </a:rPr>
                        <a:t>Concentration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3340"/>
                          </a:solidFill>
                          <a:latin typeface="Georgia"/>
                        </a:rPr>
                        <a:t>Max 25% NAV per position at cost (35% at market); max 2 concurrent public-escalation campaigns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3340"/>
                          </a:solidFill>
                          <a:latin typeface="Georgia"/>
                        </a:rPr>
                        <a:t>Co-invest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3340"/>
                          </a:solidFill>
                          <a:latin typeface="Georgia"/>
                        </a:rPr>
                        <a:t>Sleeves for oversized situations and take-private bridges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3340"/>
                          </a:solidFill>
                          <a:latin typeface="Georgia"/>
                        </a:rPr>
                        <a:t>Target returns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B3340"/>
                          </a:solidFill>
                          <a:latin typeface="Georgia"/>
                        </a:rPr>
                        <a:t>15%+ net IRR over a cycle; catalyst-driven, entry discounts ≥30% provide downside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C49A3B"/>
                </a:solidFill>
                <a:latin typeface="Georgia"/>
              </a:rPr>
              <a:t>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Georgia"/>
              </a:rPr>
              <a:t>Run it hedged or unhedged?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9AA4B2"/>
                </a:solidFill>
                <a:latin typeface="Georgia"/>
              </a:rPr>
              <a:t>Strictly private &amp; confidential — illustrative discussion material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3611880" cy="310896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3611880" cy="5080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0B2545"/>
                </a:solidFill>
                <a:latin typeface="Georgia"/>
              </a:rPr>
              <a:t>Long-only, unhedged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9AA4B2"/>
                </a:solidFill>
                <a:latin typeface="Georgia"/>
              </a:rPr>
              <a:t>The Cevian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77440"/>
            <a:ext cx="32461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i="0">
                <a:solidFill>
                  <a:srgbClr val="555F6E"/>
                </a:solidFill>
                <a:latin typeface="Georgia"/>
              </a:rPr>
              <a:t>Net ~100%; returns = beta + engagement alpha. Simple, cheap, matches LP expectations for engaged equity — but fully exposed in risk-off years, mid-campaign.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5112" y="1188720"/>
            <a:ext cx="3611880" cy="31089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188720"/>
            <a:ext cx="3611880" cy="5080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371600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C49A3B"/>
                </a:solidFill>
                <a:latin typeface="Georgia"/>
              </a:rPr>
              <a:t>Long + tactical overlay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011680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Georgia"/>
              </a:rPr>
              <a:t>RECOMMENDED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377440"/>
            <a:ext cx="32461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Georgia"/>
              </a:rPr>
              <a:t>Net 80–100% by default. IC may hedge up to ~30% of NAV via liquid index futures/options under pre-defined stress triggers. FX systematically hedged to USD. Keeps the risk premium and catalyst optionality; caps tail drawdowns cheaply.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47304" y="1188720"/>
            <a:ext cx="3611880" cy="310896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47304" y="1188720"/>
            <a:ext cx="3611880" cy="5080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0184" y="1371600"/>
            <a:ext cx="3246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50" b="1" i="0">
                <a:solidFill>
                  <a:srgbClr val="0B2545"/>
                </a:solidFill>
                <a:latin typeface="Georgia"/>
              </a:rPr>
              <a:t>Market-neutral activist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4" y="2011680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9AA4B2"/>
                </a:solidFill>
                <a:latin typeface="Georgia"/>
              </a:rPr>
              <a:t>Rejected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4" y="2377440"/>
            <a:ext cx="32461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0" i="0">
                <a:solidFill>
                  <a:srgbClr val="555F6E"/>
                </a:solidFill>
                <a:latin typeface="Georgia"/>
              </a:rPr>
              <a:t>Permanent shorts isolate campaign alpha at 150–300bps annual drag — compounding against multi-year horizons; basis risk in a 6–8 name book; a structural short book sits awkwardly with a constructive board-seat brand.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57200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>
                <a:solidFill>
                  <a:srgbClr val="C49A3B"/>
                </a:solidFill>
                <a:latin typeface="Georgia"/>
              </a:rPr>
              <a:t>▪  </a:t>
            </a:r>
            <a:r>
              <a:rPr b="1" sz="1200">
                <a:solidFill>
                  <a:srgbClr val="0B2545"/>
                </a:solidFill>
                <a:latin typeface="Georgia"/>
              </a:rPr>
              <a:t>Why: </a:t>
            </a:r>
            <a:r>
              <a:rPr sz="1200">
                <a:solidFill>
                  <a:srgbClr val="2B3340"/>
                </a:solidFill>
                <a:latin typeface="Georgia"/>
              </a:rPr>
              <a:t>the alpha is idiosyncratic and catalyst-driven; entry discounts ≥30% are the primary downside protection. A permanent hedge premium would cost ~2–3% p.a. to neutralise the beta LPs are deliberately buying — protection the evergreen structure (3-year lock, gates) already provides against forced selling.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>
                <a:solidFill>
                  <a:srgbClr val="C49A3B"/>
                </a:solidFill>
                <a:latin typeface="Georgia"/>
              </a:rPr>
              <a:t>▪  </a:t>
            </a:r>
            <a:r>
              <a:rPr b="1" sz="1200">
                <a:solidFill>
                  <a:srgbClr val="0B2545"/>
                </a:solidFill>
                <a:latin typeface="Georgia"/>
              </a:rPr>
              <a:t>Hard rule: </a:t>
            </a:r>
            <a:r>
              <a:rPr sz="1200">
                <a:solidFill>
                  <a:srgbClr val="2B3340"/>
                </a:solidFill>
                <a:latin typeface="Georgia"/>
              </a:rPr>
              <a:t>no single-name shorts, ever — not on targets, not on peers (conflicts, disclosure, reputation). Hedge P&amp;L stays inside the performance-fee benchmark; the 50/50 S&amp;P 500 / MSCI Europe hurdle is unchanged.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C49A3B"/>
                </a:solidFill>
                <a:latin typeface="Georgia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Georgia"/>
              </a:rPr>
              <a:t>Team &amp; organisation: small, senior, transatlantic, conflict-proofed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9AA4B2"/>
                </a:solidFill>
                <a:latin typeface="Georgia"/>
              </a:rPr>
              <a:t>Strictly private &amp; confidential — illustrative discussion material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097280"/>
            <a:ext cx="4297680" cy="65836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1179576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Georgia"/>
              </a:rPr>
              <a:t>Head of Engaged Equities (Partner)
Ex-Cevian / top activist franchise · ExCo · Stockholm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01952"/>
            <a:ext cx="11247120" cy="868680"/>
          </a:xfrm>
          <a:prstGeom prst="rect">
            <a:avLst/>
          </a:prstGeom>
          <a:solidFill>
            <a:srgbClr val="13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01952"/>
            <a:ext cx="50800" cy="86868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75104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C49A3B"/>
                </a:solidFill>
                <a:latin typeface="Georgia"/>
              </a:rPr>
              <a:t>Knut Nyman — Principal, US Situations &amp; Campaign Strategy  ·  New York  ·  joining from Elliott Investment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0428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Georgia"/>
              </a:rPr>
              <a:t>Owns the US book: idea generation &amp; underwriting · 13D and universal-proxy playbook · settlement negotiation · US advisor network. Co-leads 1–2 campaigns per year; campaign lead from year two; path to Partner; carry from day 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907792"/>
            <a:ext cx="3611880" cy="89611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907792"/>
            <a:ext cx="44450" cy="896112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6265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B2545"/>
                </a:solidFill>
                <a:latin typeface="Georgia"/>
              </a:rPr>
              <a:t>Deputy PM / Head of Research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64992"/>
            <a:ext cx="3383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55F6E"/>
                </a:solidFill>
                <a:latin typeface="Georgia"/>
              </a:rPr>
              <a:t>Underwriting standards · red-team owner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5112" y="2907792"/>
            <a:ext cx="3611880" cy="89611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25112" y="2907792"/>
            <a:ext cx="44450" cy="896112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2272" y="296265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B2545"/>
                </a:solidFill>
                <a:latin typeface="Georgia"/>
              </a:rPr>
              <a:t>Sector Principal — Healthcare/MedTech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3364992"/>
            <a:ext cx="3383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55F6E"/>
                </a:solidFill>
                <a:latin typeface="Georgia"/>
              </a:rPr>
              <a:t>Campaign lead (one per region)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47304" y="2907792"/>
            <a:ext cx="3611880" cy="89611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47304" y="2907792"/>
            <a:ext cx="44450" cy="896112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4464" y="2962656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B2545"/>
                </a:solidFill>
                <a:latin typeface="Georgia"/>
              </a:rPr>
              <a:t>Sector Principal — Industrials/Tech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3364992"/>
            <a:ext cx="3383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55F6E"/>
                </a:solidFill>
                <a:latin typeface="Georgia"/>
              </a:rPr>
              <a:t>Campaign lead (one per region)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931920"/>
            <a:ext cx="3611880" cy="89611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931920"/>
            <a:ext cx="44450" cy="896112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986784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B2545"/>
                </a:solidFill>
                <a:latin typeface="Georgia"/>
              </a:rPr>
              <a:t>4–5 Investment professionals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389120"/>
            <a:ext cx="3383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55F6E"/>
                </a:solidFill>
                <a:latin typeface="Georgia"/>
              </a:rPr>
              <a:t>Modelling · register analytics · split SHB/NY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25112" y="3931920"/>
            <a:ext cx="3611880" cy="89611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25112" y="3931920"/>
            <a:ext cx="44450" cy="896112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62272" y="3986784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B2545"/>
                </a:solidFill>
                <a:latin typeface="Georgia"/>
              </a:rPr>
              <a:t>Head of Stewardship &amp; Governance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2272" y="4389120"/>
            <a:ext cx="3383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55F6E"/>
                </a:solidFill>
                <a:latin typeface="Georgia"/>
              </a:rPr>
              <a:t>Nomination committees · director sourcing · proxy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47304" y="3931920"/>
            <a:ext cx="3611880" cy="896112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47304" y="3931920"/>
            <a:ext cx="44450" cy="896112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4464" y="3986784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B2545"/>
                </a:solidFill>
                <a:latin typeface="Georgia"/>
              </a:rPr>
              <a:t>Dedicated Compliance Officer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4464" y="4389120"/>
            <a:ext cx="3383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55F6E"/>
                </a:solidFill>
                <a:latin typeface="Georgia"/>
              </a:rPr>
              <a:t>Owns the info barrier · reports to Group GC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074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>
                <a:solidFill>
                  <a:srgbClr val="C49A3B"/>
                </a:solidFill>
                <a:latin typeface="Georgia"/>
              </a:rPr>
              <a:t>▪  </a:t>
            </a:r>
            <a:r>
              <a:rPr b="1" sz="1050">
                <a:solidFill>
                  <a:srgbClr val="0B2545"/>
                </a:solidFill>
                <a:latin typeface="Georgia"/>
              </a:rPr>
              <a:t>Conflicts framework (make-or-break): </a:t>
            </a:r>
            <a:r>
              <a:rPr sz="1050">
                <a:solidFill>
                  <a:srgbClr val="2B3340"/>
                </a:solidFill>
                <a:latin typeface="Georgia"/>
              </a:rPr>
              <a:t>hard information barrier vs the PE business; restricted-list screening before any accumulation; wall-crossing only via documented GC approval.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>
                <a:solidFill>
                  <a:srgbClr val="C49A3B"/>
                </a:solidFill>
                <a:latin typeface="Georgia"/>
              </a:rPr>
              <a:t>▪  </a:t>
            </a:r>
            <a:r>
              <a:rPr b="1" sz="1050">
                <a:solidFill>
                  <a:srgbClr val="0B2545"/>
                </a:solidFill>
                <a:latin typeface="Georgia"/>
              </a:rPr>
              <a:t>Take-private protocol: </a:t>
            </a:r>
            <a:r>
              <a:rPr sz="1050">
                <a:solidFill>
                  <a:srgbClr val="2B3340"/>
                </a:solidFill>
                <a:latin typeface="Georgia"/>
              </a:rPr>
              <a:t>pre-agreed, LPAC-disclosed terms (independent pricing, roll-or-cash optionality, conflicted-party abstentions) if a position becomes a buyout target.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50">
                <a:solidFill>
                  <a:srgbClr val="C49A3B"/>
                </a:solidFill>
                <a:latin typeface="Georgia"/>
              </a:rPr>
              <a:t>▪  </a:t>
            </a:r>
            <a:r>
              <a:rPr b="1" sz="1050">
                <a:solidFill>
                  <a:srgbClr val="0B2545"/>
                </a:solidFill>
                <a:latin typeface="Georgia"/>
              </a:rPr>
              <a:t>Reputation committee: </a:t>
            </a:r>
            <a:r>
              <a:rPr sz="1050">
                <a:solidFill>
                  <a:srgbClr val="2B3340"/>
                </a:solidFill>
                <a:latin typeface="Georgia"/>
              </a:rPr>
              <a:t>Managing Partner sign-off for any public escalation, media engagement or EGM/proxy action.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C49A3B"/>
                </a:solidFill>
                <a:latin typeface="Georgia"/>
              </a:rPr>
              <a:t>ECONOMICS &amp;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Georgia"/>
              </a:rPr>
              <a:t>Platform economics, risks &amp; mitigants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9AA4B2"/>
                </a:solidFill>
                <a:latin typeface="Georgia"/>
              </a:rPr>
              <a:t>Strictly private &amp; confidential — illustrative discussion material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B2545"/>
                </a:solidFill>
                <a:latin typeface="Georgia"/>
              </a:rPr>
              <a:t>Economics for the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C49A3B"/>
                </a:solidFill>
                <a:latin typeface="Georgia"/>
              </a:rPr>
              <a:t>▪  </a:t>
            </a:r>
            <a:r>
              <a:rPr sz="1200">
                <a:solidFill>
                  <a:srgbClr val="2B3340"/>
                </a:solidFill>
                <a:latin typeface="Georgia"/>
              </a:rPr>
              <a:t>~USD 20m annual management fees at target size vs ~USD 12–14m steady-state costs — accretive from year two; ~USD 30–35m performance fees per cycle at 15% gross.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00">
                <a:solidFill>
                  <a:srgbClr val="C49A3B"/>
                </a:solidFill>
                <a:latin typeface="Georgia"/>
              </a:rPr>
              <a:t>▪  </a:t>
            </a:r>
            <a:r>
              <a:rPr sz="1200">
                <a:solidFill>
                  <a:srgbClr val="2B3340"/>
                </a:solidFill>
                <a:latin typeface="Georgia"/>
              </a:rPr>
              <a:t>Strategic P&amp;L is bigger: one incremental take-private or carve-out sourced through the strategy likely exceeds the vehicle's annual fee income in platform value.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2606040"/>
          <a:ext cx="112471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7040880"/>
              </a:tblGrid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Risk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Mitigant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3340"/>
                          </a:solidFill>
                          <a:latin typeface="Georgia"/>
                        </a:rPr>
                        <a:t>Reputational spillover to the PE brand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3340"/>
                          </a:solidFill>
                          <a:latin typeface="Georgia"/>
                        </a:rPr>
                        <a:t>Constructive-first doctrine; reputation-committee veto; no hostile openings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3340"/>
                          </a:solidFill>
                          <a:latin typeface="Georgia"/>
                        </a:rPr>
                        <a:t>Conflicts / MNPI vs private strategies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3340"/>
                          </a:solidFill>
                          <a:latin typeface="Georgia"/>
                        </a:rPr>
                        <a:t>Hard info barrier; dedicated compliance; LPAC-disclosed take-private protocol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3340"/>
                          </a:solidFill>
                          <a:latin typeface="Georgia"/>
                        </a:rPr>
                        <a:t>Sphere control blocks change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3340"/>
                          </a:solidFill>
                          <a:latin typeface="Georgia"/>
                        </a:rPr>
                        <a:t>Screened out ex ante; engage spheres as allies where present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3340"/>
                          </a:solidFill>
                          <a:latin typeface="Georgia"/>
                        </a:rPr>
                        <a:t>European mid-cap liquidity (thinner than US lines)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3340"/>
                          </a:solidFill>
                          <a:latin typeface="Georgia"/>
                        </a:rPr>
                        <a:t>ADV-tied sizing; larger tickets in US names; evergreen + gates; co-invest sleeves; event-driven exits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3340"/>
                          </a:solidFill>
                          <a:latin typeface="Georgia"/>
                        </a:rPr>
                        <a:t>Key-person dependence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3340"/>
                          </a:solidFill>
                          <a:latin typeface="Georgia"/>
                        </a:rPr>
                        <a:t>Co-PM structure; institutional IC; management-company equity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3340"/>
                          </a:solidFill>
                          <a:latin typeface="Georgia"/>
                        </a:rPr>
                        <a:t>Talent competition (Active Value Partners et al.)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B3340"/>
                          </a:solidFill>
                          <a:latin typeface="Georgia"/>
                        </a:rPr>
                        <a:t>Move in 2026; platform economics and brand beat start-up offers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C49A3B"/>
                </a:solidFill>
                <a:latin typeface="Georgia"/>
              </a:rPr>
              <a:t>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Georgia"/>
              </a:rPr>
              <a:t>Implementation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9AA4B2"/>
                </a:solidFill>
                <a:latin typeface="Georgia"/>
              </a:rPr>
              <a:t>Strictly private &amp; confidential — illustrative discussion material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2697480" cy="3291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2697480" cy="5080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2423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C49A3B"/>
                </a:solidFill>
                <a:latin typeface="Georgia"/>
              </a:rPr>
              <a:t>Phase 0 — Decide &amp;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9AA4B2"/>
                </a:solidFill>
                <a:latin typeface="Georgia"/>
              </a:rPr>
              <a:t>Jul–Sep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242316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Georgia"/>
              </a:rPr>
              <a:t>ExCo approval · conflicts framework with GC · regulatory scoping (Lux RAIF / AIFM passport) · launch Head search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4136" y="1371600"/>
            <a:ext cx="2697480" cy="3291840"/>
          </a:xfrm>
          <a:prstGeom prst="rect">
            <a:avLst/>
          </a:prstGeom>
          <a:solidFill>
            <a:srgbClr val="13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74136" y="1371600"/>
            <a:ext cx="2697480" cy="5080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1296" y="1554480"/>
            <a:ext cx="2423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C49A3B"/>
                </a:solidFill>
                <a:latin typeface="Georgia"/>
              </a:rPr>
              <a:t>Phase 1 —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1296" y="2286000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9AA4B2"/>
                </a:solidFill>
                <a:latin typeface="Georgia"/>
              </a:rPr>
              <a:t>Oct 2026 – Mar 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1296" y="2651760"/>
            <a:ext cx="242316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Georgia"/>
              </a:rPr>
              <a:t>Head + Deputy hired · Knut Nyman &amp; NY pod on board · core team of 7 · EUR 150–200m seed closed · 12–16 underwritten names · LP pre-marketing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5352" y="1371600"/>
            <a:ext cx="2697480" cy="3291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5352" y="1371600"/>
            <a:ext cx="2697480" cy="5080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1554480"/>
            <a:ext cx="2423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C49A3B"/>
                </a:solidFill>
                <a:latin typeface="Georgia"/>
              </a:rPr>
              <a:t>Phase 2 — First close &amp; deploy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286000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9AA4B2"/>
                </a:solidFill>
                <a:latin typeface="Georgia"/>
              </a:rPr>
              <a:t>Apr–Sep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2651760"/>
            <a:ext cx="242316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Georgia"/>
              </a:rPr>
              <a:t>First close ~USD 750m · 2–3 positions built against the board calendar (Q3-2027 Nordic snapshots; US nomination windows for the 2028 proxy season)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16568" y="1371600"/>
            <a:ext cx="2697480" cy="3291840"/>
          </a:xfrm>
          <a:prstGeom prst="rect">
            <a:avLst/>
          </a:prstGeom>
          <a:solidFill>
            <a:srgbClr val="13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16568" y="1371600"/>
            <a:ext cx="2697480" cy="5080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3728" y="1554480"/>
            <a:ext cx="2423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C49A3B"/>
                </a:solidFill>
                <a:latin typeface="Georgia"/>
              </a:rPr>
              <a:t>Phase 3 — 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2286000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9AA4B2"/>
                </a:solidFill>
                <a:latin typeface="Georgia"/>
              </a:rPr>
              <a:t>Oct 2027 – Dec 2028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2651760"/>
            <a:ext cx="242316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Georgia"/>
              </a:rPr>
              <a:t>Final close USD 1.5–2.0bn · 6–8 positions across both regions · first board seats and settlements in the 2028 cycles · first realisations 2029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029200"/>
            <a:ext cx="11247120" cy="10972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193792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C49A3B"/>
                </a:solidFill>
                <a:latin typeface="Georgia"/>
              </a:rPr>
              <a:t>The ask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0B2545"/>
                </a:solidFill>
                <a:latin typeface="Georgia"/>
              </a:rPr>
              <a:t>Executive Committee mandate to proceed with Phase 0: conflicts framework, regulatory scoping and the Head of Engaged Equities search — decision point for full launch in September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91695" cy="3810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The transatlantic engagement franchise has not been built yet.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632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C49A3B"/>
                </a:solidFill>
                <a:latin typeface="Georgia"/>
              </a:rPr>
              <a:t>Nordic Capital is the firm to build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9436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96A6"/>
                </a:solidFill>
                <a:latin typeface="Georgia"/>
              </a:rPr>
              <a:t>Illustrative discussion material · Company references based on public information only · Not investment advice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C49A3B"/>
                </a:solidFill>
                <a:latin typeface="Georgia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Georgia"/>
              </a:rPr>
              <a:t>Appendix — Precedents (1/2): Cevian, the constructive model at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9AA4B2"/>
                </a:solidFill>
                <a:latin typeface="Georgia"/>
              </a:rPr>
              <a:t>Strictly private &amp; confidential — illustrative discussion material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097280"/>
          <a:ext cx="112471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914400"/>
                <a:gridCol w="7680960"/>
                <a:gridCol w="1097280"/>
              </a:tblGrid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Campaign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Period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What happened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Result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Volvo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2006–17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Portfolio focus, cost discipline; stake sold to Geely for ~USD 3.9bn — reported among its most profitable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Win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ThyssenKrupp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2013–c.22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Break-up thesis; Elevator sale (EUR 17bn) vindicated SOTP but fragile balance sheet destroyed equity en route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Failure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RSA Insurance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2013–21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Focus &amp; disposals, then sale; Intact/Tryg takeover at ~50% premium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Win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ABB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2015–25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Power Grids exit to Hitachi, decentralisation, buybacks; long hold sold down 2025 after a strong re-rating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Win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Ericsson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2017–c.23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Chair change, cost focus; doubled into 2021, compliance issues gave much 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Mixed+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Panalpina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c.2013–19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Long-held ~12%; pushed sale; DSV takeover 2019 at a substantial premium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Win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Pearson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2020–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Backed digital turnaround; Apollo approaches rejected above-market; stake since lifted to ~18% — largest disclosed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Win, ongoing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Aviva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2021–c.24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Demanded ~GBP 5bn capital return; delivered, re-rated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Win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UBS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2023–25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Post-CS re-rating bet; reported ~2x on early tranches at 2025 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Win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Baloise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2023–25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Strategy reset, vote caps removed; Helvetia merger 2025; sold ~CHF 184 vs ~CHF 130 entry (~+40%)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Win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Smith+Nephew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2024–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Entered ~5%, lifted above 10% by mid-2026 (&gt;USD 1.3bn); margin recovery, structural options incl. US listing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Ongoing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Akzo Nobel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2025–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Built ~5% pressing for reset; backed the USD 25bn Axalta merger (Nov 2025), doubled to ~10.2%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Ongoing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SIG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2025–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New stake in the Swiss packaging maker; de-rated quality, self-help thesis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3340"/>
                          </a:solidFill>
                          <a:latin typeface="Georgia"/>
                        </a:rPr>
                        <a:t>Ongoing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2636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 i="1">
                <a:solidFill>
                  <a:srgbClr val="555F6E"/>
                </a:solidFill>
                <a:latin typeface="Georgia"/>
              </a:rPr>
              <a:t>Also: Skandia, Danske Bank, Tieto, Cookson/Vesuvius–Alent, Metso, Wolseley/Ferguson, Autoliv/Veoneer, Nordea (wins); Bilfinger, Vodafone (failures). ~3 clear failures in ~23 campaigns; reported low-to-mid-teens net annualised since 2002; wins cluster where a transaction crystallised value — our M&amp;A archetype.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C49A3B"/>
                </a:solidFill>
                <a:latin typeface="Georgia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Georgia"/>
              </a:rPr>
              <a:t>Appendix — Precedents (2/2): sponsors entering public-market activism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 i="0">
                <a:solidFill>
                  <a:srgbClr val="9AA4B2"/>
                </a:solidFill>
                <a:latin typeface="Georgia"/>
              </a:rPr>
              <a:t>Strictly private &amp; confidential — illustrative discussion material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5577840" cy="21488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97280"/>
            <a:ext cx="44450" cy="214884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188720"/>
            <a:ext cx="5303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B2545"/>
                </a:solidFill>
                <a:latin typeface="Georgia"/>
              </a:rPr>
              <a:t>EQT Public Value (2018–24) — the cautionary tale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572768"/>
            <a:ext cx="530352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555F6E"/>
                </a:solidFill>
                <a:latin typeface="Georgia"/>
              </a:rPr>
              <a:t>Listed Nordic mid-caps: Securitas, BHG, Storebrand, BioGaia, AFRY, ~10% of Storytel (Sep 2021, became largest shareholder). Never reached scale, no board-seat playbook, growth-momentum entries; the 2022 de-rating crushed the book and the fund was liquidated — the Storytel stake sold Aug 2024.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097280"/>
            <a:ext cx="5486400" cy="21488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97280"/>
            <a:ext cx="44450" cy="214884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188720"/>
            <a:ext cx="5212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B2545"/>
                </a:solidFill>
                <a:latin typeface="Georgia"/>
              </a:rPr>
              <a:t>KKR – Henry Schein (2024–26) — the template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1572768"/>
            <a:ext cx="521208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 i="0">
                <a:solidFill>
                  <a:srgbClr val="555F6E"/>
                </a:solidFill>
                <a:latin typeface="Georgia"/>
              </a:rPr>
              <a:t>Ananym campaigns (Nov 2024) → KKR USD 250m investment + 2 board seats (Jan 2025) → ~12% completed May 2025 → CEO succession: Lowery, ex-Thermo Fisher (Mar 2026) → KKR's Dan Daniel becomes Independent Chairman (May 2026), KKR at 16.4%. Zero to largest active holder + chairmanship in ~15 months, in our core sector.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83280"/>
            <a:ext cx="11247120" cy="12344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383280"/>
            <a:ext cx="50800" cy="1234440"/>
          </a:xfrm>
          <a:prstGeom prst="rect">
            <a:avLst/>
          </a:prstGeom>
          <a:solidFill>
            <a:srgbClr val="C49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45643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B2545"/>
                </a:solidFill>
                <a:latin typeface="Georgia"/>
              </a:rPr>
              <a:t>More sponsor entries — “occasional activists” are a defining 2025–26 trend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749039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555F6E"/>
                </a:solidFill>
                <a:latin typeface="Georgia"/>
              </a:rPr>
              <a:t>KKR–US Foods (2020): USD 500m PIPE + board seat at the COVID trough, strong reported exit  ·  Silver Lake–Expedia/Twitter/Airbnb (2020): crisis PIPEs with board representation  ·  Apollo–Western Digital (2023): USD 900m convertible riding Elliott's separation push (SanDisk spin completed 2025)  ·  Warburg Pincus–ESR (2022–25): minority toehold converted into co-leading the ~USD 7bn take-private  ·  Triton–Caverion (2022–23): stake-build → tender battle → take-private at a large premium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800600"/>
            <a:ext cx="11247120" cy="14173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89204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49A3B"/>
                </a:solidFill>
                <a:latin typeface="Georgia"/>
              </a:rPr>
              <a:t>What the precedents are designed into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193792"/>
            <a:ext cx="107899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FFFFFF"/>
                </a:solidFill>
                <a:latin typeface="Georgia"/>
              </a:rPr>
              <a:t>Scale + seed from day one — not EQT PV's subscale drift  ·  Partner-level activist leadership and a US campaign Principal — not PE generalists  ·  Stakes sized for influence — not passive minorities  ·  ≥30% value-gap entries — not growth momentum  ·  Evergreen capital — never forced to sell at the bottom  ·  Screens exclude the Cevian failure fingerprint: fragile balance sheets, political stakeholders, catalysts outside shareholders' control.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