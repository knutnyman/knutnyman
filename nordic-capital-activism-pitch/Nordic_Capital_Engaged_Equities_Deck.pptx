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10128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49A3B"/>
                </a:solidFill>
                <a:latin typeface="Georgia"/>
              </a:rPr>
              <a:t>STRICTLY 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Nordic Capital Engaged Equities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900" b="0" i="0">
                <a:solidFill>
                  <a:srgbClr val="C9D3E0"/>
                </a:solidFill>
                <a:latin typeface="Georgia"/>
              </a:rPr>
              <a:t>A constructive activism strategy for the Nordic public markets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03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49A3B"/>
                </a:solidFill>
                <a:latin typeface="Georgia"/>
              </a:rPr>
              <a:t>Proposal for a USD 1.5bn engaged public-equities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949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D3E0"/>
                </a:solidFill>
                <a:latin typeface="Georgia"/>
              </a:rPr>
              <a:t>Prepared for the Managing Partner &amp; Executive Committee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8A96A6"/>
                </a:solidFill>
                <a:latin typeface="Georgia"/>
              </a:rPr>
              <a:t>June 2026  |  Company references are based on public information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THE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6766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Launch “Nordic Capital Engaged Equities”: </a:t>
            </a:r>
            <a:r>
              <a:rPr sz="1350">
                <a:solidFill>
                  <a:srgbClr val="2B3340"/>
                </a:solidFill>
                <a:latin typeface="Georgia"/>
              </a:rPr>
              <a:t>a USD 1.5bn (cap USD 2.0bn) constructive-activism fund taking 4–10% stakes in 6–8 listed Nordic mid-caps (EUR 1–10bn market cap).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Apply the firm's PE playbook in public markets: </a:t>
            </a:r>
            <a:r>
              <a:rPr sz="1350">
                <a:solidFill>
                  <a:srgbClr val="2B3340"/>
                </a:solidFill>
                <a:latin typeface="Georgia"/>
              </a:rPr>
              <a:t>operational improvement, portfolio separation, capital-allocation reform — executed via nomination committees and board seats, not public fights.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The window is open: </a:t>
            </a:r>
            <a:r>
              <a:rPr sz="1350">
                <a:solidFill>
                  <a:srgbClr val="2B3340"/>
                </a:solidFill>
                <a:latin typeface="Georgia"/>
              </a:rPr>
              <a:t>record global activism, an M&amp;A-heavy campaign mix that favours a PE sponsor, persistent 30–50% value gaps in under-covered Nordic mid-caps — and only one established practitioner (Cevian) in the region.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Nordic Capital's edge is structural: </a:t>
            </a:r>
            <a:r>
              <a:rPr sz="1350">
                <a:solidFill>
                  <a:srgbClr val="2B3340"/>
                </a:solidFill>
                <a:latin typeface="Georgia"/>
              </a:rPr>
              <a:t>operating credibility, the region's best director bench, domestic legitimacy, and sector depth in healthcare, tech &amp; payments, financial services and industrials.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Platform synergies compound: </a:t>
            </a:r>
            <a:r>
              <a:rPr sz="1350">
                <a:solidFill>
                  <a:srgbClr val="2B3340"/>
                </a:solidFill>
                <a:latin typeface="Georgia"/>
              </a:rPr>
              <a:t>take-private and PIPE pipeline for the buyout funds, carve-out deal flow, and a new fee stream — accretive from year two.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143000"/>
            <a:ext cx="4023360" cy="51206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41732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49A3B"/>
                </a:solidFill>
                <a:latin typeface="Georgia"/>
              </a:rPr>
              <a:t>USD 1.5bn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947672"/>
            <a:ext cx="374903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Target size (hard cap USD 2.0bn)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60604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49A3B"/>
                </a:solidFill>
                <a:latin typeface="Georgia"/>
              </a:rPr>
              <a:t>6–8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136392"/>
            <a:ext cx="374903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Concentrated core positions, 4–10% stakes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79476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49A3B"/>
                </a:solidFill>
                <a:latin typeface="Georgia"/>
              </a:rPr>
              <a:t>15%+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4325112"/>
            <a:ext cx="374903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Target net IRR over a cycle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98348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49A3B"/>
                </a:solidFill>
                <a:latin typeface="Georgia"/>
              </a:rPr>
              <a:t>H2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5513832"/>
            <a:ext cx="374903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First close &amp; initial deployment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Why now: the opening for a second Nordic engagement franchise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5577840" cy="1554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44450" cy="15544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8016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Record activism, M&amp;A-centric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664208"/>
            <a:ext cx="5303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2025 set a record for global activist campaigns; ~6 in 10 late-2025 campaigns carried M&amp;A demands (break-ups, divestitures, sale processes) — terrain where a private equity sponsor has advantages no hedge-fund activist can match.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188720"/>
            <a:ext cx="5486400" cy="1554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188720"/>
            <a:ext cx="44450" cy="15544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280160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Persistent Nordic value gaps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1664208"/>
            <a:ext cx="5212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Nordic mid-caps are structurally under-covered post-MiFID II; quality franchises trade at 30–50% discounts to intrinsic value on SOTP / normalised margins — below the entry multiples our buyout funds pay in auctions.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926080"/>
            <a:ext cx="5577840" cy="1554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926080"/>
            <a:ext cx="44450" cy="15544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01752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Thin dedicated competition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5303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Cevian is the only institutional-scale practitioner and has migrated toward pan-European large-caps. The EUR 1–10bn mid-cap band is underserved — and the 2026 launch of Active Value Partners (ex-Cevian) confirms institutional appetite for the space.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26080"/>
            <a:ext cx="5486400" cy="1554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2926080"/>
            <a:ext cx="44450" cy="15544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3017520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Supportive shareholder 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3401568"/>
            <a:ext cx="5212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Nordic institutions, AP funds and universal owners increasingly back well-argued engagement agendas — lowering the cost of building winning coalitions.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09160"/>
            <a:ext cx="11247120" cy="14173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919472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49A3B"/>
                </a:solidFill>
                <a:latin typeface="Georgia"/>
              </a:rPr>
              <a:t>The strategic point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Georgia"/>
              </a:rPr>
              <a:t>The category-defining domestic engagement franchise in the Nordics has not yet been built. Nordic Capital can build it — with advantages Cevian never had: a buyout platform behind the engagement and an operating bench measured in hundreds of professionals.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The Nordics: the most activist-friendly governance model in the world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24712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754880"/>
                <a:gridCol w="4389120"/>
              </a:tblGrid>
              <a:tr h="71323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Georgia"/>
                        </a:rPr>
                        <a:t>Feature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Georgia"/>
                        </a:rPr>
                        <a:t>Mechanism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Georgia"/>
                        </a:rPr>
                        <a:t>What it means for us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3340"/>
                          </a:solidFill>
                          <a:latin typeface="Georgia"/>
                        </a:rPr>
                        <a:t>Nomination committees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3340"/>
                          </a:solidFill>
                          <a:latin typeface="Georgia"/>
                        </a:rPr>
                        <a:t>Board nominations controlled by the largest shareholders (top 3–4 as of Aug/Sep records) — not by the 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3340"/>
                          </a:solidFill>
                          <a:latin typeface="Georgia"/>
                        </a:rPr>
                        <a:t>A 4–8% stake routinely earns direct influence over board composition — no proxy fight needed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3340"/>
                          </a:solidFill>
                          <a:latin typeface="Georgia"/>
                        </a:rPr>
                        <a:t>Low EGM threshold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3340"/>
                          </a:solidFill>
                          <a:latin typeface="Georgia"/>
                        </a:rPr>
                        <a:t>10% of shares can call an extraordinary general meeting (Sweden; similar across the region)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3340"/>
                          </a:solidFill>
                          <a:latin typeface="Georgia"/>
                        </a:rPr>
                        <a:t>Credible escalation path that rarely needs to be used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3340"/>
                          </a:solidFill>
                          <a:latin typeface="Georgia"/>
                        </a:rPr>
                        <a:t>Ownership transparency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3340"/>
                          </a:solidFill>
                          <a:latin typeface="Georgia"/>
                        </a:rPr>
                        <a:t>Public shareholder registers (e.g. Euroclear Sweden), frequently updated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3340"/>
                          </a:solidFill>
                          <a:latin typeface="Georgia"/>
                        </a:rPr>
                        <a:t>Precise coalition mapping before and during campaigns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3340"/>
                          </a:solidFill>
                          <a:latin typeface="Georgia"/>
                        </a:rPr>
                        <a:t>Consensus board culture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3340"/>
                          </a:solidFill>
                          <a:latin typeface="Georgia"/>
                        </a:rPr>
                        <a:t>Boards and ownership spheres respond to well-researched private engagement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3340"/>
                          </a:solidFill>
                          <a:latin typeface="Georgia"/>
                        </a:rPr>
                        <a:t>Lower campaign cost, faster outcomes, brand-compatible conduct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3340"/>
                          </a:solidFill>
                          <a:latin typeface="Georgia"/>
                        </a:rPr>
                        <a:t>Spheres &amp; dual-class shares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3340"/>
                          </a:solidFill>
                          <a:latin typeface="Georgia"/>
                        </a:rPr>
                        <a:t>Families, foundations and investment companies anchor many issuers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B3340"/>
                          </a:solidFill>
                          <a:latin typeface="Georgia"/>
                        </a:rPr>
                        <a:t>Screened ex ante; sphere-free mid-caps are exceptionally open to engagement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25780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1">
                <a:solidFill>
                  <a:srgbClr val="555F6E"/>
                </a:solidFill>
                <a:latin typeface="Georgia"/>
              </a:rPr>
              <a:t>Proof of concept: Cevian's two decades of board-seat-driven engagement across the region — and returns in the low-to-mid teens net over cycles — demonstrate the model. Timing discipline: stakes must be built before the Q3 ownership snapshots that seat the following spring's nomination committees.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RIGHT TO 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Why Nordic Capital wins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801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Operating credibility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6642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30 years and &gt;EUR 31bn AUM built on operational transformation. When we tell a board the margin gap is 400bps, we speak as an owner that has closed it repeatedly in private portfolios.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1887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1887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2801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The director bench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16642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An unmatched network of Nordic chairs, former CEOs and operating advisors to propose as board candidates — the resource that decides outcomes in a nomination-committee system.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7304" y="11887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7304" y="11887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12801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Domestic legitimacy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16642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Institutions, family spheres and governments engage differently with a Stockholm-rooted owner than with a New York or London activist. Lower friction = cheaper, faster, quieter wins.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7033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7033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37947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Sector underwriting edge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1788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Healthcare, tech &amp; payments, financial services, industrials — the listed mid-cap universe is full of businesses we have studied, bid on or competed against.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5112" y="37033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25112" y="37033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9704" y="37947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Two-way PE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9704" y="41788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Engagement surfaces take-privates and PIPEs for the flagship funds; activist-catalysed carve-outs create proprietary deal flow (strict info barriers; see governance slide).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47304" y="37033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47304" y="37033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1896" y="37947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LP demand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1896" y="41788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Existing LPs want Nordic exposure with liquidity; Evolution II's four-month hard-cap close shows the franchise's fundraising velocity.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Investment strategy: constructive activism, board-led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2471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0B2545"/>
                </a:solidFill>
                <a:latin typeface="Georgia"/>
              </a:rPr>
              <a:t>Take 4–10% positions in 6–8 listed Nordic companies (EUR 1–10bn market cap) with ≥30% upside to intrinsic value, and close the gap in 2–4 years through actions the company itself can take — driven from the nomination committee and the boardroom.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48840"/>
            <a:ext cx="2121408" cy="26517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1. Underwrite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0–4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PE-grade diligence; operational benchmark; SOTP; red-team; ≥30% upside with limited structural downside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7208" y="2148840"/>
            <a:ext cx="2121408" cy="265176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16936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2. Accumulate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6936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3–9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6936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4–10% via market + blocks, timed to Q3 ownership snapshots; chair meeting before crossing 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11496" y="2148840"/>
            <a:ext cx="2121408" cy="26517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21224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3. Engage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1224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6–18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21224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Private value plan to board &amp; anchors; nomination-committee seat; propose 1–2 directors from our bench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15784" y="2148840"/>
            <a:ext cx="2121408" cy="265176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5512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4. Execute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5512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12–36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5512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Margin program / separation / balance-sheet reset; quarterly milestones vs the underwrite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720072" y="2148840"/>
            <a:ext cx="2121408" cy="26517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29800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5. Realise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24–48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Re-rating, strategic sale — or conflict-cleared take-private by our buyout funds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07492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>
                <a:solidFill>
                  <a:srgbClr val="C49A3B"/>
                </a:solidFill>
                <a:latin typeface="Georgia"/>
              </a:rPr>
              <a:t>▪  </a:t>
            </a:r>
            <a:r>
              <a:rPr b="1" sz="1250">
                <a:solidFill>
                  <a:srgbClr val="0B2545"/>
                </a:solidFill>
                <a:latin typeface="Georgia"/>
              </a:rPr>
              <a:t>Doctrine: </a:t>
            </a:r>
            <a:r>
              <a:rPr sz="1250">
                <a:solidFill>
                  <a:srgbClr val="2B3340"/>
                </a:solidFill>
                <a:latin typeface="Georgia"/>
              </a:rPr>
              <a:t>constructive-first — public escalation needs IC + reputation-committee sign-off; never a hostile opening move; no shorting of engagement targets; max 2 concurrent public-phase campaigns.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Three thesis archetypes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3611880" cy="42976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36118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B2545"/>
                </a:solidFill>
                <a:latin typeface="Georgia"/>
              </a:rPr>
              <a:t>Margin-gap operators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49A3B"/>
                </a:solidFill>
                <a:latin typeface="Georgia"/>
              </a:rPr>
              <a:t>40–50% of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68880"/>
            <a:ext cx="32461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55F6E"/>
                </a:solidFill>
                <a:latin typeface="Georgia"/>
              </a:rPr>
              <a:t>Quality franchises running 300–600bps below achievable margins (execution, supply chain, quality systems — not market position). Value plan: board-sponsored operational program with hard milestones.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92040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Examples: Elekta, Getinge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5112" y="1234440"/>
            <a:ext cx="3611880" cy="42976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1234440"/>
            <a:ext cx="36118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41732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B2545"/>
                </a:solidFill>
                <a:latin typeface="Georgia"/>
              </a:rPr>
              <a:t>Conglomerate / SOTP discounts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103120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49A3B"/>
                </a:solidFill>
                <a:latin typeface="Georgia"/>
              </a:rPr>
              <a:t>30–40% of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2468880"/>
            <a:ext cx="32461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55F6E"/>
                </a:solidFill>
                <a:latin typeface="Georgia"/>
              </a:rPr>
              <a:t>Multi-division companies where separation, divestiture or monetisation of hidden assets unlocks 30–60% upside. Plays to the record M&amp;A-activism mix and our carve-out expertise.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4892040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Examples: GN Store Nord, Orkla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47304" y="1234440"/>
            <a:ext cx="3611880" cy="42976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47304" y="1234440"/>
            <a:ext cx="36118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0184" y="141732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B2545"/>
                </a:solidFill>
                <a:latin typeface="Georgia"/>
              </a:rPr>
              <a:t>Capital allocation &amp; strategic catalysts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0184" y="2103120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49A3B"/>
                </a:solidFill>
                <a:latin typeface="Georgia"/>
              </a:rPr>
              <a:t>15–25% of 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0184" y="2468880"/>
            <a:ext cx="32461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55F6E"/>
                </a:solidFill>
                <a:latin typeface="Georgia"/>
              </a:rPr>
              <a:t>Lazy balance sheets, value-destructive M&amp;A patterns, or companies that should start or accept strategic processes; often overlaps the other archetypes.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4892040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Example: Tieto (completing its break-up)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8064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1">
                <a:solidFill>
                  <a:srgbClr val="555F6E"/>
                </a:solidFill>
                <a:latin typeface="Georgia"/>
              </a:rPr>
              <a:t>Sector focus mirrors the PE franchise: Healthcare &amp; MedTech 30–40% · Industrials &amp; Business Services 25–35% · Tech, Software &amp; Payments 15–25% · Financial Services 10–20%. Geography: SE ~40–50%, DK ~20–25%, FI ~15–20%, NO ~10–15%.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Target universe: a disciplined funnel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11247120" cy="65836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~1,400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316736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Nordic-listed companies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1993392"/>
            <a:ext cx="9326880" cy="658368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91640" y="20665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~150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121408"/>
            <a:ext cx="7498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EUR 1–10bn market cap, post liquidity screens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60" y="2798064"/>
            <a:ext cx="7406640" cy="658368"/>
          </a:xfrm>
          <a:prstGeom prst="rect">
            <a:avLst/>
          </a:prstGeom>
          <a:solidFill>
            <a:srgbClr val="1E4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2871216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~60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9080" y="292608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Quality screen: defensible position, sound gross margins, clear peer set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602736"/>
            <a:ext cx="5486400" cy="658368"/>
          </a:xfrm>
          <a:prstGeom prst="rect">
            <a:avLst/>
          </a:prstGeom>
          <a:solidFill>
            <a:srgbClr val="2E6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1880" y="3675887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~25–30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730752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Value gap ≥30% on normalised margins or SOTP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4407408"/>
            <a:ext cx="3840480" cy="658368"/>
          </a:xfrm>
          <a:prstGeom prst="rect">
            <a:avLst/>
          </a:prstGeom>
          <a:solidFill>
            <a:srgbClr val="4474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448056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~15–20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4535424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Path to influence: register open, no hostile blocking sphere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5212080"/>
            <a:ext cx="2377440" cy="658368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528523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B2545"/>
                </a:solidFill>
                <a:latin typeface="Georgia"/>
              </a:rPr>
              <a:t>6–8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340096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B2545"/>
                </a:solidFill>
                <a:latin typeface="Georgia"/>
              </a:rPr>
              <a:t>Funded positions (after MNPI / conflicts clearance)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1264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0B2545"/>
                </a:solidFill>
                <a:latin typeface="Georgia"/>
              </a:rPr>
              <a:t>EUR 1.5bn across 6–8 cores = EUR 180–280m per position = 4–10% of EUR 2–6bn companies — exactly the band where nomination-committee seats are won and dedicated competition is thinnest.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Illustrative pipeline (1/2) — public information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11247120" cy="162763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50800" cy="162763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61872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B2545"/>
                </a:solidFill>
                <a:latin typeface="Georgia"/>
              </a:rPr>
              <a:t>Elekta  ·  SE  ·  MedTech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261872"/>
            <a:ext cx="37490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49A3B"/>
                </a:solidFill>
                <a:latin typeface="Georgia"/>
              </a:rPr>
              <a:t>Margin-gap operator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Situation: Global #2 in radiation oncology in a growing oligopoly; heavily de-rated, with third-party fair-value estimates implying ~50%+ discounts during 2026. FY25/26 adj. EBIT margin ~12% vs mid-to-high teens at Siemens Healthineers/Varian.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600200"/>
            <a:ext cx="46634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2B3340"/>
                </a:solidFill>
                <a:latin typeface="Georgia"/>
              </a:rPr>
              <a:t>Value plan: Board-sponsored margin program; order-to-revenue execution reset; service acceleration; strategic optionality. Healthcare is our home turf.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44368"/>
            <a:ext cx="11247120" cy="162763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944368"/>
            <a:ext cx="50800" cy="162763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0175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B2545"/>
                </a:solidFill>
                <a:latin typeface="Georgia"/>
              </a:rPr>
              <a:t>Getinge  ·  SE  ·  MedTech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017520"/>
            <a:ext cx="37490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49A3B"/>
                </a:solidFill>
                <a:latin typeface="Georgia"/>
              </a:rPr>
              <a:t>Margin recovery &amp; portfolio focus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55848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Situation: Profitability recovering (profit margin ~6.5% in 2025 vs ~4.7% in 2024) as quality costs roll off, but far below peers; three loosely related business areas invite portfolio review.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355848"/>
            <a:ext cx="46634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2B3340"/>
                </a:solidFill>
                <a:latin typeface="Georgia"/>
              </a:rPr>
              <a:t>Value plan: Complete the quality agenda with board accountability; drive Life Science separation review; normalise margins toward double-digit EBITA.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700016"/>
            <a:ext cx="11247120" cy="162763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700016"/>
            <a:ext cx="50800" cy="162763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773168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B2545"/>
                </a:solidFill>
                <a:latin typeface="Georgia"/>
              </a:rPr>
              <a:t>GN Store Nord  ·  DK  ·  Hearing &amp; Audio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73168"/>
            <a:ext cx="37490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49A3B"/>
                </a:solidFill>
                <a:latin typeface="Georgia"/>
              </a:rPr>
              <a:t>Separation thesis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111496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Situation: Two-business structure (hearing care; enterprise/consumer audio) with limited synergy; separation long debated while leverage suppressed action; register unusually open for a Danish large-cap.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111496"/>
            <a:ext cx="46634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2B3340"/>
                </a:solidFill>
                <a:latin typeface="Georgia"/>
              </a:rPr>
              <a:t>Value plan: Deleverage milestones, then a formal separation review — both units have natural strategic and sponsor buyers.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Illustrative pipeline (2/2) — public information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11247120" cy="162763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50800" cy="162763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61872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B2545"/>
                </a:solidFill>
                <a:latin typeface="Georgia"/>
              </a:rPr>
              <a:t>Tieto  ·  FI  ·  Software &amp; IT Services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261872"/>
            <a:ext cx="37490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49A3B"/>
                </a:solidFill>
                <a:latin typeface="Georgia"/>
              </a:rPr>
              <a:t>Completing the break-up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Situation: Tietoevry has validated the separation path: Banking demerger toward a Helsinki listing announced; Tech Services sold to Agilitas for EUR 300m (closed Sep 2025) with proceeds to debt.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600200"/>
            <a:ext cx="46634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2B3340"/>
                </a:solidFill>
                <a:latin typeface="Georgia"/>
              </a:rPr>
              <a:t>Value plan: Support and accelerate value realisation; enforce capital-return discipline; position the remaining Nordic software core for consolidation — as buyer or seller.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44368"/>
            <a:ext cx="11247120" cy="162763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944368"/>
            <a:ext cx="50800" cy="162763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0175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B2545"/>
                </a:solidFill>
                <a:latin typeface="Georgia"/>
              </a:rPr>
              <a:t>Orkla  ·  NO  ·  Branded Consumer / Holding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017520"/>
            <a:ext cx="37490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49A3B"/>
                </a:solidFill>
                <a:latin typeface="Georgia"/>
              </a:rPr>
              <a:t>Conglomerate discount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55848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Situation: Self-declared industrial investment company with ~12 portfolio companies, a ~42.6% Jotun stake (world-class hidden asset) and hydropower; equity persistently below credible SOTP.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355848"/>
            <a:ext cx="46634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2B3340"/>
                </a:solidFill>
                <a:latin typeface="Georgia"/>
              </a:rPr>
              <a:t>Value plan: Accelerate announced monetisations; capital-return framework tied to disposal proceeds; transparent per-asset reporting that forces the SOTP into the price.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800600"/>
            <a:ext cx="11247120" cy="13258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49A3B"/>
                </a:solidFill>
                <a:latin typeface="Georgia"/>
              </a:rPr>
              <a:t>Watchlist (survives screens 1–3)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Georgia"/>
              </a:rPr>
              <a:t>Securitas (self-help largely delivered — a model of the re-rating we underwrite) · Demant · Ambu · Dometic · Thule · Huhtamäki · Valmet · Storebrand · ISS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Vehicle, size &amp; 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188720"/>
          <a:ext cx="11247120" cy="4974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52560"/>
              </a:tblGrid>
              <a:tr h="62179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Parameter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Recommendation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Target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USD 1.5bn target; USD 2.0bn hard cap — sized to the EUR 1–10bn mid-cap band where influence is cheap and competition thin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Structure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Luxembourg RAIF (AIFMD); evergreen with 3-year soft lock, then quarterly liquidity with 25% investor-level gates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GP commitment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EUR 150–200m from balance sheet + partners/employees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Fees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1.25–1.50% management; 17.5% performance over max(MSCI Nordic + 200bps, 5% absolute); 3-year crystallisation; high-water mark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Concentration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Max 25% NAV per position at cost (35% at market); max 2 concurrent public-escalation campaigns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Co-invest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Sleeves for oversized situations and take-private bridges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Target returns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15%+ net IRR over a cycle; catalyst-driven, entry discounts ≥30% provide downside margin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Team &amp; organisation: small, senior, conflict-proofed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1920" y="1143000"/>
            <a:ext cx="4297680" cy="6858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0" y="1243584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Georgia"/>
              </a:rPr>
              <a:t>Head of Engaged Equities (Partner)
Ex-Cevian / top activist franchise · ExCo member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148840"/>
            <a:ext cx="3611880" cy="9601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148840"/>
            <a:ext cx="44450" cy="9601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21992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Georgia"/>
              </a:rPr>
              <a:t>Deputy PM / Head of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24328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555F6E"/>
                </a:solidFill>
                <a:latin typeface="Georgia"/>
              </a:rPr>
              <a:t>Underwriting standards · red-team owner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5112" y="2148840"/>
            <a:ext cx="3611880" cy="9601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2148840"/>
            <a:ext cx="44450" cy="9601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2221992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Georgia"/>
              </a:rPr>
              <a:t>Sector Principal — Healthcare/MedTech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2" y="2624328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555F6E"/>
                </a:solidFill>
                <a:latin typeface="Georgia"/>
              </a:rPr>
              <a:t>Campaign lead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47304" y="2148840"/>
            <a:ext cx="3611880" cy="9601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47304" y="2148840"/>
            <a:ext cx="44450" cy="9601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2221992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Georgia"/>
              </a:rPr>
              <a:t>Sector Principal — Industrials/Tech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624328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555F6E"/>
                </a:solidFill>
                <a:latin typeface="Georgia"/>
              </a:rPr>
              <a:t>Campaign lead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291840"/>
            <a:ext cx="3611880" cy="9601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291840"/>
            <a:ext cx="44450" cy="9601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364992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Georgia"/>
              </a:rPr>
              <a:t>4–5 Investment professionals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767328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555F6E"/>
                </a:solidFill>
                <a:latin typeface="Georgia"/>
              </a:rPr>
              <a:t>Modelling · register analytics · benchmarking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5112" y="3291840"/>
            <a:ext cx="3611880" cy="9601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25112" y="3291840"/>
            <a:ext cx="44450" cy="9601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2272" y="3364992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Georgia"/>
              </a:rPr>
              <a:t>Head of Stewardship &amp; Governance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62272" y="3767328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555F6E"/>
                </a:solidFill>
                <a:latin typeface="Georgia"/>
              </a:rPr>
              <a:t>Nomination committees · director sourcing · proxy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47304" y="3291840"/>
            <a:ext cx="3611880" cy="9601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47304" y="3291840"/>
            <a:ext cx="44450" cy="9601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84464" y="3364992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Georgia"/>
              </a:rPr>
              <a:t>Dedicated Compliance Officer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4464" y="3767328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555F6E"/>
                </a:solidFill>
                <a:latin typeface="Georgia"/>
              </a:rPr>
              <a:t>Owns the info barrier · reports to Group GC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61772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>
                <a:solidFill>
                  <a:srgbClr val="C49A3B"/>
                </a:solidFill>
                <a:latin typeface="Georgia"/>
              </a:rPr>
              <a:t>▪  </a:t>
            </a:r>
            <a:r>
              <a:rPr b="1" sz="1150">
                <a:solidFill>
                  <a:srgbClr val="0B2545"/>
                </a:solidFill>
                <a:latin typeface="Georgia"/>
              </a:rPr>
              <a:t>Conflicts framework (make-or-break): </a:t>
            </a:r>
            <a:r>
              <a:rPr sz="1150">
                <a:solidFill>
                  <a:srgbClr val="2B3340"/>
                </a:solidFill>
                <a:latin typeface="Georgia"/>
              </a:rPr>
              <a:t>hard information barrier vs the PE business; restricted-list screening before any accumulation; wall-crossing only via documented GC approval.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>
                <a:solidFill>
                  <a:srgbClr val="C49A3B"/>
                </a:solidFill>
                <a:latin typeface="Georgia"/>
              </a:rPr>
              <a:t>▪  </a:t>
            </a:r>
            <a:r>
              <a:rPr b="1" sz="1150">
                <a:solidFill>
                  <a:srgbClr val="0B2545"/>
                </a:solidFill>
                <a:latin typeface="Georgia"/>
              </a:rPr>
              <a:t>Take-private protocol: </a:t>
            </a:r>
            <a:r>
              <a:rPr sz="1150">
                <a:solidFill>
                  <a:srgbClr val="2B3340"/>
                </a:solidFill>
                <a:latin typeface="Georgia"/>
              </a:rPr>
              <a:t>pre-agreed, LPAC-disclosed terms (independent pricing, roll-or-cash optionality, conflicted-party abstentions) if a position becomes a buyout target.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>
                <a:solidFill>
                  <a:srgbClr val="C49A3B"/>
                </a:solidFill>
                <a:latin typeface="Georgia"/>
              </a:rPr>
              <a:t>▪  </a:t>
            </a:r>
            <a:r>
              <a:rPr b="1" sz="1150">
                <a:solidFill>
                  <a:srgbClr val="0B2545"/>
                </a:solidFill>
                <a:latin typeface="Georgia"/>
              </a:rPr>
              <a:t>Reputation committee: </a:t>
            </a:r>
            <a:r>
              <a:rPr sz="1150">
                <a:solidFill>
                  <a:srgbClr val="2B3340"/>
                </a:solidFill>
                <a:latin typeface="Georgia"/>
              </a:rPr>
              <a:t>Managing Partner sign-off required for any public escalation, media engagement or EGM requisition.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ECONOMICS &amp;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Platform economics, risks &amp; mitigants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2545"/>
                </a:solidFill>
                <a:latin typeface="Georgia"/>
              </a:rPr>
              <a:t>Economics for the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C49A3B"/>
                </a:solidFill>
                <a:latin typeface="Georgia"/>
              </a:rPr>
              <a:t>▪  </a:t>
            </a:r>
            <a:r>
              <a:rPr sz="1200">
                <a:solidFill>
                  <a:srgbClr val="2B3340"/>
                </a:solidFill>
                <a:latin typeface="Georgia"/>
              </a:rPr>
              <a:t>~USD 20m annual management fees at target size vs ~USD 12–14m steady-state costs — accretive from year two; ~USD 30–35m performance fees per cycle at 15% gross.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C49A3B"/>
                </a:solidFill>
                <a:latin typeface="Georgia"/>
              </a:rPr>
              <a:t>▪  </a:t>
            </a:r>
            <a:r>
              <a:rPr sz="1200">
                <a:solidFill>
                  <a:srgbClr val="2B3340"/>
                </a:solidFill>
                <a:latin typeface="Georgia"/>
              </a:rPr>
              <a:t>Strategic P&amp;L is bigger: one incremental take-private or carve-out sourced through the strategy likely exceeds the vehicle's annual fee income in platform value.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2606040"/>
          <a:ext cx="112471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7040880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Risk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Mitigant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Reputational spillover to the PE brand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Constructive-first doctrine; reputation-committee veto; no hostile openings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Conflicts / MNPI vs private strategies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Hard info barrier; dedicated compliance; LPAC-disclosed take-private protocol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Sphere control blocks 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Screened out ex ante; engage spheres as allies where present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Mid-cap liquidity (SEK/NOK/DKK)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ADV-tied sizing; evergreen + gates; co-invest sleeves; event-driven exits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Key-person dependence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Co-PM structure; institutional IC; management-company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Talent competition (Active Value Partners et al.)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Move in 2026; platform economics and brand beat start-up offers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Implementation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97480" cy="32918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26974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Phase 0 — Decide &amp;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Jul–Sep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24231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ExCo approval · conflicts framework with GC · regulatory scoping (Lux RAIF / AIFM passport) · launch Head search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4136" y="1371600"/>
            <a:ext cx="2697480" cy="329184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4136" y="1371600"/>
            <a:ext cx="26974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1296" y="155448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Phase 1 —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1296" y="228600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Oct 2026 – Mar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1296" y="2651760"/>
            <a:ext cx="24231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Head + Deputy hired · core team of 6 · EUR 150–200m seed closed · 10–14 underwritten names · LP pre-marketing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2697480" cy="32918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352" y="1371600"/>
            <a:ext cx="26974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155448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Phase 2 — First close &amp; deploy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28600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Apr–Sep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651760"/>
            <a:ext cx="24231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First close ~USD 750m · 2–3 positions built against Q3-2027 ownership snapshots (seats 2028 nomination committees)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16568" y="1371600"/>
            <a:ext cx="2697480" cy="329184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16568" y="1371600"/>
            <a:ext cx="26974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3728" y="155448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Phase 3 — Scale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228600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Oct 2027 – Dec 2028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3728" y="2651760"/>
            <a:ext cx="24231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Final close USD 1.5–2.0bn · 6–8 positions · first board seats at the 2028 AGM season · first realisations 2029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029200"/>
            <a:ext cx="11247120" cy="10972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93792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49A3B"/>
                </a:solidFill>
                <a:latin typeface="Georgia"/>
              </a:rPr>
              <a:t>The ask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B2545"/>
                </a:solidFill>
                <a:latin typeface="Georgia"/>
              </a:rPr>
              <a:t>Executive Committee mandate to proceed with Phase 0: conflicts framework, regulatory scoping and the Head of Engaged Equities search — decision point for full launch in September 2026.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Nordic engagement franchise has not been built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0632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C49A3B"/>
                </a:solidFill>
                <a:latin typeface="Georgia"/>
              </a:rPr>
              <a:t>Nordic Capital is the firm to build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96A6"/>
                </a:solidFill>
                <a:latin typeface="Georgia"/>
              </a:rPr>
              <a:t>Illustrative discussion material · Company references based on public information only · Not investment advice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