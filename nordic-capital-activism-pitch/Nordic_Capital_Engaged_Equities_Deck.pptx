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STRICTLY 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Nordic Capital Engaged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C9D3E0"/>
                </a:solidFill>
                <a:latin typeface="Georgia"/>
              </a:rPr>
              <a:t>A constructive activism strategy for US and European public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49A3B"/>
                </a:solidFill>
                <a:latin typeface="Georgia"/>
              </a:rPr>
              <a:t>Proposal for a USD 1.5bn engaged public-equities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D3E0"/>
                </a:solidFill>
                <a:latin typeface="Georgia"/>
              </a:rPr>
              <a:t>Prepared for the Managing Partner &amp; Executive Committee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8A96A6"/>
                </a:solidFill>
                <a:latin typeface="Georgia"/>
              </a:rPr>
              <a:t>June 2026  |  Company references are based on public information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THE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Launch “Nordic Capital Engaged Equities”: </a:t>
            </a:r>
            <a:r>
              <a:rPr sz="1350">
                <a:solidFill>
                  <a:srgbClr val="2B3340"/>
                </a:solidFill>
                <a:latin typeface="Georgia"/>
              </a:rPr>
              <a:t>a USD 1.5bn (cap USD 2.0bn) constructive-activism fund taking 2–10% stakes in 6–8 listed US and European companies (USD 2–15bn market cap) in the firm's core sectors.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Apply the firm's PE playbook in public markets: </a:t>
            </a:r>
            <a:r>
              <a:rPr sz="1350">
                <a:solidFill>
                  <a:srgbClr val="2B3340"/>
                </a:solidFill>
                <a:latin typeface="Georgia"/>
              </a:rPr>
              <a:t>operational improvement, portfolio separation, capital-allocation reform — via nomination committees and board seats in Europe, universal-proxy-backed engagement in the US.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The window is open: </a:t>
            </a:r>
            <a:r>
              <a:rPr sz="1350">
                <a:solidFill>
                  <a:srgbClr val="2B3340"/>
                </a:solidFill>
                <a:latin typeface="Georgia"/>
              </a:rPr>
              <a:t>record global activism with an M&amp;A-heavy mix that favours a PE sponsor, 30–50% value gaps in de-rated quality mid-caps on both continents — and no practitioner combining operating depth with a transatlantic mandate.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Nordic Capital's edge is structural: </a:t>
            </a:r>
            <a:r>
              <a:rPr sz="1350">
                <a:solidFill>
                  <a:srgbClr val="2B3340"/>
                </a:solidFill>
                <a:latin typeface="Georgia"/>
              </a:rPr>
              <a:t>operating credibility, the best director bench in Europe, a New York platform, and sector depth in healthcare, tech &amp; payments, financial services and industrials. US campaign strategy led by Knut Nyman, joining from Elliott.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Platform synergies compound: </a:t>
            </a:r>
            <a:r>
              <a:rPr sz="1350">
                <a:solidFill>
                  <a:srgbClr val="2B3340"/>
                </a:solidFill>
                <a:latin typeface="Georgia"/>
              </a:rPr>
              <a:t>take-private and PIPE pipeline for the buyout funds, carve-out deal flow, and a new fee stream — accretive from year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23360" cy="51206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USD 1.5bn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size (hard cap USD 2.0bn)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6–8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3639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Core positions · ~50/50 US &amp; Europe · 2–10%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15%+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2511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net IRR over a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834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H2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51383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&amp; initial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now: the opening for a transatlantic engagement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Record activism, M&amp;A-centric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2025 set a record for global activist campaigns; ~6 in 10 late-2025 campaigns carried M&amp;A demands (break-ups, divestitures, sale processes) — terrain where a private equity sponsor has advantages no hedge-fund activist can 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8016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Value gaps on both continents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Europe: structural discount to the US, compounded in under-covered mid-caps. US: the post-2021 de-rating left fallen-angel quality in medtech, payments and software at 30–50% discounts — below the multiples our buyout funds pay in auctions.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175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Mis-shaped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US activism is crowded at the mega-cap end but thin in operationally complex mid-caps; in Europe, Cevian has drifted large-cap and has no US book. Nobody combines PE operating depth with a transatlantic mandate.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2608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0175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Supportive shareholder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Index funds and pension institutions on both continents increasingly back well-argued engagement agendas — lowering the cost of building winning coalitions.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strategic point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Georgia"/>
              </a:rPr>
              <a:t>The category-defining sponsor-backed engagement franchise spanning the US and Europe has not yet been built. Nordic Capital can build it — with advantages neither Cevian nor the US funds have: a buyout platform behind the engagement and an operating bench measured in hundreds of professionals.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Two engagement regimes, one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2471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754880"/>
              </a:tblGrid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Europe / Nordics (home field)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United States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Path to the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Shareholder-elected nomination committees (Nordics: top 3–4 holders as of Aug/Sep records); sphere engagement; 4–8% wins influence without a proxy fight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Universal proxy card (2022) slashed the cost of board challenges; most campaigns settle for seats; 2–6% stakes suffice with a credible 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Escalation tools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Low EGM thresholds (10% in Sweden); public shareholder registers enable precise coalition mapping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13D platform; precision proxy contests; settlement negotiation; deep advisor ecosystem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Culture &amp;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Consensus boards; private argumentation usually sufficient; low campaign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Faster, transactional; settlements within 6–12 months; higher cost, higher liquidity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Our edge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Domestic legitimacy of a 30-year Stockholm-rooted owner; Europe's best director bench; Cevian-validated model, no second practitioner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Sector operating credibility US activists lack; PE-grade separation expertise; campaign leadership hired from the US activist front line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492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>
                <a:solidFill>
                  <a:srgbClr val="555F6E"/>
                </a:solidFill>
                <a:latin typeface="Georgia"/>
              </a:rPr>
              <a:t>Same underwriting, same value plans, different influence mechanics. Timing discipline in both: Q3 ownership snapshots seat Nordic nomination committees; US nomination windows gate the proxy season.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RIGHT TO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Nordic Capital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Operating credibility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30 years and &gt;EUR 31bn AUM built on operational transformation. When we tell a board the margin gap is 400bps, we speak as an owner that has closed it repeatedly in private portfolios.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The director bench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An unmatched network of Nordic chairs, former CEOs and operating advisors to propose as board candidates — the resource that decides outcomes in a nomination-committee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Legitimacy + US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European spheres and institutions trust a Stockholm-rooted owner; in the US, our New York platform and a campaign team hired from the activist front line give standing European funds never built.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Sector underwriting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Healthcare, tech &amp; payments, financial services, industrials — the same lens in Boston, Amsterdam and Stockholm; a universe of businesses we have studied, bid on or competed against.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Two-way PE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Engagement surfaces take-privates and PIPEs for the flagship funds; activist-catalysed carve-outs create proprietary deal flow (strict info barriers; see governance slide).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7304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LP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Existing LPs want Nordic exposure with liquidity; Evolution II's four-month hard-cap close shows the franchise's fundraising velocity.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Investment strategy: constructive activism, board-led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0B2545"/>
                </a:solidFill>
                <a:latin typeface="Georgia"/>
              </a:rPr>
              <a:t>Take 2–10% positions in 6–8 listed US and European companies (USD 2–15bn market cap) with ≥30% upside to intrinsic value, and close the gap in 2–4 years through actions the company itself can take — driven from the boardroom under each market's governance regime.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1. Underwrite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0–4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PE-grade diligence; operational benchmark; SOTP; red-team; ≥30% upside with limited structural downside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6936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2. Accumulate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3–9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2–10% via market + blocks, timed to each market's board calendar; chair meeting before crossing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3. Engage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6–18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Private value plan to board &amp; anchors; EU: nomination-committee seat; US: negotiated refreshment under universal-proxy optionality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4.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12–36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Margin program / separation / balance-sheet reset; quarterly milestones vs the underwrite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0072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5. Realise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24–48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Re-rating, strategic sale — or conflict-cleared take-private by our buyout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>
                <a:solidFill>
                  <a:srgbClr val="C49A3B"/>
                </a:solidFill>
                <a:latin typeface="Georgia"/>
              </a:rPr>
              <a:t>▪  </a:t>
            </a:r>
            <a:r>
              <a:rPr b="1" sz="1250">
                <a:solidFill>
                  <a:srgbClr val="0B2545"/>
                </a:solidFill>
                <a:latin typeface="Georgia"/>
              </a:rPr>
              <a:t>Doctrine: </a:t>
            </a:r>
            <a:r>
              <a:rPr sz="1250">
                <a:solidFill>
                  <a:srgbClr val="2B3340"/>
                </a:solidFill>
                <a:latin typeface="Georgia"/>
              </a:rPr>
              <a:t>constructive-first — public escalation needs IC + reputation-committee sign-off; never a hostile opening move; no shorting of engagement targets; max 2 concurrent public-phase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Three thesis archetypes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Margin-gap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40–50% of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Quality franchises running 300–600bps below achievable margins (execution, supply chain, quality systems — not market position). Value plan: board-sponsored operational program with hard milestones.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Elekta, Smith+Nephew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Conglomerate / SOTP discounts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30–40% of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Multi-division companies where separation, divestiture or monetisation of hidden assets unlocks 30–60% upside. Plays to the record M&amp;A-activism mix and our carve-out expertise.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Philips, Baxter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Capital allocation &amp; strategic catalysts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15–25% of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Lazy balance sheets, value-destructive M&amp;A patterns, or companies that should start or accept strategic processes; often overlaps the other archetypes.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Global Payments, Zimmer Biomet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555F6E"/>
                </a:solidFill>
                <a:latin typeface="Georgia"/>
              </a:rPr>
              <a:t>Sector focus mirrors the PE franchise: Healthcare &amp; MedTech 30–40% · Industrials &amp; Business Services 25–35% · Tech, Software &amp; Payments 15–25% · Financial Services 10–20%. Geography: US 40–50% · Europe 50–60% (of which Nordics 20–30%).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Target universe: a disciplined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31673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US &amp; European listed names in our four core sectors, USD 2–15bn, post liquidity screens (~55% US / 45% EU)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993392"/>
            <a:ext cx="9326880" cy="658368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21408"/>
            <a:ext cx="7498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Quality screen: defensible position, sound gross margins, clear peer 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2798064"/>
            <a:ext cx="7406640" cy="658368"/>
          </a:xfrm>
          <a:prstGeom prst="rect">
            <a:avLst/>
          </a:prstGeom>
          <a:solidFill>
            <a:srgbClr val="1E4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871216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~80–100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Value gap ≥30% on normalised margins or SOTP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02736"/>
            <a:ext cx="5486400" cy="658368"/>
          </a:xfrm>
          <a:prstGeom prst="rect">
            <a:avLst/>
          </a:prstGeom>
          <a:solidFill>
            <a:srgbClr val="2E6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75887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3075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Path to influence: open register, no hostile blocker, no defeating defence structures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407408"/>
            <a:ext cx="3840480" cy="658368"/>
          </a:xfrm>
          <a:prstGeom prst="rect">
            <a:avLst/>
          </a:prstGeom>
          <a:solidFill>
            <a:srgbClr val="4474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48056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12–16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Live underwritten pipeline (after MNPI / conflicts clearance)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5212080"/>
            <a:ext cx="2377440" cy="658368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528523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Georgia"/>
              </a:rPr>
              <a:t>6–8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00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B2545"/>
                </a:solidFill>
                <a:latin typeface="Georgia"/>
              </a:rPr>
              <a:t>Funded core positions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0B2545"/>
                </a:solidFill>
                <a:latin typeface="Georgia"/>
              </a:rPr>
              <a:t>USD 1.5bn across 6–8 cores = USD 180–280m per position = 4–10% of a USD 3–6bn European mid-cap or 2–5% of a USD 5–15bn US name — influential under both regimes, in the band where competition is thinnest.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(1/2)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Elekta  ·  Sweden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Margin-gap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Global #2 in radiation oncology in a growing oligopoly; heavily de-rated, with third-party fair-value estimates implying ~50%+ discounts during 2026. FY25/26 adj. EBIT margin ~12% vs mid-to-high teens at Siemens Healthineers/Varian.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Board-sponsored margin program; order-to-revenue execution reset; service acceleration; strategic optionality. Home-field nomination-committee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Smith+Nephew  ·  UK  ·  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 gap &amp; structural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Quality ortho/sports-med/wound franchise lagging peers on margin and execution for years; engagement validated (Cevian on the register since 2024) with the turnaround only partly delivered.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Hold the board to peer-level margins; evaluate separation of underperforming franchises and a US listing review — a second credible engaged owner can be decisive.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00016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0016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Philips  ·  Netherlands  ·  HealthTech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73168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Recovery &amp; SOTP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11496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Emerging from the Respironics recall era (US litigation settled) with margins well below pre-crisis levels and peers; anchor shareholder (Exor) shows the register is open to engaged owners.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11496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Margin normalisation with board accountability; portfolio review of Personal Health vs the healthcare core — force the SOTP into the price.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(2/2)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43584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Baxter International  ·  US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43584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Completing the simplification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Multi-year simplification in motion (BioPharma Solutions sold; Vantive kidney-care divested to Carlyle, early 2025), yet the equity kept de-rating amid execution stumbles and a CEO transition — a fallen angel far below peer multiples.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554480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Finish the job: complete the separation program, reset the cost base, refresh the board, disciplined capital-return framework. Classic universal-proxy-era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88336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88336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Global Payments  ·  US  ·  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 allocation &amp; credibility reset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54096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Scaled merchant-acquiring franchise at a deeply depressed multiple after the poorly received 2025 Worldpay / Issuer Solutions restructuring; activist interest publicly reported — the value gap is recognised.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54096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Integration milestones with board accountability; divest non-core; binding capital-return commitments post-deleveraging; payments operating expertise to the board (our Nets/Nexi heritage).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87952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87952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42816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Zimmer Biomet  ·  US  ·  MedTech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242816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Capital-allocation catalyst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Orthopaedics leader compounding modestly at a structurally depressed multiple; investor confidence eroded by guidance resets and M&amp;A choices.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553712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Capital-allocation framework (organic + buybacks over dilutive M&amp;A); prune subscale adjacencies; margin program toward peer levels.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15000"/>
            <a:ext cx="1124712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8815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Watchlist (survives screens 1–3)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EU: Getinge · GN Store Nord · Orkla · Tieto · Demant · Securitas · ISS · Valmet · Storebrand   |   US: Teleflex · Henry Schein · Fiserv · specialty insurers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Vehicle, size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52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Recommendation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USD 1.5bn target; USD 2.0bn hard cap — sized to the USD 2–15bn transatlantic mid-cap band where influence is cheap and competition thin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Luxembourg RAIF (AIFMD); evergreen with 3-year soft lock, then quarterly liquidity with 25% investor-level gates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GP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EUR 150–200m from balance sheet + partners/employees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Fees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1.25–1.50% management; 17.5% performance over max(50/50 S&amp;P 500 / MSCI Europe + 200bps, 5% absolute); 3-year crystallisation; high-water mark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Max 25% NAV per position at cost (35% at market); max 2 concurrent public-escalation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Co-invest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Sleeves for oversized situations and take-private bridges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15%+ net IRR over a cycle; catalyst-driven, entry discounts ≥30% provide downside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Team &amp; organisation: small, senior, transatlantic, conflict-proofed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429768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179576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Head of Engaged Equities (Partner)
Ex-Cevian / top activist franchise · ExCo · Stockholm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247120" cy="86868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01952"/>
            <a:ext cx="50800" cy="8686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C49A3B"/>
                </a:solidFill>
                <a:latin typeface="Georgia"/>
              </a:rPr>
              <a:t>Knut Nyman — Principal, US Situations &amp; Campaign Strategy  ·  New York  ·  joining from Elliott Investment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Owns the US book: idea generation &amp; underwriting · 13D and universal-proxy playbook · settlement negotiation · US advisor network. Co-leads 1–2 campaigns per year; campaign lead from year two; path to Partner; carry from day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Deputy PM / Head of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Underwriting standards · red-team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Healthcare/MedTech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Industrials/Tech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4–5 Investment professionals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Modelling · register analytics · split SHB/NY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Head of Stewardship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Nomination committees · director sourcing · proxy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47304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47304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4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Dedicated Compliance Officer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Owns the info barrier · reports to Group GC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074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Conflicts framework (make-or-break): </a:t>
            </a:r>
            <a:r>
              <a:rPr sz="1050">
                <a:solidFill>
                  <a:srgbClr val="2B3340"/>
                </a:solidFill>
                <a:latin typeface="Georgia"/>
              </a:rPr>
              <a:t>hard information barrier vs the PE business; restricted-list screening before any accumulation; wall-crossing only via documented GC approval.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Take-private protocol: </a:t>
            </a:r>
            <a:r>
              <a:rPr sz="1050">
                <a:solidFill>
                  <a:srgbClr val="2B3340"/>
                </a:solidFill>
                <a:latin typeface="Georgia"/>
              </a:rPr>
              <a:t>pre-agreed, LPAC-disclosed terms (independent pricing, roll-or-cash optionality, conflicted-party abstentions) if a position becomes a buyout target.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Reputation committee: </a:t>
            </a:r>
            <a:r>
              <a:rPr sz="1050">
                <a:solidFill>
                  <a:srgbClr val="2B3340"/>
                </a:solidFill>
                <a:latin typeface="Georgia"/>
              </a:rPr>
              <a:t>Managing Partner sign-off for any public escalation, media engagement or EGM/proxy 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ECONOMICS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Platform economics, risks &amp; mitigants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Economics for 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~USD 20m annual management fees at target size vs ~USD 12–14m steady-state costs — accretive from year two; ~USD 30–35m performance fees per cycle at 15% gross.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Strategic P&amp;L is bigger: one incremental take-private or carve-out sourced through the strategy likely exceeds the vehicle's annual fee income in platform value.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60604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Mitigant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Reputational spillover to the PE 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Constructive-first doctrine; reputation-committee veto; no hostile openings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Conflicts / MNPI vs private strategies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Hard info barrier; dedicated compliance; LPAC-disclosed take-private protocol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Sphere control blocks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Screened out ex ante; engage spheres as allies where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European mid-cap liquidity (thinner than US lines)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ADV-tied sizing; larger tickets in US names; evergreen + gates; co-invest sleeves; event-driven exits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Key-person 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Co-PM structure; institutional IC; management-company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Talent competition (Active Value Partners et al.)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Move in 2026; platform economics and brand beat start-up offers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0 — Decide &amp;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Jul–Sep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ExCo approval · conflicts framework with GC · regulatory scoping (Lux RAIF / AIFM passport) · launch Head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1 —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2026 – Mar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Head + Deputy hired · Knut Nyman &amp; NY pod on board · core team of 7 · EUR 150–200m seed closed · 12–16 underwritten names · LP pre-marketing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2 — First close 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Apr–Sep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~USD 750m · 2–3 positions built against the board calendar (Q3-2027 Nordic snapshots; US nomination windows for the 2028 proxy season)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568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3 —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2027 – Dec 2028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Final close USD 1.5–2.0bn · 6–8 positions across both regions · first board seats and settlements in the 2028 cycles · first realisations 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1247120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Executive Committee mandate to proceed with Phase 0: conflicts framework, regulatory scoping and the Head of Engaged Equities search — decision point for full launch in September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transatlantic engagement franchise has not been built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49A3B"/>
                </a:solidFill>
                <a:latin typeface="Georgia"/>
              </a:rPr>
              <a:t>Nordic Capital is the firm to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96A6"/>
                </a:solidFill>
                <a:latin typeface="Georgia"/>
              </a:rPr>
              <a:t>Illustrative discussion material · Company references based on public information only · Not investment advice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(1/2): Cevian, the constructive model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097280"/>
          <a:ext cx="1124712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Campaign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Period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What happened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Skandia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2002–06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Governance overhaul, pushed sale; acquired by Old Mutual 2006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Volvo Group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2006–17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Portfolio focus, cost discipline; stake sold to Geely for ~USD 3.9bn — reported among its most profitable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Danske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2011–c.15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Post-crisis efficiency &amp; capital agenda; strong recovery into 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Bilfinger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2011–c.20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Transformation thesis; profit warnings, CEO churn, a decade for little value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Failure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ThyssenKrupp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2013–c.22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Break-up thesis; Elevator sale (EUR 17bn) vindicated SOTP but fragile balance sheet destroyed equity en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RSA Insurance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2013–21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Focus &amp; disposals, then sale; Intact/Tryg takeover at ~50% premium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ABB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2015–c.22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Power Grids exit to Hitachi, decentralisation, buybacks; solid re-rating over a long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Ericsson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2017–c.23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Chair change, cost focus; doubled into 2021, compliance issues gave much back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Mixed+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Panalpina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2018–19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Pushed sale; DSV takeover at a substantial premium within ~18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Aviva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2021–c.24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Demanded ~GBP 5bn capital return; delivered, re-rated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UBS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Post-CS re-rating bet; reported ~2x on early tranches at 2025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Baloise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2023–25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Strategy reset, vote caps removed; Helvetia merger 2025; sold ~CHF 184 vs ~CHF 130 entry (~+40%)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B3340"/>
                          </a:solidFill>
                          <a:latin typeface="Georgia"/>
                        </a:rPr>
                        <a:t>Win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1">
                <a:solidFill>
                  <a:srgbClr val="555F6E"/>
                </a:solidFill>
                <a:latin typeface="Georgia"/>
              </a:rPr>
              <a:t>Also: Tieto, Cookson/Vesuvius–Alent, Metso, Wolseley/Ferguson, Autoliv/Veoneer, Nordea, Pearson (wins/modest wins); Vodafone (failure); Smith+Nephew (ongoing). ~3 clear failures in ~20 campaigns; reported low-to-mid-teens net annualised since 2002. Wins cluster where a transaction crystallised value — our M&amp;A archetype.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Appendix — Precedents (2/2): sponsors in public 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5577840" cy="2651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44450" cy="265176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3444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EQT Public Value (2018–24) — the cautionary tale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18488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55F6E"/>
                </a:solidFill>
                <a:latin typeface="Georgia"/>
              </a:rPr>
              <a:t>Listed Nordic mid-cap strategy: Securitas, BHG, Storebrand, BioGaia, AFRY, and ~10% of Storytel (Sep 2021, became largest shareholder). Never reached scale, no board-seat engagement playbook, growth-momentum entries; the 2022 de-rating crushed the book and the fund was liquidated — the entire Storytel stake sold in Aug 2024.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486400" cy="2651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43000"/>
            <a:ext cx="44450" cy="265176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3444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KKR – Henry Schein (2025) — sponsor activism validated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18488"/>
            <a:ext cx="52120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55F6E"/>
                </a:solidFill>
                <a:latin typeface="Georgia"/>
              </a:rPr>
              <a:t>After Ananym Capital's late-2024 campaign, Henry Schein announced a USD 250m strategic investment from KKR (Jan 2025): two board seats (Dan Daniel ex-Danaher; Max Lin, KKR Healthcare), completed May 2025 with KKR at ~12% and clearance to build to 14.9%. A sponsor converted a modest stake into board influence within months — in our core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977639"/>
            <a:ext cx="11247120" cy="2103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What the precedents are designed into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80560"/>
            <a:ext cx="107899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eorgia"/>
              </a:rPr>
              <a:t>Scale + seed from day one (EUR 150–200m GP commitment) — not EQT PV's subscale drift  ·  Partner-level activist leadership and a US campaign Principal — not PE generalists  ·  Stakes sized for influence (nomination committees / universal proxy) — not passive minorities  ·  ≥30% value-gap entries — not growth momentum  ·  Evergreen capital — never forced to liquidate at the bottom  ·  Screens exclude the Cevian failure fingerprint: fragile balance sheets, political stakeholders, catalysts outside shareholders' control. Triton–Caverion (2022–23) shows the take-private optionality; Active Value Partners (2026) shows the window is closing.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