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7315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1280160"/>
          </a:xfrm>
          <a:prstGeom prst="rect">
            <a:avLst/>
          </a:prstGeom>
          <a:noFill/>
        </p:spPr>
        <p:txBody>
          <a:bodyPr wrap="square">
            <a:spAutoFit/>
          </a:bodyPr>
          <a:lstStyle/>
          <a:p>
            <a:pPr algn="ctr"/>
            <a:r>
              <a:rPr sz="4800" b="1" i="0">
                <a:solidFill>
                  <a:srgbClr val="FFFFFF"/>
                </a:solidFill>
              </a:rPr>
              <a:t>Abbott Diagnostics</a:t>
            </a:r>
          </a:p>
        </p:txBody>
      </p:sp>
      <p:sp>
        <p:nvSpPr>
          <p:cNvPr id="5" name="TextBox 4"/>
          <p:cNvSpPr txBox="1"/>
          <p:nvPr/>
        </p:nvSpPr>
        <p:spPr>
          <a:xfrm>
            <a:off x="914400" y="2468880"/>
            <a:ext cx="10058400" cy="640080"/>
          </a:xfrm>
          <a:prstGeom prst="rect">
            <a:avLst/>
          </a:prstGeom>
          <a:noFill/>
        </p:spPr>
        <p:txBody>
          <a:bodyPr wrap="square">
            <a:spAutoFit/>
          </a:bodyPr>
          <a:lstStyle/>
          <a:p>
            <a:pPr algn="ctr"/>
            <a:r>
              <a:rPr sz="2800" b="0" i="0">
                <a:solidFill>
                  <a:srgbClr val="BFD9F2"/>
                </a:solidFill>
              </a:rPr>
              <a:t>Full Business &amp; Market Mapping</a:t>
            </a:r>
          </a:p>
        </p:txBody>
      </p:sp>
      <p:sp>
        <p:nvSpPr>
          <p:cNvPr id="6" name="TextBox 5"/>
          <p:cNvSpPr txBox="1"/>
          <p:nvPr/>
        </p:nvSpPr>
        <p:spPr>
          <a:xfrm>
            <a:off x="914400" y="3108960"/>
            <a:ext cx="10058400" cy="457200"/>
          </a:xfrm>
          <a:prstGeom prst="rect">
            <a:avLst/>
          </a:prstGeom>
          <a:noFill/>
        </p:spPr>
        <p:txBody>
          <a:bodyPr wrap="square">
            <a:spAutoFit/>
          </a:bodyPr>
          <a:lstStyle/>
          <a:p>
            <a:pPr algn="ctr"/>
            <a:r>
              <a:rPr sz="1600" b="0" i="0">
                <a:solidFill>
                  <a:srgbClr val="9BC4E8"/>
                </a:solidFill>
              </a:rPr>
              <a:t>Products  ·  Customers  ·  Competitors  ·  Financials</a:t>
            </a:r>
          </a:p>
        </p:txBody>
      </p:sp>
      <p:sp>
        <p:nvSpPr>
          <p:cNvPr id="7" name="TextBox 6"/>
          <p:cNvSpPr txBox="1"/>
          <p:nvPr/>
        </p:nvSpPr>
        <p:spPr>
          <a:xfrm>
            <a:off x="914400" y="4754880"/>
            <a:ext cx="10058400" cy="365760"/>
          </a:xfrm>
          <a:prstGeom prst="rect">
            <a:avLst/>
          </a:prstGeom>
          <a:noFill/>
        </p:spPr>
        <p:txBody>
          <a:bodyPr wrap="square">
            <a:spAutoFit/>
          </a:bodyPr>
          <a:lstStyle/>
          <a:p>
            <a:pPr algn="ctr"/>
            <a:r>
              <a:rPr sz="1300" b="0" i="0">
                <a:solidFill>
                  <a:srgbClr val="9BC4E8"/>
                </a:solidFill>
              </a:rP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What Is Abbott's Diagnostics Business?</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One of the world's top 2 diagnostics companies — everything from hospital lab machines to rapid home COVID tests</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TextBox 7"/>
          <p:cNvSpPr txBox="1"/>
          <p:nvPr/>
        </p:nvSpPr>
        <p:spPr>
          <a:xfrm>
            <a:off x="365760" y="1143000"/>
            <a:ext cx="11430000" cy="594360"/>
          </a:xfrm>
          <a:prstGeom prst="rect">
            <a:avLst/>
          </a:prstGeom>
          <a:noFill/>
        </p:spPr>
        <p:txBody>
          <a:bodyPr wrap="square">
            <a:spAutoFit/>
          </a:bodyPr>
          <a:lstStyle/>
          <a:p>
            <a:pPr algn="l"/>
            <a:r>
              <a:rPr sz="1300" b="0" i="0">
                <a:solidFill>
                  <a:srgbClr val="2D2D2D"/>
                </a:solidFill>
              </a:rPr>
              <a:t>Abbott makes the tools that doctors and labs use to run medical tests. Think of it as the company behind the machine that reads your blood test at the hospital, the COVID rapid test at the pharmacy, and the device in the ER that checks your heart in 15 minutes.</a:t>
            </a:r>
          </a:p>
        </p:txBody>
      </p:sp>
      <p:sp>
        <p:nvSpPr>
          <p:cNvPr id="9" name="Rectangle 8"/>
          <p:cNvSpPr/>
          <p:nvPr/>
        </p:nvSpPr>
        <p:spPr>
          <a:xfrm>
            <a:off x="320040" y="1874519"/>
            <a:ext cx="2743200" cy="5486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920240"/>
            <a:ext cx="2560320" cy="274320"/>
          </a:xfrm>
          <a:prstGeom prst="rect">
            <a:avLst/>
          </a:prstGeom>
          <a:noFill/>
        </p:spPr>
        <p:txBody>
          <a:bodyPr wrap="square">
            <a:spAutoFit/>
          </a:bodyPr>
          <a:lstStyle/>
          <a:p>
            <a:pPr algn="l"/>
            <a:r>
              <a:rPr sz="1300" b="1" i="0">
                <a:solidFill>
                  <a:srgbClr val="FFFFFF"/>
                </a:solidFill>
              </a:rPr>
              <a:t>🏥  Core Laboratory</a:t>
            </a:r>
          </a:p>
        </p:txBody>
      </p:sp>
      <p:sp>
        <p:nvSpPr>
          <p:cNvPr id="11" name="TextBox 10"/>
          <p:cNvSpPr txBox="1"/>
          <p:nvPr/>
        </p:nvSpPr>
        <p:spPr>
          <a:xfrm>
            <a:off x="429768" y="2194560"/>
            <a:ext cx="2560320" cy="201168"/>
          </a:xfrm>
          <a:prstGeom prst="rect">
            <a:avLst/>
          </a:prstGeom>
          <a:noFill/>
        </p:spPr>
        <p:txBody>
          <a:bodyPr wrap="square">
            <a:spAutoFit/>
          </a:bodyPr>
          <a:lstStyle/>
          <a:p>
            <a:pPr algn="l"/>
            <a:r>
              <a:rPr sz="1100" b="0" i="0">
                <a:solidFill>
                  <a:srgbClr val="FFFFFF"/>
                </a:solidFill>
              </a:rPr>
              <a:t>$5.2B revenue</a:t>
            </a:r>
          </a:p>
        </p:txBody>
      </p:sp>
      <p:sp>
        <p:nvSpPr>
          <p:cNvPr id="12" name="Rectangle 11"/>
          <p:cNvSpPr/>
          <p:nvPr/>
        </p:nvSpPr>
        <p:spPr>
          <a:xfrm>
            <a:off x="320040" y="2423160"/>
            <a:ext cx="2743200" cy="1234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87168"/>
            <a:ext cx="2468880" cy="1097280"/>
          </a:xfrm>
          <a:prstGeom prst="rect">
            <a:avLst/>
          </a:prstGeom>
          <a:noFill/>
        </p:spPr>
        <p:txBody>
          <a:bodyPr wrap="square">
            <a:spAutoFit/>
          </a:bodyPr>
          <a:lstStyle/>
          <a:p>
            <a:pPr algn="l"/>
            <a:r>
              <a:rPr sz="1100" b="0" i="0">
                <a:solidFill>
                  <a:srgbClr val="2D2D2D"/>
                </a:solidFill>
              </a:rPr>
              <a:t>Big hospital lab machines
(chemistry, immunoassay, blood testing)</a:t>
            </a:r>
          </a:p>
        </p:txBody>
      </p:sp>
      <p:sp>
        <p:nvSpPr>
          <p:cNvPr id="14" name="Rectangle 13"/>
          <p:cNvSpPr/>
          <p:nvPr/>
        </p:nvSpPr>
        <p:spPr>
          <a:xfrm>
            <a:off x="3218688" y="1874519"/>
            <a:ext cx="2743200" cy="548640"/>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28416" y="1920240"/>
            <a:ext cx="2560320" cy="274320"/>
          </a:xfrm>
          <a:prstGeom prst="rect">
            <a:avLst/>
          </a:prstGeom>
          <a:noFill/>
        </p:spPr>
        <p:txBody>
          <a:bodyPr wrap="square">
            <a:spAutoFit/>
          </a:bodyPr>
          <a:lstStyle/>
          <a:p>
            <a:pPr algn="l"/>
            <a:r>
              <a:rPr sz="1300" b="1" i="0">
                <a:solidFill>
                  <a:srgbClr val="FFFFFF"/>
                </a:solidFill>
              </a:rPr>
              <a:t>🧬  Molecular</a:t>
            </a:r>
          </a:p>
        </p:txBody>
      </p:sp>
      <p:sp>
        <p:nvSpPr>
          <p:cNvPr id="16" name="TextBox 15"/>
          <p:cNvSpPr txBox="1"/>
          <p:nvPr/>
        </p:nvSpPr>
        <p:spPr>
          <a:xfrm>
            <a:off x="3328416" y="2194560"/>
            <a:ext cx="2560320" cy="201168"/>
          </a:xfrm>
          <a:prstGeom prst="rect">
            <a:avLst/>
          </a:prstGeom>
          <a:noFill/>
        </p:spPr>
        <p:txBody>
          <a:bodyPr wrap="square">
            <a:spAutoFit/>
          </a:bodyPr>
          <a:lstStyle/>
          <a:p>
            <a:pPr algn="l"/>
            <a:r>
              <a:rPr sz="1100" b="0" i="0">
                <a:solidFill>
                  <a:srgbClr val="FFFFFF"/>
                </a:solidFill>
              </a:rPr>
              <a:t>$0.5B revenue</a:t>
            </a:r>
          </a:p>
        </p:txBody>
      </p:sp>
      <p:sp>
        <p:nvSpPr>
          <p:cNvPr id="17" name="Rectangle 16"/>
          <p:cNvSpPr/>
          <p:nvPr/>
        </p:nvSpPr>
        <p:spPr>
          <a:xfrm>
            <a:off x="3218688" y="2423160"/>
            <a:ext cx="2743200" cy="1234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55848" y="2487168"/>
            <a:ext cx="2468880" cy="1097280"/>
          </a:xfrm>
          <a:prstGeom prst="rect">
            <a:avLst/>
          </a:prstGeom>
          <a:noFill/>
        </p:spPr>
        <p:txBody>
          <a:bodyPr wrap="square">
            <a:spAutoFit/>
          </a:bodyPr>
          <a:lstStyle/>
          <a:p>
            <a:pPr algn="l"/>
            <a:r>
              <a:rPr sz="1100" b="0" i="0">
                <a:solidFill>
                  <a:srgbClr val="2D2D2D"/>
                </a:solidFill>
              </a:rPr>
              <a:t>PCR / DNA-based tests
(HIV viral load, STIs, HPV, COVID PCR)</a:t>
            </a:r>
          </a:p>
        </p:txBody>
      </p:sp>
      <p:sp>
        <p:nvSpPr>
          <p:cNvPr id="19" name="Rectangle 18"/>
          <p:cNvSpPr/>
          <p:nvPr/>
        </p:nvSpPr>
        <p:spPr>
          <a:xfrm>
            <a:off x="6117336" y="1874519"/>
            <a:ext cx="2743200" cy="548640"/>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7064" y="1920240"/>
            <a:ext cx="2560320" cy="274320"/>
          </a:xfrm>
          <a:prstGeom prst="rect">
            <a:avLst/>
          </a:prstGeom>
          <a:noFill/>
        </p:spPr>
        <p:txBody>
          <a:bodyPr wrap="square">
            <a:spAutoFit/>
          </a:bodyPr>
          <a:lstStyle/>
          <a:p>
            <a:pPr algn="l"/>
            <a:r>
              <a:rPr sz="1300" b="1" i="0">
                <a:solidFill>
                  <a:srgbClr val="FFFFFF"/>
                </a:solidFill>
              </a:rPr>
              <a:t>⚡  Point of Care</a:t>
            </a:r>
          </a:p>
        </p:txBody>
      </p:sp>
      <p:sp>
        <p:nvSpPr>
          <p:cNvPr id="21" name="TextBox 20"/>
          <p:cNvSpPr txBox="1"/>
          <p:nvPr/>
        </p:nvSpPr>
        <p:spPr>
          <a:xfrm>
            <a:off x="6227064" y="2194560"/>
            <a:ext cx="2560320" cy="201168"/>
          </a:xfrm>
          <a:prstGeom prst="rect">
            <a:avLst/>
          </a:prstGeom>
          <a:noFill/>
        </p:spPr>
        <p:txBody>
          <a:bodyPr wrap="square">
            <a:spAutoFit/>
          </a:bodyPr>
          <a:lstStyle/>
          <a:p>
            <a:pPr algn="l"/>
            <a:r>
              <a:rPr sz="1100" b="0" i="0">
                <a:solidFill>
                  <a:srgbClr val="FFFFFF"/>
                </a:solidFill>
              </a:rPr>
              <a:t>$0.6B revenue</a:t>
            </a:r>
          </a:p>
        </p:txBody>
      </p:sp>
      <p:sp>
        <p:nvSpPr>
          <p:cNvPr id="22" name="Rectangle 21"/>
          <p:cNvSpPr/>
          <p:nvPr/>
        </p:nvSpPr>
        <p:spPr>
          <a:xfrm>
            <a:off x="6117336" y="2423160"/>
            <a:ext cx="2743200" cy="1234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4496" y="2487168"/>
            <a:ext cx="2468880" cy="1097280"/>
          </a:xfrm>
          <a:prstGeom prst="rect">
            <a:avLst/>
          </a:prstGeom>
          <a:noFill/>
        </p:spPr>
        <p:txBody>
          <a:bodyPr wrap="square">
            <a:spAutoFit/>
          </a:bodyPr>
          <a:lstStyle/>
          <a:p>
            <a:pPr algn="l"/>
            <a:r>
              <a:rPr sz="1100" b="0" i="0">
                <a:solidFill>
                  <a:srgbClr val="2D2D2D"/>
                </a:solidFill>
              </a:rPr>
              <a:t>Handheld bedside devices
(blood gas, troponin, concussion tests)</a:t>
            </a:r>
          </a:p>
        </p:txBody>
      </p:sp>
      <p:sp>
        <p:nvSpPr>
          <p:cNvPr id="24" name="Rectangle 23"/>
          <p:cNvSpPr/>
          <p:nvPr/>
        </p:nvSpPr>
        <p:spPr>
          <a:xfrm>
            <a:off x="9015984" y="1874519"/>
            <a:ext cx="2743200" cy="54864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5711" y="1920240"/>
            <a:ext cx="2560320" cy="274320"/>
          </a:xfrm>
          <a:prstGeom prst="rect">
            <a:avLst/>
          </a:prstGeom>
          <a:noFill/>
        </p:spPr>
        <p:txBody>
          <a:bodyPr wrap="square">
            <a:spAutoFit/>
          </a:bodyPr>
          <a:lstStyle/>
          <a:p>
            <a:pPr algn="l"/>
            <a:r>
              <a:rPr sz="1300" b="1" i="0">
                <a:solidFill>
                  <a:srgbClr val="FFFFFF"/>
                </a:solidFill>
              </a:rPr>
              <a:t>📦  Rapid Diagnostics</a:t>
            </a:r>
          </a:p>
        </p:txBody>
      </p:sp>
      <p:sp>
        <p:nvSpPr>
          <p:cNvPr id="26" name="TextBox 25"/>
          <p:cNvSpPr txBox="1"/>
          <p:nvPr/>
        </p:nvSpPr>
        <p:spPr>
          <a:xfrm>
            <a:off x="9125711" y="2194560"/>
            <a:ext cx="2560320" cy="201168"/>
          </a:xfrm>
          <a:prstGeom prst="rect">
            <a:avLst/>
          </a:prstGeom>
          <a:noFill/>
        </p:spPr>
        <p:txBody>
          <a:bodyPr wrap="square">
            <a:spAutoFit/>
          </a:bodyPr>
          <a:lstStyle/>
          <a:p>
            <a:pPr algn="l"/>
            <a:r>
              <a:rPr sz="1100" b="0" i="0">
                <a:solidFill>
                  <a:srgbClr val="FFFFFF"/>
                </a:solidFill>
              </a:rPr>
              <a:t>$3.0B revenue*</a:t>
            </a:r>
          </a:p>
        </p:txBody>
      </p:sp>
      <p:sp>
        <p:nvSpPr>
          <p:cNvPr id="27" name="Rectangle 26"/>
          <p:cNvSpPr/>
          <p:nvPr/>
        </p:nvSpPr>
        <p:spPr>
          <a:xfrm>
            <a:off x="9015984" y="2423160"/>
            <a:ext cx="2743200" cy="1234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3144" y="2487168"/>
            <a:ext cx="2468880" cy="1097280"/>
          </a:xfrm>
          <a:prstGeom prst="rect">
            <a:avLst/>
          </a:prstGeom>
          <a:noFill/>
        </p:spPr>
        <p:txBody>
          <a:bodyPr wrap="square">
            <a:spAutoFit/>
          </a:bodyPr>
          <a:lstStyle/>
          <a:p>
            <a:pPr algn="l"/>
            <a:r>
              <a:rPr sz="1100" b="0" i="0">
                <a:solidFill>
                  <a:srgbClr val="2D2D2D"/>
                </a:solidFill>
              </a:rPr>
              <a:t>Rapid strip tests for mass use
(BinaxNOW COVID, flu, HIV, malaria)</a:t>
            </a:r>
          </a:p>
        </p:txBody>
      </p:sp>
      <p:sp>
        <p:nvSpPr>
          <p:cNvPr id="29" name="TextBox 28"/>
          <p:cNvSpPr txBox="1"/>
          <p:nvPr/>
        </p:nvSpPr>
        <p:spPr>
          <a:xfrm>
            <a:off x="365760" y="3730752"/>
            <a:ext cx="10972800" cy="274320"/>
          </a:xfrm>
          <a:prstGeom prst="rect">
            <a:avLst/>
          </a:prstGeom>
          <a:noFill/>
        </p:spPr>
        <p:txBody>
          <a:bodyPr wrap="square">
            <a:spAutoFit/>
          </a:bodyPr>
          <a:lstStyle/>
          <a:p>
            <a:pPr algn="l"/>
            <a:r>
              <a:rPr sz="900" b="0" i="1">
                <a:solidFill>
                  <a:srgbClr val="5A5A5A"/>
                </a:solidFill>
              </a:rPr>
              <a:t>* Peak COVID ~$8.5B in 2022; normalized back to ~$3B by 2024</a:t>
            </a:r>
          </a:p>
        </p:txBody>
      </p:sp>
      <p:sp>
        <p:nvSpPr>
          <p:cNvPr id="30" name="Rectangle 29"/>
          <p:cNvSpPr/>
          <p:nvPr/>
        </p:nvSpPr>
        <p:spPr>
          <a:xfrm>
            <a:off x="320040" y="4069080"/>
            <a:ext cx="11521440" cy="3657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4206240"/>
            <a:ext cx="2194560" cy="411480"/>
          </a:xfrm>
          <a:prstGeom prst="rect">
            <a:avLst/>
          </a:prstGeom>
          <a:noFill/>
        </p:spPr>
        <p:txBody>
          <a:bodyPr wrap="square">
            <a:spAutoFit/>
          </a:bodyPr>
          <a:lstStyle/>
          <a:p>
            <a:pPr algn="ctr"/>
            <a:r>
              <a:rPr sz="1800" b="1" i="0">
                <a:solidFill>
                  <a:srgbClr val="00478A"/>
                </a:solidFill>
              </a:rPr>
              <a:t>#2 Globally</a:t>
            </a:r>
          </a:p>
        </p:txBody>
      </p:sp>
      <p:sp>
        <p:nvSpPr>
          <p:cNvPr id="32" name="TextBox 31"/>
          <p:cNvSpPr txBox="1"/>
          <p:nvPr/>
        </p:nvSpPr>
        <p:spPr>
          <a:xfrm>
            <a:off x="365760" y="4617720"/>
            <a:ext cx="2194560" cy="274320"/>
          </a:xfrm>
          <a:prstGeom prst="rect">
            <a:avLst/>
          </a:prstGeom>
          <a:noFill/>
        </p:spPr>
        <p:txBody>
          <a:bodyPr wrap="square">
            <a:spAutoFit/>
          </a:bodyPr>
          <a:lstStyle/>
          <a:p>
            <a:pPr algn="ctr"/>
            <a:r>
              <a:rPr sz="900" b="0" i="0">
                <a:solidFill>
                  <a:srgbClr val="5A5A5A"/>
                </a:solidFill>
              </a:rPr>
              <a:t>Behind only Roche</a:t>
            </a:r>
          </a:p>
        </p:txBody>
      </p:sp>
      <p:sp>
        <p:nvSpPr>
          <p:cNvPr id="33" name="TextBox 32"/>
          <p:cNvSpPr txBox="1"/>
          <p:nvPr/>
        </p:nvSpPr>
        <p:spPr>
          <a:xfrm>
            <a:off x="2670048" y="4206240"/>
            <a:ext cx="2194560" cy="411480"/>
          </a:xfrm>
          <a:prstGeom prst="rect">
            <a:avLst/>
          </a:prstGeom>
          <a:noFill/>
        </p:spPr>
        <p:txBody>
          <a:bodyPr wrap="square">
            <a:spAutoFit/>
          </a:bodyPr>
          <a:lstStyle/>
          <a:p>
            <a:pPr algn="ctr"/>
            <a:r>
              <a:rPr sz="1800" b="1" i="0">
                <a:solidFill>
                  <a:srgbClr val="00478A"/>
                </a:solidFill>
              </a:rPr>
              <a:t>$9.3B</a:t>
            </a:r>
          </a:p>
        </p:txBody>
      </p:sp>
      <p:sp>
        <p:nvSpPr>
          <p:cNvPr id="34" name="TextBox 33"/>
          <p:cNvSpPr txBox="1"/>
          <p:nvPr/>
        </p:nvSpPr>
        <p:spPr>
          <a:xfrm>
            <a:off x="2670048" y="4617720"/>
            <a:ext cx="2194560" cy="274320"/>
          </a:xfrm>
          <a:prstGeom prst="rect">
            <a:avLst/>
          </a:prstGeom>
          <a:noFill/>
        </p:spPr>
        <p:txBody>
          <a:bodyPr wrap="square">
            <a:spAutoFit/>
          </a:bodyPr>
          <a:lstStyle/>
          <a:p>
            <a:pPr algn="ctr"/>
            <a:r>
              <a:rPr sz="900" b="0" i="0">
                <a:solidFill>
                  <a:srgbClr val="5A5A5A"/>
                </a:solidFill>
              </a:rPr>
              <a:t>FY2024 Diagnostics Revenue</a:t>
            </a:r>
          </a:p>
        </p:txBody>
      </p:sp>
      <p:sp>
        <p:nvSpPr>
          <p:cNvPr id="35" name="TextBox 34"/>
          <p:cNvSpPr txBox="1"/>
          <p:nvPr/>
        </p:nvSpPr>
        <p:spPr>
          <a:xfrm>
            <a:off x="4974336" y="4206240"/>
            <a:ext cx="2194560" cy="411480"/>
          </a:xfrm>
          <a:prstGeom prst="rect">
            <a:avLst/>
          </a:prstGeom>
          <a:noFill/>
        </p:spPr>
        <p:txBody>
          <a:bodyPr wrap="square">
            <a:spAutoFit/>
          </a:bodyPr>
          <a:lstStyle/>
          <a:p>
            <a:pPr algn="ctr"/>
            <a:r>
              <a:rPr sz="1800" b="1" i="0">
                <a:solidFill>
                  <a:srgbClr val="00478A"/>
                </a:solidFill>
              </a:rPr>
              <a:t>22%</a:t>
            </a:r>
          </a:p>
        </p:txBody>
      </p:sp>
      <p:sp>
        <p:nvSpPr>
          <p:cNvPr id="36" name="TextBox 35"/>
          <p:cNvSpPr txBox="1"/>
          <p:nvPr/>
        </p:nvSpPr>
        <p:spPr>
          <a:xfrm>
            <a:off x="4974336" y="4617720"/>
            <a:ext cx="2194560" cy="274320"/>
          </a:xfrm>
          <a:prstGeom prst="rect">
            <a:avLst/>
          </a:prstGeom>
          <a:noFill/>
        </p:spPr>
        <p:txBody>
          <a:bodyPr wrap="square">
            <a:spAutoFit/>
          </a:bodyPr>
          <a:lstStyle/>
          <a:p>
            <a:pPr algn="ctr"/>
            <a:r>
              <a:rPr sz="900" b="0" i="0">
                <a:solidFill>
                  <a:srgbClr val="5A5A5A"/>
                </a:solidFill>
              </a:rPr>
              <a:t>of Total Abbott Sales</a:t>
            </a:r>
          </a:p>
        </p:txBody>
      </p:sp>
      <p:sp>
        <p:nvSpPr>
          <p:cNvPr id="37" name="TextBox 36"/>
          <p:cNvSpPr txBox="1"/>
          <p:nvPr/>
        </p:nvSpPr>
        <p:spPr>
          <a:xfrm>
            <a:off x="7278624" y="4206240"/>
            <a:ext cx="2194560" cy="411480"/>
          </a:xfrm>
          <a:prstGeom prst="rect">
            <a:avLst/>
          </a:prstGeom>
          <a:noFill/>
        </p:spPr>
        <p:txBody>
          <a:bodyPr wrap="square">
            <a:spAutoFit/>
          </a:bodyPr>
          <a:lstStyle/>
          <a:p>
            <a:pPr algn="ctr"/>
            <a:r>
              <a:rPr sz="1800" b="1" i="0">
                <a:solidFill>
                  <a:srgbClr val="00478A"/>
                </a:solidFill>
              </a:rPr>
              <a:t>~60%</a:t>
            </a:r>
          </a:p>
        </p:txBody>
      </p:sp>
      <p:sp>
        <p:nvSpPr>
          <p:cNvPr id="38" name="TextBox 37"/>
          <p:cNvSpPr txBox="1"/>
          <p:nvPr/>
        </p:nvSpPr>
        <p:spPr>
          <a:xfrm>
            <a:off x="7278624" y="4617720"/>
            <a:ext cx="2194560" cy="274320"/>
          </a:xfrm>
          <a:prstGeom prst="rect">
            <a:avLst/>
          </a:prstGeom>
          <a:noFill/>
        </p:spPr>
        <p:txBody>
          <a:bodyPr wrap="square">
            <a:spAutoFit/>
          </a:bodyPr>
          <a:lstStyle/>
          <a:p>
            <a:pPr algn="ctr"/>
            <a:r>
              <a:rPr sz="900" b="0" i="0">
                <a:solidFill>
                  <a:srgbClr val="5A5A5A"/>
                </a:solidFill>
              </a:rPr>
              <a:t>Revenue from International Markets</a:t>
            </a:r>
          </a:p>
        </p:txBody>
      </p:sp>
      <p:sp>
        <p:nvSpPr>
          <p:cNvPr id="39" name="TextBox 38"/>
          <p:cNvSpPr txBox="1"/>
          <p:nvPr/>
        </p:nvSpPr>
        <p:spPr>
          <a:xfrm>
            <a:off x="9582912" y="4206240"/>
            <a:ext cx="2194560" cy="411480"/>
          </a:xfrm>
          <a:prstGeom prst="rect">
            <a:avLst/>
          </a:prstGeom>
          <a:noFill/>
        </p:spPr>
        <p:txBody>
          <a:bodyPr wrap="square">
            <a:spAutoFit/>
          </a:bodyPr>
          <a:lstStyle/>
          <a:p>
            <a:pPr algn="ctr"/>
            <a:r>
              <a:rPr sz="1800" b="1" i="0">
                <a:solidFill>
                  <a:srgbClr val="00478A"/>
                </a:solidFill>
              </a:rPr>
              <a:t>4 Factories</a:t>
            </a:r>
          </a:p>
        </p:txBody>
      </p:sp>
      <p:sp>
        <p:nvSpPr>
          <p:cNvPr id="40" name="TextBox 39"/>
          <p:cNvSpPr txBox="1"/>
          <p:nvPr/>
        </p:nvSpPr>
        <p:spPr>
          <a:xfrm>
            <a:off x="9582912" y="4617720"/>
            <a:ext cx="2194560" cy="274320"/>
          </a:xfrm>
          <a:prstGeom prst="rect">
            <a:avLst/>
          </a:prstGeom>
          <a:noFill/>
        </p:spPr>
        <p:txBody>
          <a:bodyPr wrap="square">
            <a:spAutoFit/>
          </a:bodyPr>
          <a:lstStyle/>
          <a:p>
            <a:pPr algn="ctr"/>
            <a:r>
              <a:rPr sz="900" b="0" i="0">
                <a:solidFill>
                  <a:srgbClr val="5A5A5A"/>
                </a:solidFill>
              </a:rPr>
              <a:t>in China alone</a:t>
            </a:r>
          </a:p>
        </p:txBody>
      </p:sp>
      <p:sp>
        <p:nvSpPr>
          <p:cNvPr id="41" name="Rectangle 40"/>
          <p:cNvSpPr/>
          <p:nvPr/>
        </p:nvSpPr>
        <p:spPr>
          <a:xfrm>
            <a:off x="320040" y="4956048"/>
            <a:ext cx="11521440" cy="1463040"/>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02920" y="5029200"/>
            <a:ext cx="3657600" cy="274320"/>
          </a:xfrm>
          <a:prstGeom prst="rect">
            <a:avLst/>
          </a:prstGeom>
          <a:noFill/>
        </p:spPr>
        <p:txBody>
          <a:bodyPr wrap="square">
            <a:spAutoFit/>
          </a:bodyPr>
          <a:lstStyle/>
          <a:p>
            <a:pPr algn="l"/>
            <a:r>
              <a:rPr sz="1200" b="1" i="0">
                <a:solidFill>
                  <a:srgbClr val="00478A"/>
                </a:solidFill>
              </a:rPr>
              <a:t>🔑  The Big Story</a:t>
            </a:r>
          </a:p>
        </p:txBody>
      </p:sp>
      <p:sp>
        <p:nvSpPr>
          <p:cNvPr id="43" name="TextBox 42"/>
          <p:cNvSpPr txBox="1"/>
          <p:nvPr/>
        </p:nvSpPr>
        <p:spPr>
          <a:xfrm>
            <a:off x="502920" y="5321808"/>
            <a:ext cx="11155680" cy="1005840"/>
          </a:xfrm>
          <a:prstGeom prst="rect">
            <a:avLst/>
          </a:prstGeom>
          <a:noFill/>
        </p:spPr>
        <p:txBody>
          <a:bodyPr wrap="square">
            <a:spAutoFit/>
          </a:bodyPr>
          <a:lstStyle/>
          <a:p>
            <a:pPr algn="l"/>
            <a:r>
              <a:rPr sz="1100" b="0" i="0">
                <a:solidFill>
                  <a:srgbClr val="2D2D2D"/>
                </a:solidFill>
              </a:rPr>
              <a:t>Abbott was the biggest beneficiary of the COVID testing boom ($8–10B at peak in 2021–22) and has spent the last 3 years 'normalizing' back to its base business. Its non-COVID diagnostics business has actually grown steadily throughout — it was just hidden by the COVID collapse. The March 2026 acquisition of Exact Sciences (Cologuard cancer test, $21B) is the next big chapter.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Revenue Snapshot: 2022 – 2025</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COVID inflated then collapsed — the underlying business is ~$8.6B and growing</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Rectangle 7"/>
          <p:cNvSpPr/>
          <p:nvPr/>
        </p:nvSpPr>
        <p:spPr>
          <a:xfrm>
            <a:off x="320040" y="1143000"/>
            <a:ext cx="27432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 y="1197864"/>
            <a:ext cx="2633472" cy="256031"/>
          </a:xfrm>
          <a:prstGeom prst="rect">
            <a:avLst/>
          </a:prstGeom>
          <a:noFill/>
        </p:spPr>
        <p:txBody>
          <a:bodyPr wrap="square">
            <a:spAutoFit/>
          </a:bodyPr>
          <a:lstStyle/>
          <a:p>
            <a:pPr algn="ctr"/>
            <a:r>
              <a:rPr sz="1100" b="1" i="0">
                <a:solidFill>
                  <a:srgbClr val="FFFFFF"/>
                </a:solidFill>
              </a:rPr>
              <a:t>Segment</a:t>
            </a:r>
          </a:p>
        </p:txBody>
      </p:sp>
      <p:sp>
        <p:nvSpPr>
          <p:cNvPr id="10" name="Rectangle 9"/>
          <p:cNvSpPr/>
          <p:nvPr/>
        </p:nvSpPr>
        <p:spPr>
          <a:xfrm>
            <a:off x="3063240" y="1143000"/>
            <a:ext cx="13716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18104" y="1197864"/>
            <a:ext cx="1261872" cy="256031"/>
          </a:xfrm>
          <a:prstGeom prst="rect">
            <a:avLst/>
          </a:prstGeom>
          <a:noFill/>
        </p:spPr>
        <p:txBody>
          <a:bodyPr wrap="square">
            <a:spAutoFit/>
          </a:bodyPr>
          <a:lstStyle/>
          <a:p>
            <a:pPr algn="ctr"/>
            <a:r>
              <a:rPr sz="1100" b="1" i="0">
                <a:solidFill>
                  <a:srgbClr val="FFFFFF"/>
                </a:solidFill>
              </a:rPr>
              <a:t>FY 2022</a:t>
            </a:r>
          </a:p>
        </p:txBody>
      </p:sp>
      <p:sp>
        <p:nvSpPr>
          <p:cNvPr id="12" name="Rectangle 11"/>
          <p:cNvSpPr/>
          <p:nvPr/>
        </p:nvSpPr>
        <p:spPr>
          <a:xfrm>
            <a:off x="4434840" y="1143000"/>
            <a:ext cx="13716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3" y="1197864"/>
            <a:ext cx="1261872" cy="256031"/>
          </a:xfrm>
          <a:prstGeom prst="rect">
            <a:avLst/>
          </a:prstGeom>
          <a:noFill/>
        </p:spPr>
        <p:txBody>
          <a:bodyPr wrap="square">
            <a:spAutoFit/>
          </a:bodyPr>
          <a:lstStyle/>
          <a:p>
            <a:pPr algn="ctr"/>
            <a:r>
              <a:rPr sz="1100" b="1" i="0">
                <a:solidFill>
                  <a:srgbClr val="FFFFFF"/>
                </a:solidFill>
              </a:rPr>
              <a:t>FY 2023</a:t>
            </a:r>
          </a:p>
        </p:txBody>
      </p:sp>
      <p:sp>
        <p:nvSpPr>
          <p:cNvPr id="14" name="Rectangle 13"/>
          <p:cNvSpPr/>
          <p:nvPr/>
        </p:nvSpPr>
        <p:spPr>
          <a:xfrm>
            <a:off x="5806440" y="1143000"/>
            <a:ext cx="13716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61303" y="1197864"/>
            <a:ext cx="1261872" cy="256031"/>
          </a:xfrm>
          <a:prstGeom prst="rect">
            <a:avLst/>
          </a:prstGeom>
          <a:noFill/>
        </p:spPr>
        <p:txBody>
          <a:bodyPr wrap="square">
            <a:spAutoFit/>
          </a:bodyPr>
          <a:lstStyle/>
          <a:p>
            <a:pPr algn="ctr"/>
            <a:r>
              <a:rPr sz="1100" b="1" i="0">
                <a:solidFill>
                  <a:srgbClr val="FFFFFF"/>
                </a:solidFill>
              </a:rPr>
              <a:t>FY 2024</a:t>
            </a:r>
          </a:p>
        </p:txBody>
      </p:sp>
      <p:sp>
        <p:nvSpPr>
          <p:cNvPr id="16" name="Rectangle 15"/>
          <p:cNvSpPr/>
          <p:nvPr/>
        </p:nvSpPr>
        <p:spPr>
          <a:xfrm>
            <a:off x="7178040" y="1143000"/>
            <a:ext cx="13716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3" y="1197864"/>
            <a:ext cx="1261872" cy="256031"/>
          </a:xfrm>
          <a:prstGeom prst="rect">
            <a:avLst/>
          </a:prstGeom>
          <a:noFill/>
        </p:spPr>
        <p:txBody>
          <a:bodyPr wrap="square">
            <a:spAutoFit/>
          </a:bodyPr>
          <a:lstStyle/>
          <a:p>
            <a:pPr algn="ctr"/>
            <a:r>
              <a:rPr sz="1100" b="1" i="0">
                <a:solidFill>
                  <a:srgbClr val="FFFFFF"/>
                </a:solidFill>
              </a:rPr>
              <a:t>FY 2025</a:t>
            </a:r>
          </a:p>
        </p:txBody>
      </p:sp>
      <p:sp>
        <p:nvSpPr>
          <p:cNvPr id="18" name="Rectangle 17"/>
          <p:cNvSpPr/>
          <p:nvPr/>
        </p:nvSpPr>
        <p:spPr>
          <a:xfrm>
            <a:off x="8549640" y="1143000"/>
            <a:ext cx="347472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04504" y="1197864"/>
            <a:ext cx="3364991" cy="256031"/>
          </a:xfrm>
          <a:prstGeom prst="rect">
            <a:avLst/>
          </a:prstGeom>
          <a:noFill/>
        </p:spPr>
        <p:txBody>
          <a:bodyPr wrap="square">
            <a:spAutoFit/>
          </a:bodyPr>
          <a:lstStyle/>
          <a:p>
            <a:pPr algn="ctr"/>
            <a:r>
              <a:rPr sz="1100" b="1" i="0">
                <a:solidFill>
                  <a:srgbClr val="FFFFFF"/>
                </a:solidFill>
              </a:rPr>
              <a:t>Trend</a:t>
            </a:r>
          </a:p>
        </p:txBody>
      </p:sp>
      <p:sp>
        <p:nvSpPr>
          <p:cNvPr id="20" name="Rectangle 19"/>
          <p:cNvSpPr/>
          <p:nvPr/>
        </p:nvSpPr>
        <p:spPr>
          <a:xfrm>
            <a:off x="320040" y="1472184"/>
            <a:ext cx="27432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 y="1517904"/>
            <a:ext cx="2633472" cy="256031"/>
          </a:xfrm>
          <a:prstGeom prst="rect">
            <a:avLst/>
          </a:prstGeom>
          <a:noFill/>
        </p:spPr>
        <p:txBody>
          <a:bodyPr wrap="square">
            <a:spAutoFit/>
          </a:bodyPr>
          <a:lstStyle/>
          <a:p>
            <a:pPr algn="l"/>
            <a:r>
              <a:rPr sz="1000" b="0" i="0">
                <a:solidFill>
                  <a:srgbClr val="2D2D2D"/>
                </a:solidFill>
              </a:rPr>
              <a:t>Core Laboratory</a:t>
            </a:r>
          </a:p>
        </p:txBody>
      </p:sp>
      <p:sp>
        <p:nvSpPr>
          <p:cNvPr id="22" name="Rectangle 21"/>
          <p:cNvSpPr/>
          <p:nvPr/>
        </p:nvSpPr>
        <p:spPr>
          <a:xfrm>
            <a:off x="3063240" y="1472184"/>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18104" y="1517904"/>
            <a:ext cx="1261872" cy="256031"/>
          </a:xfrm>
          <a:prstGeom prst="rect">
            <a:avLst/>
          </a:prstGeom>
          <a:noFill/>
        </p:spPr>
        <p:txBody>
          <a:bodyPr wrap="square">
            <a:spAutoFit/>
          </a:bodyPr>
          <a:lstStyle/>
          <a:p>
            <a:pPr algn="ctr"/>
            <a:r>
              <a:rPr sz="1000" b="0" i="0">
                <a:solidFill>
                  <a:srgbClr val="2D2D2D"/>
                </a:solidFill>
              </a:rPr>
              <a:t>$5.1B</a:t>
            </a:r>
          </a:p>
        </p:txBody>
      </p:sp>
      <p:sp>
        <p:nvSpPr>
          <p:cNvPr id="24" name="Rectangle 23"/>
          <p:cNvSpPr/>
          <p:nvPr/>
        </p:nvSpPr>
        <p:spPr>
          <a:xfrm>
            <a:off x="4434840" y="1472184"/>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9703" y="1517904"/>
            <a:ext cx="1261872" cy="256031"/>
          </a:xfrm>
          <a:prstGeom prst="rect">
            <a:avLst/>
          </a:prstGeom>
          <a:noFill/>
        </p:spPr>
        <p:txBody>
          <a:bodyPr wrap="square">
            <a:spAutoFit/>
          </a:bodyPr>
          <a:lstStyle/>
          <a:p>
            <a:pPr algn="ctr"/>
            <a:r>
              <a:rPr sz="1000" b="0" i="0">
                <a:solidFill>
                  <a:srgbClr val="2D2D2D"/>
                </a:solidFill>
              </a:rPr>
              <a:t>$5.2B</a:t>
            </a:r>
          </a:p>
        </p:txBody>
      </p:sp>
      <p:sp>
        <p:nvSpPr>
          <p:cNvPr id="26" name="Rectangle 25"/>
          <p:cNvSpPr/>
          <p:nvPr/>
        </p:nvSpPr>
        <p:spPr>
          <a:xfrm>
            <a:off x="5806440" y="1472184"/>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1303" y="1517904"/>
            <a:ext cx="1261872" cy="256031"/>
          </a:xfrm>
          <a:prstGeom prst="rect">
            <a:avLst/>
          </a:prstGeom>
          <a:noFill/>
        </p:spPr>
        <p:txBody>
          <a:bodyPr wrap="square">
            <a:spAutoFit/>
          </a:bodyPr>
          <a:lstStyle/>
          <a:p>
            <a:pPr algn="ctr"/>
            <a:r>
              <a:rPr sz="1000" b="0" i="0">
                <a:solidFill>
                  <a:srgbClr val="2D2D2D"/>
                </a:solidFill>
              </a:rPr>
              <a:t>$5.2B</a:t>
            </a:r>
          </a:p>
        </p:txBody>
      </p:sp>
      <p:sp>
        <p:nvSpPr>
          <p:cNvPr id="28" name="Rectangle 27"/>
          <p:cNvSpPr/>
          <p:nvPr/>
        </p:nvSpPr>
        <p:spPr>
          <a:xfrm>
            <a:off x="7178040" y="1472184"/>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2903" y="1517904"/>
            <a:ext cx="1261872" cy="256031"/>
          </a:xfrm>
          <a:prstGeom prst="rect">
            <a:avLst/>
          </a:prstGeom>
          <a:noFill/>
        </p:spPr>
        <p:txBody>
          <a:bodyPr wrap="square">
            <a:spAutoFit/>
          </a:bodyPr>
          <a:lstStyle/>
          <a:p>
            <a:pPr algn="ctr"/>
            <a:r>
              <a:rPr sz="1000" b="0" i="0">
                <a:solidFill>
                  <a:srgbClr val="2D2D2D"/>
                </a:solidFill>
              </a:rPr>
              <a:t>~$5.2B</a:t>
            </a:r>
          </a:p>
        </p:txBody>
      </p:sp>
      <p:sp>
        <p:nvSpPr>
          <p:cNvPr id="30" name="Rectangle 29"/>
          <p:cNvSpPr/>
          <p:nvPr/>
        </p:nvSpPr>
        <p:spPr>
          <a:xfrm>
            <a:off x="8549640" y="1472184"/>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04504" y="1517904"/>
            <a:ext cx="3364991" cy="256031"/>
          </a:xfrm>
          <a:prstGeom prst="rect">
            <a:avLst/>
          </a:prstGeom>
          <a:noFill/>
        </p:spPr>
        <p:txBody>
          <a:bodyPr wrap="square">
            <a:spAutoFit/>
          </a:bodyPr>
          <a:lstStyle/>
          <a:p>
            <a:pPr algn="ctr"/>
            <a:r>
              <a:rPr sz="1000" b="0" i="0">
                <a:solidFill>
                  <a:srgbClr val="2D2D2D"/>
                </a:solidFill>
              </a:rPr>
              <a:t>➡ Steady +3–5%/yr</a:t>
            </a:r>
          </a:p>
        </p:txBody>
      </p:sp>
      <p:sp>
        <p:nvSpPr>
          <p:cNvPr id="32" name="Rectangle 31"/>
          <p:cNvSpPr/>
          <p:nvPr/>
        </p:nvSpPr>
        <p:spPr>
          <a:xfrm>
            <a:off x="320040" y="1801368"/>
            <a:ext cx="27432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 y="1847088"/>
            <a:ext cx="2633472" cy="256031"/>
          </a:xfrm>
          <a:prstGeom prst="rect">
            <a:avLst/>
          </a:prstGeom>
          <a:noFill/>
        </p:spPr>
        <p:txBody>
          <a:bodyPr wrap="square">
            <a:spAutoFit/>
          </a:bodyPr>
          <a:lstStyle/>
          <a:p>
            <a:pPr algn="l"/>
            <a:r>
              <a:rPr sz="1000" b="0" i="0">
                <a:solidFill>
                  <a:srgbClr val="2D2D2D"/>
                </a:solidFill>
              </a:rPr>
              <a:t>Rapid Diagnostics</a:t>
            </a:r>
          </a:p>
        </p:txBody>
      </p:sp>
      <p:sp>
        <p:nvSpPr>
          <p:cNvPr id="34" name="Rectangle 33"/>
          <p:cNvSpPr/>
          <p:nvPr/>
        </p:nvSpPr>
        <p:spPr>
          <a:xfrm>
            <a:off x="3063240" y="1801368"/>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18104" y="1847088"/>
            <a:ext cx="1261872" cy="256031"/>
          </a:xfrm>
          <a:prstGeom prst="rect">
            <a:avLst/>
          </a:prstGeom>
          <a:noFill/>
        </p:spPr>
        <p:txBody>
          <a:bodyPr wrap="square">
            <a:spAutoFit/>
          </a:bodyPr>
          <a:lstStyle/>
          <a:p>
            <a:pPr algn="ctr"/>
            <a:r>
              <a:rPr sz="1000" b="0" i="0">
                <a:solidFill>
                  <a:srgbClr val="2D2D2D"/>
                </a:solidFill>
              </a:rPr>
              <a:t>$8.6B</a:t>
            </a:r>
          </a:p>
        </p:txBody>
      </p:sp>
      <p:sp>
        <p:nvSpPr>
          <p:cNvPr id="36" name="Rectangle 35"/>
          <p:cNvSpPr/>
          <p:nvPr/>
        </p:nvSpPr>
        <p:spPr>
          <a:xfrm>
            <a:off x="4434840" y="1801368"/>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9703" y="1847088"/>
            <a:ext cx="1261872" cy="256031"/>
          </a:xfrm>
          <a:prstGeom prst="rect">
            <a:avLst/>
          </a:prstGeom>
          <a:noFill/>
        </p:spPr>
        <p:txBody>
          <a:bodyPr wrap="square">
            <a:spAutoFit/>
          </a:bodyPr>
          <a:lstStyle/>
          <a:p>
            <a:pPr algn="ctr"/>
            <a:r>
              <a:rPr sz="1000" b="0" i="0">
                <a:solidFill>
                  <a:srgbClr val="2D2D2D"/>
                </a:solidFill>
              </a:rPr>
              <a:t>$3.7B</a:t>
            </a:r>
          </a:p>
        </p:txBody>
      </p:sp>
      <p:sp>
        <p:nvSpPr>
          <p:cNvPr id="38" name="Rectangle 37"/>
          <p:cNvSpPr/>
          <p:nvPr/>
        </p:nvSpPr>
        <p:spPr>
          <a:xfrm>
            <a:off x="5806440" y="1801368"/>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61303" y="1847088"/>
            <a:ext cx="1261872" cy="256031"/>
          </a:xfrm>
          <a:prstGeom prst="rect">
            <a:avLst/>
          </a:prstGeom>
          <a:noFill/>
        </p:spPr>
        <p:txBody>
          <a:bodyPr wrap="square">
            <a:spAutoFit/>
          </a:bodyPr>
          <a:lstStyle/>
          <a:p>
            <a:pPr algn="ctr"/>
            <a:r>
              <a:rPr sz="1000" b="0" i="0">
                <a:solidFill>
                  <a:srgbClr val="2D2D2D"/>
                </a:solidFill>
              </a:rPr>
              <a:t>$3.0B</a:t>
            </a:r>
          </a:p>
        </p:txBody>
      </p:sp>
      <p:sp>
        <p:nvSpPr>
          <p:cNvPr id="40" name="Rectangle 39"/>
          <p:cNvSpPr/>
          <p:nvPr/>
        </p:nvSpPr>
        <p:spPr>
          <a:xfrm>
            <a:off x="7178040" y="1801368"/>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2903" y="1847088"/>
            <a:ext cx="1261872" cy="256031"/>
          </a:xfrm>
          <a:prstGeom prst="rect">
            <a:avLst/>
          </a:prstGeom>
          <a:noFill/>
        </p:spPr>
        <p:txBody>
          <a:bodyPr wrap="square">
            <a:spAutoFit/>
          </a:bodyPr>
          <a:lstStyle/>
          <a:p>
            <a:pPr algn="ctr"/>
            <a:r>
              <a:rPr sz="1000" b="0" i="0">
                <a:solidFill>
                  <a:srgbClr val="2D2D2D"/>
                </a:solidFill>
              </a:rPr>
              <a:t>~$2.5B</a:t>
            </a:r>
          </a:p>
        </p:txBody>
      </p:sp>
      <p:sp>
        <p:nvSpPr>
          <p:cNvPr id="42" name="Rectangle 41"/>
          <p:cNvSpPr/>
          <p:nvPr/>
        </p:nvSpPr>
        <p:spPr>
          <a:xfrm>
            <a:off x="8549640" y="1801368"/>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04504" y="1847088"/>
            <a:ext cx="3364991" cy="256031"/>
          </a:xfrm>
          <a:prstGeom prst="rect">
            <a:avLst/>
          </a:prstGeom>
          <a:noFill/>
        </p:spPr>
        <p:txBody>
          <a:bodyPr wrap="square">
            <a:spAutoFit/>
          </a:bodyPr>
          <a:lstStyle/>
          <a:p>
            <a:pPr algn="ctr"/>
            <a:r>
              <a:rPr sz="1000" b="0" i="0">
                <a:solidFill>
                  <a:srgbClr val="2D2D2D"/>
                </a:solidFill>
              </a:rPr>
              <a:t>↘ COVID unwinding</a:t>
            </a:r>
          </a:p>
        </p:txBody>
      </p:sp>
      <p:sp>
        <p:nvSpPr>
          <p:cNvPr id="44" name="Rectangle 43"/>
          <p:cNvSpPr/>
          <p:nvPr/>
        </p:nvSpPr>
        <p:spPr>
          <a:xfrm>
            <a:off x="320040" y="2130552"/>
            <a:ext cx="27432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4904" y="2176272"/>
            <a:ext cx="2633472" cy="256031"/>
          </a:xfrm>
          <a:prstGeom prst="rect">
            <a:avLst/>
          </a:prstGeom>
          <a:noFill/>
        </p:spPr>
        <p:txBody>
          <a:bodyPr wrap="square">
            <a:spAutoFit/>
          </a:bodyPr>
          <a:lstStyle/>
          <a:p>
            <a:pPr algn="l"/>
            <a:r>
              <a:rPr sz="1000" b="0" i="0">
                <a:solidFill>
                  <a:srgbClr val="2D2D2D"/>
                </a:solidFill>
              </a:rPr>
              <a:t>Molecular</a:t>
            </a:r>
          </a:p>
        </p:txBody>
      </p:sp>
      <p:sp>
        <p:nvSpPr>
          <p:cNvPr id="46" name="Rectangle 45"/>
          <p:cNvSpPr/>
          <p:nvPr/>
        </p:nvSpPr>
        <p:spPr>
          <a:xfrm>
            <a:off x="3063240" y="2130552"/>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18104" y="2176272"/>
            <a:ext cx="1261872" cy="256031"/>
          </a:xfrm>
          <a:prstGeom prst="rect">
            <a:avLst/>
          </a:prstGeom>
          <a:noFill/>
        </p:spPr>
        <p:txBody>
          <a:bodyPr wrap="square">
            <a:spAutoFit/>
          </a:bodyPr>
          <a:lstStyle/>
          <a:p>
            <a:pPr algn="ctr"/>
            <a:r>
              <a:rPr sz="1000" b="0" i="0">
                <a:solidFill>
                  <a:srgbClr val="2D2D2D"/>
                </a:solidFill>
              </a:rPr>
              <a:t>$1.4B</a:t>
            </a:r>
          </a:p>
        </p:txBody>
      </p:sp>
      <p:sp>
        <p:nvSpPr>
          <p:cNvPr id="48" name="Rectangle 47"/>
          <p:cNvSpPr/>
          <p:nvPr/>
        </p:nvSpPr>
        <p:spPr>
          <a:xfrm>
            <a:off x="4434840" y="2130552"/>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89703" y="2176272"/>
            <a:ext cx="1261872" cy="256031"/>
          </a:xfrm>
          <a:prstGeom prst="rect">
            <a:avLst/>
          </a:prstGeom>
          <a:noFill/>
        </p:spPr>
        <p:txBody>
          <a:bodyPr wrap="square">
            <a:spAutoFit/>
          </a:bodyPr>
          <a:lstStyle/>
          <a:p>
            <a:pPr algn="ctr"/>
            <a:r>
              <a:rPr sz="1000" b="0" i="0">
                <a:solidFill>
                  <a:srgbClr val="2D2D2D"/>
                </a:solidFill>
              </a:rPr>
              <a:t>$0.6B</a:t>
            </a:r>
          </a:p>
        </p:txBody>
      </p:sp>
      <p:sp>
        <p:nvSpPr>
          <p:cNvPr id="50" name="Rectangle 49"/>
          <p:cNvSpPr/>
          <p:nvPr/>
        </p:nvSpPr>
        <p:spPr>
          <a:xfrm>
            <a:off x="5806440" y="2130552"/>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61303" y="2176272"/>
            <a:ext cx="1261872" cy="256031"/>
          </a:xfrm>
          <a:prstGeom prst="rect">
            <a:avLst/>
          </a:prstGeom>
          <a:noFill/>
        </p:spPr>
        <p:txBody>
          <a:bodyPr wrap="square">
            <a:spAutoFit/>
          </a:bodyPr>
          <a:lstStyle/>
          <a:p>
            <a:pPr algn="ctr"/>
            <a:r>
              <a:rPr sz="1000" b="0" i="0">
                <a:solidFill>
                  <a:srgbClr val="2D2D2D"/>
                </a:solidFill>
              </a:rPr>
              <a:t>$0.5B</a:t>
            </a:r>
          </a:p>
        </p:txBody>
      </p:sp>
      <p:sp>
        <p:nvSpPr>
          <p:cNvPr id="52" name="Rectangle 51"/>
          <p:cNvSpPr/>
          <p:nvPr/>
        </p:nvSpPr>
        <p:spPr>
          <a:xfrm>
            <a:off x="7178040" y="2130552"/>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2903" y="2176272"/>
            <a:ext cx="1261872" cy="256031"/>
          </a:xfrm>
          <a:prstGeom prst="rect">
            <a:avLst/>
          </a:prstGeom>
          <a:noFill/>
        </p:spPr>
        <p:txBody>
          <a:bodyPr wrap="square">
            <a:spAutoFit/>
          </a:bodyPr>
          <a:lstStyle/>
          <a:p>
            <a:pPr algn="ctr"/>
            <a:r>
              <a:rPr sz="1000" b="0" i="0">
                <a:solidFill>
                  <a:srgbClr val="2D2D2D"/>
                </a:solidFill>
              </a:rPr>
              <a:t>~$0.5B</a:t>
            </a:r>
          </a:p>
        </p:txBody>
      </p:sp>
      <p:sp>
        <p:nvSpPr>
          <p:cNvPr id="54" name="Rectangle 53"/>
          <p:cNvSpPr/>
          <p:nvPr/>
        </p:nvSpPr>
        <p:spPr>
          <a:xfrm>
            <a:off x="8549640" y="2130552"/>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04504" y="2176272"/>
            <a:ext cx="3364991" cy="256031"/>
          </a:xfrm>
          <a:prstGeom prst="rect">
            <a:avLst/>
          </a:prstGeom>
          <a:noFill/>
        </p:spPr>
        <p:txBody>
          <a:bodyPr wrap="square">
            <a:spAutoFit/>
          </a:bodyPr>
          <a:lstStyle/>
          <a:p>
            <a:pPr algn="ctr"/>
            <a:r>
              <a:rPr sz="1000" b="0" i="0">
                <a:solidFill>
                  <a:srgbClr val="2D2D2D"/>
                </a:solidFill>
              </a:rPr>
              <a:t>➡ Stabilized</a:t>
            </a:r>
          </a:p>
        </p:txBody>
      </p:sp>
      <p:sp>
        <p:nvSpPr>
          <p:cNvPr id="56" name="Rectangle 55"/>
          <p:cNvSpPr/>
          <p:nvPr/>
        </p:nvSpPr>
        <p:spPr>
          <a:xfrm>
            <a:off x="320040" y="2459736"/>
            <a:ext cx="27432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74904" y="2505456"/>
            <a:ext cx="2633472" cy="256031"/>
          </a:xfrm>
          <a:prstGeom prst="rect">
            <a:avLst/>
          </a:prstGeom>
          <a:noFill/>
        </p:spPr>
        <p:txBody>
          <a:bodyPr wrap="square">
            <a:spAutoFit/>
          </a:bodyPr>
          <a:lstStyle/>
          <a:p>
            <a:pPr algn="l"/>
            <a:r>
              <a:rPr sz="1000" b="0" i="0">
                <a:solidFill>
                  <a:srgbClr val="2D2D2D"/>
                </a:solidFill>
              </a:rPr>
              <a:t>Point of Care</a:t>
            </a:r>
          </a:p>
        </p:txBody>
      </p:sp>
      <p:sp>
        <p:nvSpPr>
          <p:cNvPr id="58" name="Rectangle 57"/>
          <p:cNvSpPr/>
          <p:nvPr/>
        </p:nvSpPr>
        <p:spPr>
          <a:xfrm>
            <a:off x="3063240" y="2459736"/>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18104" y="2505456"/>
            <a:ext cx="1261872" cy="256031"/>
          </a:xfrm>
          <a:prstGeom prst="rect">
            <a:avLst/>
          </a:prstGeom>
          <a:noFill/>
        </p:spPr>
        <p:txBody>
          <a:bodyPr wrap="square">
            <a:spAutoFit/>
          </a:bodyPr>
          <a:lstStyle/>
          <a:p>
            <a:pPr algn="ctr"/>
            <a:r>
              <a:rPr sz="1000" b="0" i="0">
                <a:solidFill>
                  <a:srgbClr val="2D2D2D"/>
                </a:solidFill>
              </a:rPr>
              <a:t>$0.5B</a:t>
            </a:r>
          </a:p>
        </p:txBody>
      </p:sp>
      <p:sp>
        <p:nvSpPr>
          <p:cNvPr id="60" name="Rectangle 59"/>
          <p:cNvSpPr/>
          <p:nvPr/>
        </p:nvSpPr>
        <p:spPr>
          <a:xfrm>
            <a:off x="4434840" y="2459736"/>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89703" y="2505456"/>
            <a:ext cx="1261872" cy="256031"/>
          </a:xfrm>
          <a:prstGeom prst="rect">
            <a:avLst/>
          </a:prstGeom>
          <a:noFill/>
        </p:spPr>
        <p:txBody>
          <a:bodyPr wrap="square">
            <a:spAutoFit/>
          </a:bodyPr>
          <a:lstStyle/>
          <a:p>
            <a:pPr algn="ctr"/>
            <a:r>
              <a:rPr sz="1000" b="0" i="0">
                <a:solidFill>
                  <a:srgbClr val="2D2D2D"/>
                </a:solidFill>
              </a:rPr>
              <a:t>$0.6B</a:t>
            </a:r>
          </a:p>
        </p:txBody>
      </p:sp>
      <p:sp>
        <p:nvSpPr>
          <p:cNvPr id="62" name="Rectangle 61"/>
          <p:cNvSpPr/>
          <p:nvPr/>
        </p:nvSpPr>
        <p:spPr>
          <a:xfrm>
            <a:off x="5806440" y="2459736"/>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861303" y="2505456"/>
            <a:ext cx="1261872" cy="256031"/>
          </a:xfrm>
          <a:prstGeom prst="rect">
            <a:avLst/>
          </a:prstGeom>
          <a:noFill/>
        </p:spPr>
        <p:txBody>
          <a:bodyPr wrap="square">
            <a:spAutoFit/>
          </a:bodyPr>
          <a:lstStyle/>
          <a:p>
            <a:pPr algn="ctr"/>
            <a:r>
              <a:rPr sz="1000" b="0" i="0">
                <a:solidFill>
                  <a:srgbClr val="2D2D2D"/>
                </a:solidFill>
              </a:rPr>
              <a:t>$0.6B</a:t>
            </a:r>
          </a:p>
        </p:txBody>
      </p:sp>
      <p:sp>
        <p:nvSpPr>
          <p:cNvPr id="64" name="Rectangle 63"/>
          <p:cNvSpPr/>
          <p:nvPr/>
        </p:nvSpPr>
        <p:spPr>
          <a:xfrm>
            <a:off x="7178040" y="2459736"/>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32903" y="2505456"/>
            <a:ext cx="1261872" cy="256031"/>
          </a:xfrm>
          <a:prstGeom prst="rect">
            <a:avLst/>
          </a:prstGeom>
          <a:noFill/>
        </p:spPr>
        <p:txBody>
          <a:bodyPr wrap="square">
            <a:spAutoFit/>
          </a:bodyPr>
          <a:lstStyle/>
          <a:p>
            <a:pPr algn="ctr"/>
            <a:r>
              <a:rPr sz="1000" b="0" i="0">
                <a:solidFill>
                  <a:srgbClr val="2D2D2D"/>
                </a:solidFill>
              </a:rPr>
              <a:t>~$0.6B</a:t>
            </a:r>
          </a:p>
        </p:txBody>
      </p:sp>
      <p:sp>
        <p:nvSpPr>
          <p:cNvPr id="66" name="Rectangle 65"/>
          <p:cNvSpPr/>
          <p:nvPr/>
        </p:nvSpPr>
        <p:spPr>
          <a:xfrm>
            <a:off x="8549640" y="2459736"/>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4504" y="2505456"/>
            <a:ext cx="3364991" cy="256031"/>
          </a:xfrm>
          <a:prstGeom prst="rect">
            <a:avLst/>
          </a:prstGeom>
          <a:noFill/>
        </p:spPr>
        <p:txBody>
          <a:bodyPr wrap="square">
            <a:spAutoFit/>
          </a:bodyPr>
          <a:lstStyle/>
          <a:p>
            <a:pPr algn="ctr"/>
            <a:r>
              <a:rPr sz="1000" b="0" i="0">
                <a:solidFill>
                  <a:srgbClr val="2D2D2D"/>
                </a:solidFill>
              </a:rPr>
              <a:t>↗ Steady growth</a:t>
            </a:r>
          </a:p>
        </p:txBody>
      </p:sp>
      <p:sp>
        <p:nvSpPr>
          <p:cNvPr id="68" name="Rectangle 67"/>
          <p:cNvSpPr/>
          <p:nvPr/>
        </p:nvSpPr>
        <p:spPr>
          <a:xfrm>
            <a:off x="320040" y="2788920"/>
            <a:ext cx="27432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2834639"/>
            <a:ext cx="2633472" cy="256031"/>
          </a:xfrm>
          <a:prstGeom prst="rect">
            <a:avLst/>
          </a:prstGeom>
          <a:noFill/>
        </p:spPr>
        <p:txBody>
          <a:bodyPr wrap="square">
            <a:spAutoFit/>
          </a:bodyPr>
          <a:lstStyle/>
          <a:p>
            <a:pPr algn="l"/>
            <a:r>
              <a:rPr sz="1000" b="0" i="0">
                <a:solidFill>
                  <a:srgbClr val="2D2D2D"/>
                </a:solidFill>
              </a:rPr>
              <a:t>TOTAL</a:t>
            </a:r>
          </a:p>
        </p:txBody>
      </p:sp>
      <p:sp>
        <p:nvSpPr>
          <p:cNvPr id="70" name="Rectangle 69"/>
          <p:cNvSpPr/>
          <p:nvPr/>
        </p:nvSpPr>
        <p:spPr>
          <a:xfrm>
            <a:off x="3063240" y="2788920"/>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118104" y="2834639"/>
            <a:ext cx="1261872" cy="256031"/>
          </a:xfrm>
          <a:prstGeom prst="rect">
            <a:avLst/>
          </a:prstGeom>
          <a:noFill/>
        </p:spPr>
        <p:txBody>
          <a:bodyPr wrap="square">
            <a:spAutoFit/>
          </a:bodyPr>
          <a:lstStyle/>
          <a:p>
            <a:pPr algn="ctr"/>
            <a:r>
              <a:rPr sz="1000" b="0" i="0">
                <a:solidFill>
                  <a:srgbClr val="2D2D2D"/>
                </a:solidFill>
              </a:rPr>
              <a:t>$16.5B</a:t>
            </a:r>
          </a:p>
        </p:txBody>
      </p:sp>
      <p:sp>
        <p:nvSpPr>
          <p:cNvPr id="72" name="Rectangle 71"/>
          <p:cNvSpPr/>
          <p:nvPr/>
        </p:nvSpPr>
        <p:spPr>
          <a:xfrm>
            <a:off x="4434840" y="2788920"/>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489703" y="2834639"/>
            <a:ext cx="1261872" cy="256031"/>
          </a:xfrm>
          <a:prstGeom prst="rect">
            <a:avLst/>
          </a:prstGeom>
          <a:noFill/>
        </p:spPr>
        <p:txBody>
          <a:bodyPr wrap="square">
            <a:spAutoFit/>
          </a:bodyPr>
          <a:lstStyle/>
          <a:p>
            <a:pPr algn="ctr"/>
            <a:r>
              <a:rPr sz="1000" b="0" i="0">
                <a:solidFill>
                  <a:srgbClr val="2D2D2D"/>
                </a:solidFill>
              </a:rPr>
              <a:t>$10.0B</a:t>
            </a:r>
          </a:p>
        </p:txBody>
      </p:sp>
      <p:sp>
        <p:nvSpPr>
          <p:cNvPr id="74" name="Rectangle 73"/>
          <p:cNvSpPr/>
          <p:nvPr/>
        </p:nvSpPr>
        <p:spPr>
          <a:xfrm>
            <a:off x="5806440" y="2788920"/>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861303" y="2834639"/>
            <a:ext cx="1261872" cy="256031"/>
          </a:xfrm>
          <a:prstGeom prst="rect">
            <a:avLst/>
          </a:prstGeom>
          <a:noFill/>
        </p:spPr>
        <p:txBody>
          <a:bodyPr wrap="square">
            <a:spAutoFit/>
          </a:bodyPr>
          <a:lstStyle/>
          <a:p>
            <a:pPr algn="ctr"/>
            <a:r>
              <a:rPr sz="1000" b="0" i="0">
                <a:solidFill>
                  <a:srgbClr val="2D2D2D"/>
                </a:solidFill>
              </a:rPr>
              <a:t>$9.3B</a:t>
            </a:r>
          </a:p>
        </p:txBody>
      </p:sp>
      <p:sp>
        <p:nvSpPr>
          <p:cNvPr id="76" name="Rectangle 75"/>
          <p:cNvSpPr/>
          <p:nvPr/>
        </p:nvSpPr>
        <p:spPr>
          <a:xfrm>
            <a:off x="7178040" y="2788920"/>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232903" y="2834639"/>
            <a:ext cx="1261872" cy="256031"/>
          </a:xfrm>
          <a:prstGeom prst="rect">
            <a:avLst/>
          </a:prstGeom>
          <a:noFill/>
        </p:spPr>
        <p:txBody>
          <a:bodyPr wrap="square">
            <a:spAutoFit/>
          </a:bodyPr>
          <a:lstStyle/>
          <a:p>
            <a:pPr algn="ctr"/>
            <a:r>
              <a:rPr sz="1000" b="0" i="0">
                <a:solidFill>
                  <a:srgbClr val="2D2D2D"/>
                </a:solidFill>
              </a:rPr>
              <a:t>$8.9B</a:t>
            </a:r>
          </a:p>
        </p:txBody>
      </p:sp>
      <p:sp>
        <p:nvSpPr>
          <p:cNvPr id="78" name="Rectangle 77"/>
          <p:cNvSpPr/>
          <p:nvPr/>
        </p:nvSpPr>
        <p:spPr>
          <a:xfrm>
            <a:off x="8549640" y="2788920"/>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04504" y="2834639"/>
            <a:ext cx="3364991" cy="256031"/>
          </a:xfrm>
          <a:prstGeom prst="rect">
            <a:avLst/>
          </a:prstGeom>
          <a:noFill/>
        </p:spPr>
        <p:txBody>
          <a:bodyPr wrap="square">
            <a:spAutoFit/>
          </a:bodyPr>
          <a:lstStyle/>
          <a:p>
            <a:pPr algn="ctr"/>
            <a:r>
              <a:rPr sz="1000" b="0" i="0">
                <a:solidFill>
                  <a:srgbClr val="2D2D2D"/>
                </a:solidFill>
              </a:rPr>
              <a:t/>
            </a:r>
          </a:p>
        </p:txBody>
      </p:sp>
      <p:sp>
        <p:nvSpPr>
          <p:cNvPr id="80" name="Rectangle 79"/>
          <p:cNvSpPr/>
          <p:nvPr/>
        </p:nvSpPr>
        <p:spPr>
          <a:xfrm>
            <a:off x="320040" y="3118104"/>
            <a:ext cx="27432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4904" y="3163824"/>
            <a:ext cx="2633472" cy="256031"/>
          </a:xfrm>
          <a:prstGeom prst="rect">
            <a:avLst/>
          </a:prstGeom>
          <a:noFill/>
        </p:spPr>
        <p:txBody>
          <a:bodyPr wrap="square">
            <a:spAutoFit/>
          </a:bodyPr>
          <a:lstStyle/>
          <a:p>
            <a:pPr algn="l"/>
            <a:r>
              <a:rPr sz="1000" b="0" i="0">
                <a:solidFill>
                  <a:srgbClr val="2D2D2D"/>
                </a:solidFill>
              </a:rPr>
              <a:t>  of which: COVID</a:t>
            </a:r>
          </a:p>
        </p:txBody>
      </p:sp>
      <p:sp>
        <p:nvSpPr>
          <p:cNvPr id="82" name="Rectangle 81"/>
          <p:cNvSpPr/>
          <p:nvPr/>
        </p:nvSpPr>
        <p:spPr>
          <a:xfrm>
            <a:off x="3063240" y="3118104"/>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18104" y="3163824"/>
            <a:ext cx="1261872" cy="256031"/>
          </a:xfrm>
          <a:prstGeom prst="rect">
            <a:avLst/>
          </a:prstGeom>
          <a:noFill/>
        </p:spPr>
        <p:txBody>
          <a:bodyPr wrap="square">
            <a:spAutoFit/>
          </a:bodyPr>
          <a:lstStyle/>
          <a:p>
            <a:pPr algn="ctr"/>
            <a:r>
              <a:rPr sz="1000" b="0" i="0">
                <a:solidFill>
                  <a:srgbClr val="2D2D2D"/>
                </a:solidFill>
              </a:rPr>
              <a:t>$8.4B</a:t>
            </a:r>
          </a:p>
        </p:txBody>
      </p:sp>
      <p:sp>
        <p:nvSpPr>
          <p:cNvPr id="84" name="Rectangle 83"/>
          <p:cNvSpPr/>
          <p:nvPr/>
        </p:nvSpPr>
        <p:spPr>
          <a:xfrm>
            <a:off x="4434840" y="3118104"/>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9703" y="3163824"/>
            <a:ext cx="1261872" cy="256031"/>
          </a:xfrm>
          <a:prstGeom prst="rect">
            <a:avLst/>
          </a:prstGeom>
          <a:noFill/>
        </p:spPr>
        <p:txBody>
          <a:bodyPr wrap="square">
            <a:spAutoFit/>
          </a:bodyPr>
          <a:lstStyle/>
          <a:p>
            <a:pPr algn="ctr"/>
            <a:r>
              <a:rPr sz="1000" b="0" i="0">
                <a:solidFill>
                  <a:srgbClr val="2D2D2D"/>
                </a:solidFill>
              </a:rPr>
              <a:t>$1.6B</a:t>
            </a:r>
          </a:p>
        </p:txBody>
      </p:sp>
      <p:sp>
        <p:nvSpPr>
          <p:cNvPr id="86" name="Rectangle 85"/>
          <p:cNvSpPr/>
          <p:nvPr/>
        </p:nvSpPr>
        <p:spPr>
          <a:xfrm>
            <a:off x="5806440" y="3118104"/>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861303" y="3163824"/>
            <a:ext cx="1261872" cy="256031"/>
          </a:xfrm>
          <a:prstGeom prst="rect">
            <a:avLst/>
          </a:prstGeom>
          <a:noFill/>
        </p:spPr>
        <p:txBody>
          <a:bodyPr wrap="square">
            <a:spAutoFit/>
          </a:bodyPr>
          <a:lstStyle/>
          <a:p>
            <a:pPr algn="ctr"/>
            <a:r>
              <a:rPr sz="1000" b="0" i="0">
                <a:solidFill>
                  <a:srgbClr val="2D2D2D"/>
                </a:solidFill>
              </a:rPr>
              <a:t>$0.7B</a:t>
            </a:r>
          </a:p>
        </p:txBody>
      </p:sp>
      <p:sp>
        <p:nvSpPr>
          <p:cNvPr id="88" name="Rectangle 87"/>
          <p:cNvSpPr/>
          <p:nvPr/>
        </p:nvSpPr>
        <p:spPr>
          <a:xfrm>
            <a:off x="7178040" y="3118104"/>
            <a:ext cx="13716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232903" y="3163824"/>
            <a:ext cx="1261872" cy="256031"/>
          </a:xfrm>
          <a:prstGeom prst="rect">
            <a:avLst/>
          </a:prstGeom>
          <a:noFill/>
        </p:spPr>
        <p:txBody>
          <a:bodyPr wrap="square">
            <a:spAutoFit/>
          </a:bodyPr>
          <a:lstStyle/>
          <a:p>
            <a:pPr algn="ctr"/>
            <a:r>
              <a:rPr sz="1000" b="0" i="0">
                <a:solidFill>
                  <a:srgbClr val="2D2D2D"/>
                </a:solidFill>
              </a:rPr>
              <a:t>$0.3B</a:t>
            </a:r>
          </a:p>
        </p:txBody>
      </p:sp>
      <p:sp>
        <p:nvSpPr>
          <p:cNvPr id="90" name="Rectangle 89"/>
          <p:cNvSpPr/>
          <p:nvPr/>
        </p:nvSpPr>
        <p:spPr>
          <a:xfrm>
            <a:off x="8549640" y="3118104"/>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604504" y="3163824"/>
            <a:ext cx="3364991" cy="256031"/>
          </a:xfrm>
          <a:prstGeom prst="rect">
            <a:avLst/>
          </a:prstGeom>
          <a:noFill/>
        </p:spPr>
        <p:txBody>
          <a:bodyPr wrap="square">
            <a:spAutoFit/>
          </a:bodyPr>
          <a:lstStyle/>
          <a:p>
            <a:pPr algn="ctr"/>
            <a:r>
              <a:rPr sz="1000" b="0" i="0">
                <a:solidFill>
                  <a:srgbClr val="2D2D2D"/>
                </a:solidFill>
              </a:rPr>
              <a:t>↘ Nearly gone</a:t>
            </a:r>
          </a:p>
        </p:txBody>
      </p:sp>
      <p:sp>
        <p:nvSpPr>
          <p:cNvPr id="92" name="Rectangle 91"/>
          <p:cNvSpPr/>
          <p:nvPr/>
        </p:nvSpPr>
        <p:spPr>
          <a:xfrm>
            <a:off x="320040" y="3447288"/>
            <a:ext cx="27432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74904" y="3493008"/>
            <a:ext cx="2633472" cy="256031"/>
          </a:xfrm>
          <a:prstGeom prst="rect">
            <a:avLst/>
          </a:prstGeom>
          <a:noFill/>
        </p:spPr>
        <p:txBody>
          <a:bodyPr wrap="square">
            <a:spAutoFit/>
          </a:bodyPr>
          <a:lstStyle/>
          <a:p>
            <a:pPr algn="l"/>
            <a:r>
              <a:rPr sz="1000" b="0" i="0">
                <a:solidFill>
                  <a:srgbClr val="2D2D2D"/>
                </a:solidFill>
              </a:rPr>
              <a:t>  ex-COVID base</a:t>
            </a:r>
          </a:p>
        </p:txBody>
      </p:sp>
      <p:sp>
        <p:nvSpPr>
          <p:cNvPr id="94" name="Rectangle 93"/>
          <p:cNvSpPr/>
          <p:nvPr/>
        </p:nvSpPr>
        <p:spPr>
          <a:xfrm>
            <a:off x="3063240" y="3447288"/>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118104" y="3493008"/>
            <a:ext cx="1261872" cy="256031"/>
          </a:xfrm>
          <a:prstGeom prst="rect">
            <a:avLst/>
          </a:prstGeom>
          <a:noFill/>
        </p:spPr>
        <p:txBody>
          <a:bodyPr wrap="square">
            <a:spAutoFit/>
          </a:bodyPr>
          <a:lstStyle/>
          <a:p>
            <a:pPr algn="ctr"/>
            <a:r>
              <a:rPr sz="1000" b="0" i="0">
                <a:solidFill>
                  <a:srgbClr val="2D2D2D"/>
                </a:solidFill>
              </a:rPr>
              <a:t>~$8.1B</a:t>
            </a:r>
          </a:p>
        </p:txBody>
      </p:sp>
      <p:sp>
        <p:nvSpPr>
          <p:cNvPr id="96" name="Rectangle 95"/>
          <p:cNvSpPr/>
          <p:nvPr/>
        </p:nvSpPr>
        <p:spPr>
          <a:xfrm>
            <a:off x="4434840" y="3447288"/>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89703" y="3493008"/>
            <a:ext cx="1261872" cy="256031"/>
          </a:xfrm>
          <a:prstGeom prst="rect">
            <a:avLst/>
          </a:prstGeom>
          <a:noFill/>
        </p:spPr>
        <p:txBody>
          <a:bodyPr wrap="square">
            <a:spAutoFit/>
          </a:bodyPr>
          <a:lstStyle/>
          <a:p>
            <a:pPr algn="ctr"/>
            <a:r>
              <a:rPr sz="1000" b="0" i="0">
                <a:solidFill>
                  <a:srgbClr val="2D2D2D"/>
                </a:solidFill>
              </a:rPr>
              <a:t>~$8.4B</a:t>
            </a:r>
          </a:p>
        </p:txBody>
      </p:sp>
      <p:sp>
        <p:nvSpPr>
          <p:cNvPr id="98" name="Rectangle 97"/>
          <p:cNvSpPr/>
          <p:nvPr/>
        </p:nvSpPr>
        <p:spPr>
          <a:xfrm>
            <a:off x="5806440" y="3447288"/>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861303" y="3493008"/>
            <a:ext cx="1261872" cy="256031"/>
          </a:xfrm>
          <a:prstGeom prst="rect">
            <a:avLst/>
          </a:prstGeom>
          <a:noFill/>
        </p:spPr>
        <p:txBody>
          <a:bodyPr wrap="square">
            <a:spAutoFit/>
          </a:bodyPr>
          <a:lstStyle/>
          <a:p>
            <a:pPr algn="ctr"/>
            <a:r>
              <a:rPr sz="1000" b="0" i="0">
                <a:solidFill>
                  <a:srgbClr val="2D2D2D"/>
                </a:solidFill>
              </a:rPr>
              <a:t>~$8.6B</a:t>
            </a:r>
          </a:p>
        </p:txBody>
      </p:sp>
      <p:sp>
        <p:nvSpPr>
          <p:cNvPr id="100" name="Rectangle 99"/>
          <p:cNvSpPr/>
          <p:nvPr/>
        </p:nvSpPr>
        <p:spPr>
          <a:xfrm>
            <a:off x="7178040" y="3447288"/>
            <a:ext cx="13716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232903" y="3493008"/>
            <a:ext cx="1261872" cy="256031"/>
          </a:xfrm>
          <a:prstGeom prst="rect">
            <a:avLst/>
          </a:prstGeom>
          <a:noFill/>
        </p:spPr>
        <p:txBody>
          <a:bodyPr wrap="square">
            <a:spAutoFit/>
          </a:bodyPr>
          <a:lstStyle/>
          <a:p>
            <a:pPr algn="ctr"/>
            <a:r>
              <a:rPr sz="1000" b="0" i="0">
                <a:solidFill>
                  <a:srgbClr val="2D2D2D"/>
                </a:solidFill>
              </a:rPr>
              <a:t>~$8.6B</a:t>
            </a:r>
          </a:p>
        </p:txBody>
      </p:sp>
      <p:sp>
        <p:nvSpPr>
          <p:cNvPr id="102" name="Rectangle 101"/>
          <p:cNvSpPr/>
          <p:nvPr/>
        </p:nvSpPr>
        <p:spPr>
          <a:xfrm>
            <a:off x="8549640" y="3447288"/>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604504" y="3493008"/>
            <a:ext cx="3364991" cy="256031"/>
          </a:xfrm>
          <a:prstGeom prst="rect">
            <a:avLst/>
          </a:prstGeom>
          <a:noFill/>
        </p:spPr>
        <p:txBody>
          <a:bodyPr wrap="square">
            <a:spAutoFit/>
          </a:bodyPr>
          <a:lstStyle/>
          <a:p>
            <a:pPr algn="ctr"/>
            <a:r>
              <a:rPr sz="1000" b="0" i="0">
                <a:solidFill>
                  <a:srgbClr val="2D2D2D"/>
                </a:solidFill>
              </a:rPr>
              <a:t>↗ +6% since 2022</a:t>
            </a:r>
          </a:p>
        </p:txBody>
      </p:sp>
      <p:sp>
        <p:nvSpPr>
          <p:cNvPr id="104" name="Rectangle 103"/>
          <p:cNvSpPr/>
          <p:nvPr/>
        </p:nvSpPr>
        <p:spPr>
          <a:xfrm>
            <a:off x="320040" y="4983480"/>
            <a:ext cx="3657600" cy="320040"/>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29768" y="5020056"/>
            <a:ext cx="3474720" cy="256032"/>
          </a:xfrm>
          <a:prstGeom prst="rect">
            <a:avLst/>
          </a:prstGeom>
          <a:noFill/>
        </p:spPr>
        <p:txBody>
          <a:bodyPr wrap="square">
            <a:spAutoFit/>
          </a:bodyPr>
          <a:lstStyle/>
          <a:p>
            <a:pPr algn="l"/>
            <a:r>
              <a:rPr sz="1100" b="1" i="0">
                <a:solidFill>
                  <a:srgbClr val="FFFFFF"/>
                </a:solidFill>
              </a:rPr>
              <a:t>The COVID Illusion</a:t>
            </a:r>
          </a:p>
        </p:txBody>
      </p:sp>
      <p:sp>
        <p:nvSpPr>
          <p:cNvPr id="106" name="Rectangle 105"/>
          <p:cNvSpPr/>
          <p:nvPr/>
        </p:nvSpPr>
        <p:spPr>
          <a:xfrm>
            <a:off x="320040" y="5303520"/>
            <a:ext cx="3657600" cy="13258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29768" y="5358384"/>
            <a:ext cx="3456432" cy="1188720"/>
          </a:xfrm>
          <a:prstGeom prst="rect">
            <a:avLst/>
          </a:prstGeom>
          <a:noFill/>
        </p:spPr>
        <p:txBody>
          <a:bodyPr wrap="square">
            <a:spAutoFit/>
          </a:bodyPr>
          <a:lstStyle/>
          <a:p>
            <a:pPr algn="l"/>
            <a:r>
              <a:rPr sz="950" b="0" i="0">
                <a:solidFill>
                  <a:srgbClr val="2D2D2D"/>
                </a:solidFill>
              </a:rPr>
              <a:t>Revenue peaked at $16.5B in 2022 because COVID tests were $8B+ of sales. That money is now essentially gone ($300M left). Headline decline looks alarming — but the real business never stopped growing.</a:t>
            </a:r>
          </a:p>
        </p:txBody>
      </p:sp>
      <p:sp>
        <p:nvSpPr>
          <p:cNvPr id="108" name="Rectangle 107"/>
          <p:cNvSpPr/>
          <p:nvPr/>
        </p:nvSpPr>
        <p:spPr>
          <a:xfrm>
            <a:off x="4215383" y="4983480"/>
            <a:ext cx="3657600" cy="320040"/>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325112" y="5020056"/>
            <a:ext cx="3474720" cy="256032"/>
          </a:xfrm>
          <a:prstGeom prst="rect">
            <a:avLst/>
          </a:prstGeom>
          <a:noFill/>
        </p:spPr>
        <p:txBody>
          <a:bodyPr wrap="square">
            <a:spAutoFit/>
          </a:bodyPr>
          <a:lstStyle/>
          <a:p>
            <a:pPr algn="l"/>
            <a:r>
              <a:rPr sz="1100" b="1" i="0">
                <a:solidFill>
                  <a:srgbClr val="FFFFFF"/>
                </a:solidFill>
              </a:rPr>
              <a:t>Core Lab is the Engine</a:t>
            </a:r>
          </a:p>
        </p:txBody>
      </p:sp>
      <p:sp>
        <p:nvSpPr>
          <p:cNvPr id="110" name="Rectangle 109"/>
          <p:cNvSpPr/>
          <p:nvPr/>
        </p:nvSpPr>
        <p:spPr>
          <a:xfrm>
            <a:off x="4215383" y="5303520"/>
            <a:ext cx="3657600" cy="13258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325112" y="5358384"/>
            <a:ext cx="3456432" cy="1188720"/>
          </a:xfrm>
          <a:prstGeom prst="rect">
            <a:avLst/>
          </a:prstGeom>
          <a:noFill/>
        </p:spPr>
        <p:txBody>
          <a:bodyPr wrap="square">
            <a:spAutoFit/>
          </a:bodyPr>
          <a:lstStyle/>
          <a:p>
            <a:pPr algn="l"/>
            <a:r>
              <a:rPr sz="950" b="0" i="0">
                <a:solidFill>
                  <a:srgbClr val="2D2D2D"/>
                </a:solidFill>
              </a:rPr>
              <a:t>The Core Laboratory segment ($5.2B) is the most important and most stable part of the business. It grows 3–5% per year organically and generates high recurring revenue from reagents (think ink cartridges for lab machines).</a:t>
            </a:r>
          </a:p>
        </p:txBody>
      </p:sp>
      <p:sp>
        <p:nvSpPr>
          <p:cNvPr id="112" name="Rectangle 111"/>
          <p:cNvSpPr/>
          <p:nvPr/>
        </p:nvSpPr>
        <p:spPr>
          <a:xfrm>
            <a:off x="8110727" y="4983480"/>
            <a:ext cx="3657600"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220455" y="5020056"/>
            <a:ext cx="3474720" cy="256032"/>
          </a:xfrm>
          <a:prstGeom prst="rect">
            <a:avLst/>
          </a:prstGeom>
          <a:noFill/>
        </p:spPr>
        <p:txBody>
          <a:bodyPr wrap="square">
            <a:spAutoFit/>
          </a:bodyPr>
          <a:lstStyle/>
          <a:p>
            <a:pPr algn="l"/>
            <a:r>
              <a:rPr sz="1100" b="1" i="0">
                <a:solidFill>
                  <a:srgbClr val="FFFFFF"/>
                </a:solidFill>
              </a:rPr>
              <a:t>What's Next: Exact Sciences</a:t>
            </a:r>
          </a:p>
        </p:txBody>
      </p:sp>
      <p:sp>
        <p:nvSpPr>
          <p:cNvPr id="114" name="Rectangle 113"/>
          <p:cNvSpPr/>
          <p:nvPr/>
        </p:nvSpPr>
        <p:spPr>
          <a:xfrm>
            <a:off x="8110727" y="5303520"/>
            <a:ext cx="3657600" cy="13258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220455" y="5358384"/>
            <a:ext cx="3456432" cy="1188720"/>
          </a:xfrm>
          <a:prstGeom prst="rect">
            <a:avLst/>
          </a:prstGeom>
          <a:noFill/>
        </p:spPr>
        <p:txBody>
          <a:bodyPr wrap="square">
            <a:spAutoFit/>
          </a:bodyPr>
          <a:lstStyle/>
          <a:p>
            <a:pPr algn="l"/>
            <a:r>
              <a:rPr sz="950" b="0" i="0">
                <a:solidFill>
                  <a:srgbClr val="2D2D2D"/>
                </a:solidFill>
              </a:rPr>
              <a:t>Abbott bought Exact Sciences in March 2026 for $21B. This adds ~$3B in cancer diagnostics revenue (Cologuard colon cancer test, Oncotype DX breast cancer test). Total diagnostics will cross $12B+ in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Core Laboratory  —  $5.2B</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The workhorse: big automated machines that process thousands of tests a day in hospital labs</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Rectangle 7"/>
          <p:cNvSpPr/>
          <p:nvPr/>
        </p:nvSpPr>
        <p:spPr>
          <a:xfrm>
            <a:off x="320040" y="1143000"/>
            <a:ext cx="5029200" cy="5212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07008"/>
            <a:ext cx="4572000" cy="274320"/>
          </a:xfrm>
          <a:prstGeom prst="rect">
            <a:avLst/>
          </a:prstGeom>
          <a:noFill/>
        </p:spPr>
        <p:txBody>
          <a:bodyPr wrap="square">
            <a:spAutoFit/>
          </a:bodyPr>
          <a:lstStyle/>
          <a:p>
            <a:pPr algn="l"/>
            <a:r>
              <a:rPr sz="1300" b="1" i="0">
                <a:solidFill>
                  <a:srgbClr val="00478A"/>
                </a:solidFill>
              </a:rPr>
              <a:t>What It Does</a:t>
            </a:r>
          </a:p>
        </p:txBody>
      </p:sp>
      <p:sp>
        <p:nvSpPr>
          <p:cNvPr id="10" name="TextBox 9"/>
          <p:cNvSpPr txBox="1"/>
          <p:nvPr/>
        </p:nvSpPr>
        <p:spPr>
          <a:xfrm>
            <a:off x="502920" y="1508760"/>
            <a:ext cx="4709160" cy="1234440"/>
          </a:xfrm>
          <a:prstGeom prst="rect">
            <a:avLst/>
          </a:prstGeom>
          <a:noFill/>
        </p:spPr>
        <p:txBody>
          <a:bodyPr wrap="square">
            <a:spAutoFit/>
          </a:bodyPr>
          <a:lstStyle/>
          <a:p>
            <a:pPr algn="l"/>
            <a:r>
              <a:rPr sz="1050" b="0" i="0">
                <a:solidFill>
                  <a:srgbClr val="2D2D2D"/>
                </a:solidFill>
              </a:rPr>
              <a:t>Hospitals run hundreds of different blood tests every day — checking for diabetes, kidney disease, heart attacks, infections, hormones, and more. Abbott sells the automated analyzer machines and the chemical reagents (like ink for a printer) that run these tests. The machines are often placed for free or at low cost; Abbott makes its money on reagent consumables for years afterward.</a:t>
            </a:r>
          </a:p>
        </p:txBody>
      </p:sp>
      <p:sp>
        <p:nvSpPr>
          <p:cNvPr id="11" name="TextBox 10"/>
          <p:cNvSpPr txBox="1"/>
          <p:nvPr/>
        </p:nvSpPr>
        <p:spPr>
          <a:xfrm>
            <a:off x="502920" y="2788920"/>
            <a:ext cx="4572000" cy="256032"/>
          </a:xfrm>
          <a:prstGeom prst="rect">
            <a:avLst/>
          </a:prstGeom>
          <a:noFill/>
        </p:spPr>
        <p:txBody>
          <a:bodyPr wrap="square">
            <a:spAutoFit/>
          </a:bodyPr>
          <a:lstStyle/>
          <a:p>
            <a:pPr algn="l"/>
            <a:r>
              <a:rPr sz="1200" b="1" i="0">
                <a:solidFill>
                  <a:srgbClr val="00478A"/>
                </a:solidFill>
              </a:rPr>
              <a:t>Key Products (Alinity Platform)</a:t>
            </a:r>
          </a:p>
        </p:txBody>
      </p:sp>
      <p:sp>
        <p:nvSpPr>
          <p:cNvPr id="12" name="TextBox 11"/>
          <p:cNvSpPr txBox="1"/>
          <p:nvPr/>
        </p:nvSpPr>
        <p:spPr>
          <a:xfrm>
            <a:off x="502920" y="3090672"/>
            <a:ext cx="4709160" cy="2560320"/>
          </a:xfrm>
          <a:prstGeom prst="rect">
            <a:avLst/>
          </a:prstGeom>
          <a:noFill/>
        </p:spPr>
        <p:txBody>
          <a:bodyPr wrap="square">
            <a:spAutoFit/>
          </a:bodyPr>
          <a:lstStyle/>
          <a:p>
            <a:pPr algn="l"/>
            <a:r>
              <a:rPr sz="1000" b="0">
                <a:solidFill>
                  <a:srgbClr val="2D2D2D"/>
                </a:solidFill>
              </a:rPr>
              <a:t>Alinity ci  —  Chemistry + immunoassay combo (~200 tests, ~1,550/hr)</a:t>
            </a:r>
          </a:p>
          <a:p>
            <a:pPr algn="l"/>
            <a:r>
              <a:rPr sz="1000" b="0">
                <a:solidFill>
                  <a:srgbClr val="2D2D2D"/>
                </a:solidFill>
              </a:rPr>
              <a:t>Alinity i    —  Immunoassay only (cardiac, thyroid, hormones, tumor markers)</a:t>
            </a:r>
          </a:p>
          <a:p>
            <a:pPr algn="l"/>
            <a:r>
              <a:rPr sz="1000" b="0">
                <a:solidFill>
                  <a:srgbClr val="2D2D2D"/>
                </a:solidFill>
              </a:rPr>
              <a:t>Alinity c   —  Clinical chemistry (liver, kidney, lipids, glucose)</a:t>
            </a:r>
          </a:p>
          <a:p>
            <a:pPr algn="l"/>
            <a:r>
              <a:rPr sz="1000" b="0">
                <a:solidFill>
                  <a:srgbClr val="2D2D2D"/>
                </a:solidFill>
              </a:rPr>
              <a:t>Alinity h   —  Hematology / CBC (FDA cleared Aug 2023 — re-entry product)</a:t>
            </a:r>
          </a:p>
          <a:p>
            <a:pPr algn="l"/>
            <a:r>
              <a:rPr sz="1000" b="0">
                <a:solidFill>
                  <a:srgbClr val="2D2D2D"/>
                </a:solidFill>
              </a:rPr>
              <a:t>Alinity s   —  Blood bank serology (HIV, HCV, HBV — for donated blood)</a:t>
            </a:r>
          </a:p>
          <a:p>
            <a:pPr algn="l"/>
            <a:r>
              <a:rPr sz="1000" b="0">
                <a:solidFill>
                  <a:srgbClr val="2D2D2D"/>
                </a:solidFill>
              </a:rPr>
              <a:t>AlinIQ      —  Software/informatics layer — auto-verifies results, manages QC</a:t>
            </a:r>
          </a:p>
          <a:p>
            <a:pPr algn="l"/>
            <a:r>
              <a:rPr sz="1000" b="0">
                <a:solidFill>
                  <a:srgbClr val="2D2D2D"/>
                </a:solidFill>
              </a:rPr>
              <a:t>ARCHITECT  —  Legacy platform; still widely installed globally</a:t>
            </a:r>
          </a:p>
        </p:txBody>
      </p:sp>
      <p:sp>
        <p:nvSpPr>
          <p:cNvPr id="13" name="TextBox 12"/>
          <p:cNvSpPr txBox="1"/>
          <p:nvPr/>
        </p:nvSpPr>
        <p:spPr>
          <a:xfrm>
            <a:off x="502920" y="5715000"/>
            <a:ext cx="4572000" cy="256032"/>
          </a:xfrm>
          <a:prstGeom prst="rect">
            <a:avLst/>
          </a:prstGeom>
          <a:noFill/>
        </p:spPr>
        <p:txBody>
          <a:bodyPr wrap="square">
            <a:spAutoFit/>
          </a:bodyPr>
          <a:lstStyle/>
          <a:p>
            <a:pPr algn="l"/>
            <a:r>
              <a:rPr sz="1200" b="1" i="0">
                <a:solidFill>
                  <a:srgbClr val="00478A"/>
                </a:solidFill>
              </a:rPr>
              <a:t>Who Buys It</a:t>
            </a:r>
          </a:p>
        </p:txBody>
      </p:sp>
      <p:sp>
        <p:nvSpPr>
          <p:cNvPr id="14" name="TextBox 13"/>
          <p:cNvSpPr txBox="1"/>
          <p:nvPr/>
        </p:nvSpPr>
        <p:spPr>
          <a:xfrm>
            <a:off x="502920" y="5989320"/>
            <a:ext cx="4709160" cy="822960"/>
          </a:xfrm>
          <a:prstGeom prst="rect">
            <a:avLst/>
          </a:prstGeom>
          <a:noFill/>
        </p:spPr>
        <p:txBody>
          <a:bodyPr wrap="square">
            <a:spAutoFit/>
          </a:bodyPr>
          <a:lstStyle/>
          <a:p>
            <a:pPr algn="l"/>
            <a:r>
              <a:rPr sz="1000" b="0">
                <a:solidFill>
                  <a:srgbClr val="2D2D2D"/>
                </a:solidFill>
              </a:rPr>
              <a:t>Hospital core labs (primary — IDNs like HCA, Ascension, CommonSpirit)</a:t>
            </a:r>
          </a:p>
          <a:p>
            <a:pPr algn="l"/>
            <a:r>
              <a:rPr sz="1000" b="0">
                <a:solidFill>
                  <a:srgbClr val="2D2D2D"/>
                </a:solidFill>
              </a:rPr>
              <a:t>Reference labs (Quest, LabCorp — large, price-sensitive, multi-vendor)</a:t>
            </a:r>
          </a:p>
          <a:p>
            <a:pPr algn="l"/>
            <a:r>
              <a:rPr sz="1000" b="0">
                <a:solidFill>
                  <a:srgbClr val="2D2D2D"/>
                </a:solidFill>
              </a:rPr>
              <a:t>Blood banks / plasma centers (for donor screening)</a:t>
            </a:r>
          </a:p>
        </p:txBody>
      </p:sp>
      <p:sp>
        <p:nvSpPr>
          <p:cNvPr id="15" name="TextBox 14"/>
          <p:cNvSpPr txBox="1"/>
          <p:nvPr/>
        </p:nvSpPr>
        <p:spPr>
          <a:xfrm>
            <a:off x="5440680" y="1207008"/>
            <a:ext cx="6400800" cy="274320"/>
          </a:xfrm>
          <a:prstGeom prst="rect">
            <a:avLst/>
          </a:prstGeom>
          <a:noFill/>
        </p:spPr>
        <p:txBody>
          <a:bodyPr wrap="square">
            <a:spAutoFit/>
          </a:bodyPr>
          <a:lstStyle/>
          <a:p>
            <a:pPr algn="l"/>
            <a:r>
              <a:rPr sz="1300" b="1" i="0">
                <a:solidFill>
                  <a:srgbClr val="00478A"/>
                </a:solidFill>
              </a:rPr>
              <a:t>Who Abbott Competes Against</a:t>
            </a:r>
          </a:p>
        </p:txBody>
      </p:sp>
      <p:sp>
        <p:nvSpPr>
          <p:cNvPr id="16" name="Rectangle 15"/>
          <p:cNvSpPr/>
          <p:nvPr/>
        </p:nvSpPr>
        <p:spPr>
          <a:xfrm>
            <a:off x="5394960" y="1508760"/>
            <a:ext cx="201168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9824" y="1563624"/>
            <a:ext cx="1901952" cy="256031"/>
          </a:xfrm>
          <a:prstGeom prst="rect">
            <a:avLst/>
          </a:prstGeom>
          <a:noFill/>
        </p:spPr>
        <p:txBody>
          <a:bodyPr wrap="square">
            <a:spAutoFit/>
          </a:bodyPr>
          <a:lstStyle/>
          <a:p>
            <a:pPr algn="ctr"/>
            <a:r>
              <a:rPr sz="1000" b="1" i="0">
                <a:solidFill>
                  <a:srgbClr val="FFFFFF"/>
                </a:solidFill>
              </a:rPr>
              <a:t>Category</a:t>
            </a:r>
          </a:p>
        </p:txBody>
      </p:sp>
      <p:sp>
        <p:nvSpPr>
          <p:cNvPr id="18" name="Rectangle 17"/>
          <p:cNvSpPr/>
          <p:nvPr/>
        </p:nvSpPr>
        <p:spPr>
          <a:xfrm>
            <a:off x="7406640" y="1508760"/>
            <a:ext cx="224028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1563624"/>
            <a:ext cx="2130552" cy="256031"/>
          </a:xfrm>
          <a:prstGeom prst="rect">
            <a:avLst/>
          </a:prstGeom>
          <a:noFill/>
        </p:spPr>
        <p:txBody>
          <a:bodyPr wrap="square">
            <a:spAutoFit/>
          </a:bodyPr>
          <a:lstStyle/>
          <a:p>
            <a:pPr algn="ctr"/>
            <a:r>
              <a:rPr sz="1000" b="1" i="0">
                <a:solidFill>
                  <a:srgbClr val="FFFFFF"/>
                </a:solidFill>
              </a:rPr>
              <a:t>Key Rivals</a:t>
            </a:r>
          </a:p>
        </p:txBody>
      </p:sp>
      <p:sp>
        <p:nvSpPr>
          <p:cNvPr id="20" name="Rectangle 19"/>
          <p:cNvSpPr/>
          <p:nvPr/>
        </p:nvSpPr>
        <p:spPr>
          <a:xfrm>
            <a:off x="9646920" y="1508760"/>
            <a:ext cx="219456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1784" y="1563624"/>
            <a:ext cx="2084831" cy="256031"/>
          </a:xfrm>
          <a:prstGeom prst="rect">
            <a:avLst/>
          </a:prstGeom>
          <a:noFill/>
        </p:spPr>
        <p:txBody>
          <a:bodyPr wrap="square">
            <a:spAutoFit/>
          </a:bodyPr>
          <a:lstStyle/>
          <a:p>
            <a:pPr algn="ctr"/>
            <a:r>
              <a:rPr sz="1000" b="1" i="0">
                <a:solidFill>
                  <a:srgbClr val="FFFFFF"/>
                </a:solidFill>
              </a:rPr>
              <a:t>Abbott's Edge / Gap</a:t>
            </a:r>
          </a:p>
        </p:txBody>
      </p:sp>
      <p:sp>
        <p:nvSpPr>
          <p:cNvPr id="22" name="Rectangle 21"/>
          <p:cNvSpPr/>
          <p:nvPr/>
        </p:nvSpPr>
        <p:spPr>
          <a:xfrm>
            <a:off x="5394960" y="1837943"/>
            <a:ext cx="20116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9824" y="1883663"/>
            <a:ext cx="1901952" cy="256031"/>
          </a:xfrm>
          <a:prstGeom prst="rect">
            <a:avLst/>
          </a:prstGeom>
          <a:noFill/>
        </p:spPr>
        <p:txBody>
          <a:bodyPr wrap="square">
            <a:spAutoFit/>
          </a:bodyPr>
          <a:lstStyle/>
          <a:p>
            <a:pPr algn="l"/>
            <a:r>
              <a:rPr sz="900" b="0" i="0">
                <a:solidFill>
                  <a:srgbClr val="2D2D2D"/>
                </a:solidFill>
              </a:rPr>
              <a:t>Immunoassay</a:t>
            </a:r>
          </a:p>
        </p:txBody>
      </p:sp>
      <p:sp>
        <p:nvSpPr>
          <p:cNvPr id="24" name="Rectangle 23"/>
          <p:cNvSpPr/>
          <p:nvPr/>
        </p:nvSpPr>
        <p:spPr>
          <a:xfrm>
            <a:off x="7406640" y="1837943"/>
            <a:ext cx="22402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1504" y="1883663"/>
            <a:ext cx="2130552" cy="256031"/>
          </a:xfrm>
          <a:prstGeom prst="rect">
            <a:avLst/>
          </a:prstGeom>
          <a:noFill/>
        </p:spPr>
        <p:txBody>
          <a:bodyPr wrap="square">
            <a:spAutoFit/>
          </a:bodyPr>
          <a:lstStyle/>
          <a:p>
            <a:pPr algn="ctr"/>
            <a:r>
              <a:rPr sz="900" b="0" i="0">
                <a:solidFill>
                  <a:srgbClr val="2D2D2D"/>
                </a:solidFill>
              </a:rPr>
              <a:t>Roche (cobas e 801)
Siemens (Atellica IM)
Beckman (DxI 800)</a:t>
            </a:r>
          </a:p>
        </p:txBody>
      </p:sp>
      <p:sp>
        <p:nvSpPr>
          <p:cNvPr id="26" name="Rectangle 25"/>
          <p:cNvSpPr/>
          <p:nvPr/>
        </p:nvSpPr>
        <p:spPr>
          <a:xfrm>
            <a:off x="9646920" y="1837943"/>
            <a:ext cx="21945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01784" y="1883663"/>
            <a:ext cx="2084831" cy="256031"/>
          </a:xfrm>
          <a:prstGeom prst="rect">
            <a:avLst/>
          </a:prstGeom>
          <a:noFill/>
        </p:spPr>
        <p:txBody>
          <a:bodyPr wrap="square">
            <a:spAutoFit/>
          </a:bodyPr>
          <a:lstStyle/>
          <a:p>
            <a:pPr algn="ctr"/>
            <a:r>
              <a:rPr sz="900" b="0" i="0">
                <a:solidFill>
                  <a:srgbClr val="2D2D2D"/>
                </a:solidFill>
              </a:rPr>
              <a:t>hs-Troponin I is the
flagship cardiac assay;
strong clinical data</a:t>
            </a:r>
          </a:p>
        </p:txBody>
      </p:sp>
      <p:sp>
        <p:nvSpPr>
          <p:cNvPr id="28" name="Rectangle 27"/>
          <p:cNvSpPr/>
          <p:nvPr/>
        </p:nvSpPr>
        <p:spPr>
          <a:xfrm>
            <a:off x="5394960" y="2167128"/>
            <a:ext cx="20116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9824" y="2212848"/>
            <a:ext cx="1901952" cy="256031"/>
          </a:xfrm>
          <a:prstGeom prst="rect">
            <a:avLst/>
          </a:prstGeom>
          <a:noFill/>
        </p:spPr>
        <p:txBody>
          <a:bodyPr wrap="square">
            <a:spAutoFit/>
          </a:bodyPr>
          <a:lstStyle/>
          <a:p>
            <a:pPr algn="l"/>
            <a:r>
              <a:rPr sz="900" b="0" i="0">
                <a:solidFill>
                  <a:srgbClr val="2D2D2D"/>
                </a:solidFill>
              </a:rPr>
              <a:t>Clinical Chemistry</a:t>
            </a:r>
          </a:p>
        </p:txBody>
      </p:sp>
      <p:sp>
        <p:nvSpPr>
          <p:cNvPr id="30" name="Rectangle 29"/>
          <p:cNvSpPr/>
          <p:nvPr/>
        </p:nvSpPr>
        <p:spPr>
          <a:xfrm>
            <a:off x="7406640" y="2167128"/>
            <a:ext cx="22402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61504" y="2212848"/>
            <a:ext cx="2130552" cy="256031"/>
          </a:xfrm>
          <a:prstGeom prst="rect">
            <a:avLst/>
          </a:prstGeom>
          <a:noFill/>
        </p:spPr>
        <p:txBody>
          <a:bodyPr wrap="square">
            <a:spAutoFit/>
          </a:bodyPr>
          <a:lstStyle/>
          <a:p>
            <a:pPr algn="ctr"/>
            <a:r>
              <a:rPr sz="900" b="0" i="0">
                <a:solidFill>
                  <a:srgbClr val="2D2D2D"/>
                </a:solidFill>
              </a:rPr>
              <a:t>Roche (cobas 8000)
Siemens (Atellica CH)
Beckman (DxC 660i)</a:t>
            </a:r>
          </a:p>
        </p:txBody>
      </p:sp>
      <p:sp>
        <p:nvSpPr>
          <p:cNvPr id="32" name="Rectangle 31"/>
          <p:cNvSpPr/>
          <p:nvPr/>
        </p:nvSpPr>
        <p:spPr>
          <a:xfrm>
            <a:off x="9646920" y="2167128"/>
            <a:ext cx="21945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01784" y="2212848"/>
            <a:ext cx="2084831" cy="256031"/>
          </a:xfrm>
          <a:prstGeom prst="rect">
            <a:avLst/>
          </a:prstGeom>
          <a:noFill/>
        </p:spPr>
        <p:txBody>
          <a:bodyPr wrap="square">
            <a:spAutoFit/>
          </a:bodyPr>
          <a:lstStyle/>
          <a:p>
            <a:pPr algn="ctr"/>
            <a:r>
              <a:rPr sz="900" b="0" i="0">
                <a:solidFill>
                  <a:srgbClr val="2D2D2D"/>
                </a:solidFill>
              </a:rPr>
              <a:t>Siemens has higher
throughput (1,800/hr);
Abbott ~1,550/hr</a:t>
            </a:r>
          </a:p>
        </p:txBody>
      </p:sp>
      <p:sp>
        <p:nvSpPr>
          <p:cNvPr id="34" name="Rectangle 33"/>
          <p:cNvSpPr/>
          <p:nvPr/>
        </p:nvSpPr>
        <p:spPr>
          <a:xfrm>
            <a:off x="5394960" y="2496312"/>
            <a:ext cx="20116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9824" y="2542032"/>
            <a:ext cx="1901952" cy="256031"/>
          </a:xfrm>
          <a:prstGeom prst="rect">
            <a:avLst/>
          </a:prstGeom>
          <a:noFill/>
        </p:spPr>
        <p:txBody>
          <a:bodyPr wrap="square">
            <a:spAutoFit/>
          </a:bodyPr>
          <a:lstStyle/>
          <a:p>
            <a:pPr algn="l"/>
            <a:r>
              <a:rPr sz="900" b="0" i="0">
                <a:solidFill>
                  <a:srgbClr val="2D2D2D"/>
                </a:solidFill>
              </a:rPr>
              <a:t>Integrated Platform</a:t>
            </a:r>
          </a:p>
        </p:txBody>
      </p:sp>
      <p:sp>
        <p:nvSpPr>
          <p:cNvPr id="36" name="Rectangle 35"/>
          <p:cNvSpPr/>
          <p:nvPr/>
        </p:nvSpPr>
        <p:spPr>
          <a:xfrm>
            <a:off x="7406640" y="2496312"/>
            <a:ext cx="22402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61504" y="2542032"/>
            <a:ext cx="2130552" cy="256031"/>
          </a:xfrm>
          <a:prstGeom prst="rect">
            <a:avLst/>
          </a:prstGeom>
          <a:noFill/>
        </p:spPr>
        <p:txBody>
          <a:bodyPr wrap="square">
            <a:spAutoFit/>
          </a:bodyPr>
          <a:lstStyle/>
          <a:p>
            <a:pPr algn="ctr"/>
            <a:r>
              <a:rPr sz="900" b="0" i="0">
                <a:solidFill>
                  <a:srgbClr val="2D2D2D"/>
                </a:solidFill>
              </a:rPr>
              <a:t>Roche, Siemens Atellica
Solution, Beckman,
QuidelOrtho VITROS 5600</a:t>
            </a:r>
          </a:p>
        </p:txBody>
      </p:sp>
      <p:sp>
        <p:nvSpPr>
          <p:cNvPr id="38" name="Rectangle 37"/>
          <p:cNvSpPr/>
          <p:nvPr/>
        </p:nvSpPr>
        <p:spPr>
          <a:xfrm>
            <a:off x="9646920" y="2496312"/>
            <a:ext cx="21945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01784" y="2542032"/>
            <a:ext cx="2084831" cy="256031"/>
          </a:xfrm>
          <a:prstGeom prst="rect">
            <a:avLst/>
          </a:prstGeom>
          <a:noFill/>
        </p:spPr>
        <p:txBody>
          <a:bodyPr wrap="square">
            <a:spAutoFit/>
          </a:bodyPr>
          <a:lstStyle/>
          <a:p>
            <a:pPr algn="ctr"/>
            <a:r>
              <a:rPr sz="900" b="0" i="0">
                <a:solidFill>
                  <a:srgbClr val="2D2D2D"/>
                </a:solidFill>
              </a:rPr>
              <a:t>Alinity ci competes
directly; AlinIQ
software stickiness</a:t>
            </a:r>
          </a:p>
        </p:txBody>
      </p:sp>
      <p:sp>
        <p:nvSpPr>
          <p:cNvPr id="40" name="Rectangle 39"/>
          <p:cNvSpPr/>
          <p:nvPr/>
        </p:nvSpPr>
        <p:spPr>
          <a:xfrm>
            <a:off x="5394960" y="2825496"/>
            <a:ext cx="20116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49824" y="2871215"/>
            <a:ext cx="1901952" cy="256031"/>
          </a:xfrm>
          <a:prstGeom prst="rect">
            <a:avLst/>
          </a:prstGeom>
          <a:noFill/>
        </p:spPr>
        <p:txBody>
          <a:bodyPr wrap="square">
            <a:spAutoFit/>
          </a:bodyPr>
          <a:lstStyle/>
          <a:p>
            <a:pPr algn="l"/>
            <a:r>
              <a:rPr sz="900" b="0" i="0">
                <a:solidFill>
                  <a:srgbClr val="2D2D2D"/>
                </a:solidFill>
              </a:rPr>
              <a:t>Hematology</a:t>
            </a:r>
          </a:p>
        </p:txBody>
      </p:sp>
      <p:sp>
        <p:nvSpPr>
          <p:cNvPr id="42" name="Rectangle 41"/>
          <p:cNvSpPr/>
          <p:nvPr/>
        </p:nvSpPr>
        <p:spPr>
          <a:xfrm>
            <a:off x="7406640" y="2825496"/>
            <a:ext cx="22402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61504" y="2871215"/>
            <a:ext cx="2130552" cy="256031"/>
          </a:xfrm>
          <a:prstGeom prst="rect">
            <a:avLst/>
          </a:prstGeom>
          <a:noFill/>
        </p:spPr>
        <p:txBody>
          <a:bodyPr wrap="square">
            <a:spAutoFit/>
          </a:bodyPr>
          <a:lstStyle/>
          <a:p>
            <a:pPr algn="ctr"/>
            <a:r>
              <a:rPr sz="900" b="0" i="0">
                <a:solidFill>
                  <a:srgbClr val="2D2D2D"/>
                </a:solidFill>
              </a:rPr>
              <a:t>Sysmex (market leader
globally), Beckman,
Siemens ADVIA</a:t>
            </a:r>
          </a:p>
        </p:txBody>
      </p:sp>
      <p:sp>
        <p:nvSpPr>
          <p:cNvPr id="44" name="Rectangle 43"/>
          <p:cNvSpPr/>
          <p:nvPr/>
        </p:nvSpPr>
        <p:spPr>
          <a:xfrm>
            <a:off x="9646920" y="2825496"/>
            <a:ext cx="21945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01784" y="2871215"/>
            <a:ext cx="2084831" cy="256031"/>
          </a:xfrm>
          <a:prstGeom prst="rect">
            <a:avLst/>
          </a:prstGeom>
          <a:noFill/>
        </p:spPr>
        <p:txBody>
          <a:bodyPr wrap="square">
            <a:spAutoFit/>
          </a:bodyPr>
          <a:lstStyle/>
          <a:p>
            <a:pPr algn="ctr"/>
            <a:r>
              <a:rPr sz="900" b="0" i="0">
                <a:solidFill>
                  <a:srgbClr val="2D2D2D"/>
                </a:solidFill>
              </a:rPr>
              <a:t>Alinity h is new (2023);
Sysmex dominates;
Abbott is the challenger</a:t>
            </a:r>
          </a:p>
        </p:txBody>
      </p:sp>
      <p:sp>
        <p:nvSpPr>
          <p:cNvPr id="46" name="Rectangle 45"/>
          <p:cNvSpPr/>
          <p:nvPr/>
        </p:nvSpPr>
        <p:spPr>
          <a:xfrm>
            <a:off x="5394960" y="3154679"/>
            <a:ext cx="20116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49824" y="3200399"/>
            <a:ext cx="1901952" cy="256031"/>
          </a:xfrm>
          <a:prstGeom prst="rect">
            <a:avLst/>
          </a:prstGeom>
          <a:noFill/>
        </p:spPr>
        <p:txBody>
          <a:bodyPr wrap="square">
            <a:spAutoFit/>
          </a:bodyPr>
          <a:lstStyle/>
          <a:p>
            <a:pPr algn="l"/>
            <a:r>
              <a:rPr sz="900" b="0" i="0">
                <a:solidFill>
                  <a:srgbClr val="2D2D2D"/>
                </a:solidFill>
              </a:rPr>
              <a:t>Blood Screening</a:t>
            </a:r>
          </a:p>
        </p:txBody>
      </p:sp>
      <p:sp>
        <p:nvSpPr>
          <p:cNvPr id="48" name="Rectangle 47"/>
          <p:cNvSpPr/>
          <p:nvPr/>
        </p:nvSpPr>
        <p:spPr>
          <a:xfrm>
            <a:off x="7406640" y="3154679"/>
            <a:ext cx="22402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61504" y="3200399"/>
            <a:ext cx="2130552" cy="256031"/>
          </a:xfrm>
          <a:prstGeom prst="rect">
            <a:avLst/>
          </a:prstGeom>
          <a:noFill/>
        </p:spPr>
        <p:txBody>
          <a:bodyPr wrap="square">
            <a:spAutoFit/>
          </a:bodyPr>
          <a:lstStyle/>
          <a:p>
            <a:pPr algn="ctr"/>
            <a:r>
              <a:rPr sz="900" b="0" i="0">
                <a:solidFill>
                  <a:srgbClr val="2D2D2D"/>
                </a:solidFill>
              </a:rPr>
              <a:t>Grifols (&gt;80% US NAT)
Roche, QuidelOrtho</a:t>
            </a:r>
          </a:p>
        </p:txBody>
      </p:sp>
      <p:sp>
        <p:nvSpPr>
          <p:cNvPr id="50" name="Rectangle 49"/>
          <p:cNvSpPr/>
          <p:nvPr/>
        </p:nvSpPr>
        <p:spPr>
          <a:xfrm>
            <a:off x="9646920" y="3154679"/>
            <a:ext cx="21945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01784" y="3200399"/>
            <a:ext cx="2084831" cy="256031"/>
          </a:xfrm>
          <a:prstGeom prst="rect">
            <a:avLst/>
          </a:prstGeom>
          <a:noFill/>
        </p:spPr>
        <p:txBody>
          <a:bodyPr wrap="square">
            <a:spAutoFit/>
          </a:bodyPr>
          <a:lstStyle/>
          <a:p>
            <a:pPr algn="ctr"/>
            <a:r>
              <a:rPr sz="900" b="0" i="0">
                <a:solidFill>
                  <a:srgbClr val="2D2D2D"/>
                </a:solidFill>
              </a:rPr>
              <a:t>Abbott serology = ok;
NAT = new (Alinity n)
in development</a:t>
            </a:r>
          </a:p>
        </p:txBody>
      </p:sp>
      <p:sp>
        <p:nvSpPr>
          <p:cNvPr id="52" name="Rectangle 51"/>
          <p:cNvSpPr/>
          <p:nvPr/>
        </p:nvSpPr>
        <p:spPr>
          <a:xfrm>
            <a:off x="5394960" y="5230368"/>
            <a:ext cx="6446520" cy="1078992"/>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77840" y="5285232"/>
            <a:ext cx="5943600" cy="228600"/>
          </a:xfrm>
          <a:prstGeom prst="rect">
            <a:avLst/>
          </a:prstGeom>
          <a:noFill/>
        </p:spPr>
        <p:txBody>
          <a:bodyPr wrap="square">
            <a:spAutoFit/>
          </a:bodyPr>
          <a:lstStyle/>
          <a:p>
            <a:pPr algn="l"/>
            <a:r>
              <a:rPr sz="1100" b="1" i="0">
                <a:solidFill>
                  <a:srgbClr val="00478A"/>
                </a:solidFill>
              </a:rPr>
              <a:t>💡  Abbott's Biggest Differentiator</a:t>
            </a:r>
          </a:p>
        </p:txBody>
      </p:sp>
      <p:sp>
        <p:nvSpPr>
          <p:cNvPr id="54" name="TextBox 53"/>
          <p:cNvSpPr txBox="1"/>
          <p:nvPr/>
        </p:nvSpPr>
        <p:spPr>
          <a:xfrm>
            <a:off x="5577840" y="5541264"/>
            <a:ext cx="6126480" cy="713232"/>
          </a:xfrm>
          <a:prstGeom prst="rect">
            <a:avLst/>
          </a:prstGeom>
          <a:noFill/>
        </p:spPr>
        <p:txBody>
          <a:bodyPr wrap="square">
            <a:spAutoFit/>
          </a:bodyPr>
          <a:lstStyle/>
          <a:p>
            <a:pPr algn="l"/>
            <a:r>
              <a:rPr sz="1000" b="0" i="0">
                <a:solidFill>
                  <a:srgbClr val="2D2D2D"/>
                </a:solidFill>
              </a:rPr>
              <a:t>The Alinity platform covers chemistry, immunoassay, hematology, molecular, POC, and blood screening all under one software/UI. No rival does all of that on one harmonized system. This makes it easier to sell enterprise-wide contracts to hospital networks.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Molecular Diagnostics  —  ~$520M</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DNA/RNA-based tests: HIV viral load, STIs, HPV, cancer genetics — high complexity, high value</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Rectangle 7"/>
          <p:cNvSpPr/>
          <p:nvPr/>
        </p:nvSpPr>
        <p:spPr>
          <a:xfrm>
            <a:off x="320040" y="1143000"/>
            <a:ext cx="3611880" cy="347472"/>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179576"/>
            <a:ext cx="3429000" cy="274320"/>
          </a:xfrm>
          <a:prstGeom prst="rect">
            <a:avLst/>
          </a:prstGeom>
          <a:noFill/>
        </p:spPr>
        <p:txBody>
          <a:bodyPr wrap="square">
            <a:spAutoFit/>
          </a:bodyPr>
          <a:lstStyle/>
          <a:p>
            <a:pPr algn="l"/>
            <a:r>
              <a:rPr sz="1200" b="1" i="0">
                <a:solidFill>
                  <a:srgbClr val="FFFFFF"/>
                </a:solidFill>
              </a:rPr>
              <a:t>Alinity m  (Flagship)</a:t>
            </a:r>
          </a:p>
        </p:txBody>
      </p:sp>
      <p:sp>
        <p:nvSpPr>
          <p:cNvPr id="10" name="Rectangle 9"/>
          <p:cNvSpPr/>
          <p:nvPr/>
        </p:nvSpPr>
        <p:spPr>
          <a:xfrm>
            <a:off x="320040" y="1490472"/>
            <a:ext cx="3611880" cy="35387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545336"/>
            <a:ext cx="3392424" cy="3429000"/>
          </a:xfrm>
          <a:prstGeom prst="rect">
            <a:avLst/>
          </a:prstGeom>
          <a:noFill/>
        </p:spPr>
        <p:txBody>
          <a:bodyPr wrap="square">
            <a:spAutoFit/>
          </a:bodyPr>
          <a:lstStyle/>
          <a:p>
            <a:pPr algn="l"/>
            <a:r>
              <a:rPr sz="1000" b="0">
                <a:solidFill>
                  <a:srgbClr val="2D2D2D"/>
                </a:solidFill>
              </a:rPr>
              <a:t>Fully automated PCR system</a:t>
            </a:r>
          </a:p>
          <a:p>
            <a:pPr algn="l"/>
            <a:r>
              <a:rPr sz="1000" b="0">
                <a:solidFill>
                  <a:srgbClr val="2D2D2D"/>
                </a:solidFill>
              </a:rPr>
              <a:t>Up to 1,080 tests per 24 hours</a:t>
            </a:r>
          </a:p>
          <a:p>
            <a:pPr algn="l"/>
            <a:r>
              <a:rPr sz="1000" b="0">
                <a:solidFill>
                  <a:srgbClr val="2D2D2D"/>
                </a:solidFill>
              </a:rPr>
              <a:t>True random-access — no batching needed</a:t>
            </a:r>
          </a:p>
          <a:p>
            <a:pPr algn="l"/>
            <a:r>
              <a:rPr sz="1000" b="0">
                <a:solidFill>
                  <a:srgbClr val="2D2D2D"/>
                </a:solidFill>
              </a:rPr>
              <a:t>75 STAT (urgent) tests per 8-hour shift</a:t>
            </a:r>
          </a:p>
          <a:p>
            <a:pPr algn="l"/>
            <a:r>
              <a:rPr sz="1000" b="0">
                <a:solidFill>
                  <a:srgbClr val="2D2D2D"/>
                </a:solidFill>
              </a:rPr>
              <a:t>One box replaces 5 older instruments</a:t>
            </a:r>
          </a:p>
          <a:p>
            <a:pPr algn="l"/>
            <a:r>
              <a:rPr sz="1000" b="0">
                <a:solidFill>
                  <a:srgbClr val="2D2D2D"/>
                </a:solidFill>
              </a:rPr>
              <a:t>Menu: HIV, HCV, HBV, STIs, HPV, COVID,</a:t>
            </a:r>
          </a:p>
          <a:p>
            <a:pPr algn="l"/>
            <a:r>
              <a:rPr sz="1000" b="0">
                <a:solidFill>
                  <a:srgbClr val="2D2D2D"/>
                </a:solidFill>
              </a:rPr>
              <a:t>  CMV/EBV/BKV (transplant), Flu/RSV</a:t>
            </a:r>
          </a:p>
        </p:txBody>
      </p:sp>
      <p:sp>
        <p:nvSpPr>
          <p:cNvPr id="12" name="Rectangle 11"/>
          <p:cNvSpPr/>
          <p:nvPr/>
        </p:nvSpPr>
        <p:spPr>
          <a:xfrm>
            <a:off x="4142231" y="1143000"/>
            <a:ext cx="3611880" cy="347472"/>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33671" y="1179576"/>
            <a:ext cx="3429000" cy="274320"/>
          </a:xfrm>
          <a:prstGeom prst="rect">
            <a:avLst/>
          </a:prstGeom>
          <a:noFill/>
        </p:spPr>
        <p:txBody>
          <a:bodyPr wrap="square">
            <a:spAutoFit/>
          </a:bodyPr>
          <a:lstStyle/>
          <a:p>
            <a:pPr algn="l"/>
            <a:r>
              <a:rPr sz="1200" b="1" i="0">
                <a:solidFill>
                  <a:srgbClr val="FFFFFF"/>
                </a:solidFill>
              </a:rPr>
              <a:t>m2000  (Legacy, Still Selling)</a:t>
            </a:r>
          </a:p>
        </p:txBody>
      </p:sp>
      <p:sp>
        <p:nvSpPr>
          <p:cNvPr id="14" name="Rectangle 13"/>
          <p:cNvSpPr/>
          <p:nvPr/>
        </p:nvSpPr>
        <p:spPr>
          <a:xfrm>
            <a:off x="4142231" y="1490472"/>
            <a:ext cx="3611880" cy="35387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1545336"/>
            <a:ext cx="3392424" cy="3429000"/>
          </a:xfrm>
          <a:prstGeom prst="rect">
            <a:avLst/>
          </a:prstGeom>
          <a:noFill/>
        </p:spPr>
        <p:txBody>
          <a:bodyPr wrap="square">
            <a:spAutoFit/>
          </a:bodyPr>
          <a:lstStyle/>
          <a:p>
            <a:pPr algn="l"/>
            <a:r>
              <a:rPr sz="1000" b="0">
                <a:solidFill>
                  <a:srgbClr val="2D2D2D"/>
                </a:solidFill>
              </a:rPr>
              <a:t>Older PCR platform — still widely used</a:t>
            </a:r>
          </a:p>
          <a:p>
            <a:pPr algn="l"/>
            <a:r>
              <a:rPr sz="1000" b="0">
                <a:solidFill>
                  <a:srgbClr val="2D2D2D"/>
                </a:solidFill>
              </a:rPr>
              <a:t>WHO-prequalified for HIV viral load</a:t>
            </a:r>
          </a:p>
          <a:p>
            <a:pPr algn="l"/>
            <a:r>
              <a:rPr sz="1000" b="0">
                <a:solidFill>
                  <a:srgbClr val="2D2D2D"/>
                </a:solidFill>
              </a:rPr>
              <a:t>Critical for PEPFAR HIV programs in Africa</a:t>
            </a:r>
          </a:p>
          <a:p>
            <a:pPr algn="l"/>
            <a:r>
              <a:rPr sz="1000" b="0">
                <a:solidFill>
                  <a:srgbClr val="2D2D2D"/>
                </a:solidFill>
              </a:rPr>
              <a:t>Generates sticky reagent revenue in</a:t>
            </a:r>
          </a:p>
          <a:p>
            <a:pPr algn="l"/>
            <a:r>
              <a:rPr sz="1000" b="0">
                <a:solidFill>
                  <a:srgbClr val="2D2D2D"/>
                </a:solidFill>
              </a:rPr>
              <a:t>  low/middle-income countries</a:t>
            </a:r>
          </a:p>
          <a:p>
            <a:pPr algn="l"/>
            <a:r>
              <a:rPr sz="1000" b="0">
                <a:solidFill>
                  <a:srgbClr val="2D2D2D"/>
                </a:solidFill>
              </a:rPr>
              <a:t>Slower being phased out for Alinity m</a:t>
            </a:r>
          </a:p>
        </p:txBody>
      </p:sp>
      <p:sp>
        <p:nvSpPr>
          <p:cNvPr id="16" name="Rectangle 15"/>
          <p:cNvSpPr/>
          <p:nvPr/>
        </p:nvSpPr>
        <p:spPr>
          <a:xfrm>
            <a:off x="7964423" y="1143000"/>
            <a:ext cx="3611880" cy="347472"/>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55863" y="1179576"/>
            <a:ext cx="3429000" cy="274320"/>
          </a:xfrm>
          <a:prstGeom prst="rect">
            <a:avLst/>
          </a:prstGeom>
          <a:noFill/>
        </p:spPr>
        <p:txBody>
          <a:bodyPr wrap="square">
            <a:spAutoFit/>
          </a:bodyPr>
          <a:lstStyle/>
          <a:p>
            <a:pPr algn="l"/>
            <a:r>
              <a:rPr sz="1200" b="1" i="0">
                <a:solidFill>
                  <a:srgbClr val="FFFFFF"/>
                </a:solidFill>
              </a:rPr>
              <a:t>Vysis FISH  (Cancer Genetics)</a:t>
            </a:r>
          </a:p>
        </p:txBody>
      </p:sp>
      <p:sp>
        <p:nvSpPr>
          <p:cNvPr id="18" name="Rectangle 17"/>
          <p:cNvSpPr/>
          <p:nvPr/>
        </p:nvSpPr>
        <p:spPr>
          <a:xfrm>
            <a:off x="7964423" y="1490472"/>
            <a:ext cx="3611880" cy="35387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1" y="1545336"/>
            <a:ext cx="3392424" cy="3429000"/>
          </a:xfrm>
          <a:prstGeom prst="rect">
            <a:avLst/>
          </a:prstGeom>
          <a:noFill/>
        </p:spPr>
        <p:txBody>
          <a:bodyPr wrap="square">
            <a:spAutoFit/>
          </a:bodyPr>
          <a:lstStyle/>
          <a:p>
            <a:pPr algn="l"/>
            <a:r>
              <a:rPr sz="1000" b="0">
                <a:solidFill>
                  <a:srgbClr val="2D2D2D"/>
                </a:solidFill>
              </a:rPr>
              <a:t>Not PCR — uses fluorescent DNA probes</a:t>
            </a:r>
          </a:p>
          <a:p>
            <a:pPr algn="l"/>
            <a:r>
              <a:rPr sz="1000" b="0">
                <a:solidFill>
                  <a:srgbClr val="2D2D2D"/>
                </a:solidFill>
              </a:rPr>
              <a:t>PathVysion: HER-2 in breast/gastric cancer</a:t>
            </a:r>
          </a:p>
          <a:p>
            <a:pPr algn="l"/>
            <a:r>
              <a:rPr sz="1000" b="0">
                <a:solidFill>
                  <a:srgbClr val="2D2D2D"/>
                </a:solidFill>
              </a:rPr>
              <a:t>  (determines who gets Herceptin)</a:t>
            </a:r>
          </a:p>
          <a:p>
            <a:pPr algn="l"/>
            <a:r>
              <a:rPr sz="1000" b="0">
                <a:solidFill>
                  <a:srgbClr val="2D2D2D"/>
                </a:solidFill>
              </a:rPr>
              <a:t>ALK probe: lung cancer targeted therapy</a:t>
            </a:r>
          </a:p>
          <a:p>
            <a:pPr algn="l"/>
            <a:r>
              <a:rPr sz="1000" b="0">
                <a:solidFill>
                  <a:srgbClr val="2D2D2D"/>
                </a:solidFill>
              </a:rPr>
              <a:t>UroVysion: bladder cancer detection</a:t>
            </a:r>
          </a:p>
          <a:p>
            <a:pPr algn="l"/>
            <a:r>
              <a:rPr sz="1000" b="0">
                <a:solidFill>
                  <a:srgbClr val="2D2D2D"/>
                </a:solidFill>
              </a:rPr>
              <a:t>Used in cancer centers / pathology labs</a:t>
            </a:r>
          </a:p>
        </p:txBody>
      </p:sp>
      <p:sp>
        <p:nvSpPr>
          <p:cNvPr id="20" name="Rectangle 19"/>
          <p:cNvSpPr/>
          <p:nvPr/>
        </p:nvSpPr>
        <p:spPr>
          <a:xfrm>
            <a:off x="320040" y="5120640"/>
            <a:ext cx="5623560" cy="1508760"/>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84648"/>
            <a:ext cx="5029200" cy="274320"/>
          </a:xfrm>
          <a:prstGeom prst="rect">
            <a:avLst/>
          </a:prstGeom>
          <a:noFill/>
        </p:spPr>
        <p:txBody>
          <a:bodyPr wrap="square">
            <a:spAutoFit/>
          </a:bodyPr>
          <a:lstStyle/>
          <a:p>
            <a:pPr algn="l"/>
            <a:r>
              <a:rPr sz="1200" b="1" i="0">
                <a:solidFill>
                  <a:srgbClr val="008A4B"/>
                </a:solidFill>
              </a:rPr>
              <a:t>🏆  Key Competitive Wins</a:t>
            </a:r>
          </a:p>
        </p:txBody>
      </p:sp>
      <p:sp>
        <p:nvSpPr>
          <p:cNvPr id="22" name="TextBox 21"/>
          <p:cNvSpPr txBox="1"/>
          <p:nvPr/>
        </p:nvSpPr>
        <p:spPr>
          <a:xfrm>
            <a:off x="502920" y="5486400"/>
            <a:ext cx="5303520" cy="1097280"/>
          </a:xfrm>
          <a:prstGeom prst="rect">
            <a:avLst/>
          </a:prstGeom>
          <a:noFill/>
        </p:spPr>
        <p:txBody>
          <a:bodyPr wrap="square">
            <a:spAutoFit/>
          </a:bodyPr>
          <a:lstStyle/>
          <a:p>
            <a:pPr algn="l"/>
            <a:r>
              <a:rPr sz="1000" b="0">
                <a:solidFill>
                  <a:srgbClr val="2D2D2D"/>
                </a:solidFill>
              </a:rPr>
              <a:t>✓  Only FDA-cleared test detecting CT, NG, TV &amp; MG (4 STIs) simultaneously</a:t>
            </a:r>
          </a:p>
          <a:p>
            <a:pPr algn="l"/>
            <a:r>
              <a:rPr sz="1000" b="0">
                <a:solidFill>
                  <a:srgbClr val="2D2D2D"/>
                </a:solidFill>
              </a:rPr>
              <a:t>✓  HPV test for cervical cancer screening — FDA cleared Oct 2023 (attacks Hologic's turf)</a:t>
            </a:r>
          </a:p>
          <a:p>
            <a:pPr algn="l"/>
            <a:r>
              <a:rPr sz="1000" b="0">
                <a:solidFill>
                  <a:srgbClr val="2D2D2D"/>
                </a:solidFill>
              </a:rPr>
              <a:t>✓  CMV/EBV/BKV transplant virology from one plasma sample — reduces complexity</a:t>
            </a:r>
          </a:p>
          <a:p>
            <a:pPr algn="l"/>
            <a:r>
              <a:rPr sz="1000" b="0">
                <a:solidFill>
                  <a:srgbClr val="2D2D2D"/>
                </a:solidFill>
              </a:rPr>
              <a:t>✓  WHO prequalified m2000 = entrenched in PEPFAR/Global Fund HIV programs worldwide</a:t>
            </a:r>
          </a:p>
        </p:txBody>
      </p:sp>
      <p:sp>
        <p:nvSpPr>
          <p:cNvPr id="23" name="Rectangle 22"/>
          <p:cNvSpPr/>
          <p:nvPr/>
        </p:nvSpPr>
        <p:spPr>
          <a:xfrm>
            <a:off x="6035040" y="5120640"/>
            <a:ext cx="5833872" cy="1508760"/>
          </a:xfrm>
          <a:prstGeom prst="rect">
            <a:avLst/>
          </a:prstGeom>
          <a:solidFill>
            <a:srgbClr val="FF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5184648"/>
            <a:ext cx="5303520" cy="274320"/>
          </a:xfrm>
          <a:prstGeom prst="rect">
            <a:avLst/>
          </a:prstGeom>
          <a:noFill/>
        </p:spPr>
        <p:txBody>
          <a:bodyPr wrap="square">
            <a:spAutoFit/>
          </a:bodyPr>
          <a:lstStyle/>
          <a:p>
            <a:pPr algn="l"/>
            <a:r>
              <a:rPr sz="1200" b="1" i="0">
                <a:solidFill>
                  <a:srgbClr val="E87D1E"/>
                </a:solidFill>
              </a:rPr>
              <a:t>⚠️  Gaps to Know</a:t>
            </a:r>
          </a:p>
        </p:txBody>
      </p:sp>
      <p:sp>
        <p:nvSpPr>
          <p:cNvPr id="25" name="TextBox 24"/>
          <p:cNvSpPr txBox="1"/>
          <p:nvPr/>
        </p:nvSpPr>
        <p:spPr>
          <a:xfrm>
            <a:off x="6217920" y="5486400"/>
            <a:ext cx="5486400" cy="1097280"/>
          </a:xfrm>
          <a:prstGeom prst="rect">
            <a:avLst/>
          </a:prstGeom>
          <a:noFill/>
        </p:spPr>
        <p:txBody>
          <a:bodyPr wrap="square">
            <a:spAutoFit/>
          </a:bodyPr>
          <a:lstStyle/>
          <a:p>
            <a:pPr algn="l"/>
            <a:r>
              <a:rPr sz="1000" b="0">
                <a:solidFill>
                  <a:srgbClr val="2D2D2D"/>
                </a:solidFill>
              </a:rPr>
              <a:t>✗  No syndromic multiplex panels (bioMérieux BioFire FilmArray dominates — 132 pathogens)</a:t>
            </a:r>
          </a:p>
          <a:p>
            <a:pPr algn="l"/>
            <a:r>
              <a:rPr sz="1000" b="0">
                <a:solidFill>
                  <a:srgbClr val="2D2D2D"/>
                </a:solidFill>
              </a:rPr>
              <a:t>✗  No NGS/next-gen sequencing oncology offering (Roche Foundation Medicine dominates)</a:t>
            </a:r>
          </a:p>
          <a:p>
            <a:pPr algn="l"/>
            <a:r>
              <a:rPr sz="1000" b="0">
                <a:solidFill>
                  <a:srgbClr val="2D2D2D"/>
                </a:solidFill>
              </a:rPr>
              <a:t>✗  Blood donor NAT is Grifols territory — Abbott's new Alinity n is targeting this but still in ramp</a:t>
            </a:r>
          </a:p>
          <a:p>
            <a:pPr algn="l"/>
            <a:r>
              <a:rPr sz="1000" b="0">
                <a:solidFill>
                  <a:srgbClr val="2D2D2D"/>
                </a:solidFill>
              </a:rPr>
              <a:t>→  Exact Sciences (closed March 2026) fills the oncology molecular gap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Point of Care  —  ~$590M</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Handheld &amp; bedside testing: results in minutes without sending a sample to the central lab</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TextBox 7"/>
          <p:cNvSpPr txBox="1"/>
          <p:nvPr/>
        </p:nvSpPr>
        <p:spPr>
          <a:xfrm>
            <a:off x="365760" y="1143000"/>
            <a:ext cx="11521440" cy="457200"/>
          </a:xfrm>
          <a:prstGeom prst="rect">
            <a:avLst/>
          </a:prstGeom>
          <a:noFill/>
        </p:spPr>
        <p:txBody>
          <a:bodyPr wrap="square">
            <a:spAutoFit/>
          </a:bodyPr>
          <a:lstStyle/>
          <a:p>
            <a:pPr algn="l"/>
            <a:r>
              <a:rPr sz="1200" b="0" i="0">
                <a:solidFill>
                  <a:srgbClr val="2D2D2D"/>
                </a:solidFill>
              </a:rPr>
              <a:t>Point of Care means testing happens at the patient's bedside — in the ICU, ER, operating room, or doctor's office. The key selling point: results in 2–15 minutes instead of hours.</a:t>
            </a:r>
          </a:p>
        </p:txBody>
      </p:sp>
      <p:sp>
        <p:nvSpPr>
          <p:cNvPr id="9" name="TextBox 8"/>
          <p:cNvSpPr txBox="1"/>
          <p:nvPr/>
        </p:nvSpPr>
        <p:spPr>
          <a:xfrm>
            <a:off x="365760" y="1664208"/>
            <a:ext cx="5029200" cy="274320"/>
          </a:xfrm>
          <a:prstGeom prst="rect">
            <a:avLst/>
          </a:prstGeom>
          <a:noFill/>
        </p:spPr>
        <p:txBody>
          <a:bodyPr wrap="square">
            <a:spAutoFit/>
          </a:bodyPr>
          <a:lstStyle/>
          <a:p>
            <a:pPr algn="l"/>
            <a:r>
              <a:rPr sz="1300" b="1" i="0">
                <a:solidFill>
                  <a:srgbClr val="00478A"/>
                </a:solidFill>
              </a:rPr>
              <a:t>Key Products</a:t>
            </a:r>
          </a:p>
        </p:txBody>
      </p:sp>
      <p:sp>
        <p:nvSpPr>
          <p:cNvPr id="10" name="Rectangle 9"/>
          <p:cNvSpPr/>
          <p:nvPr/>
        </p:nvSpPr>
        <p:spPr>
          <a:xfrm>
            <a:off x="365760" y="1993392"/>
            <a:ext cx="5212080" cy="2011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11680"/>
            <a:ext cx="5029200" cy="182880"/>
          </a:xfrm>
          <a:prstGeom prst="rect">
            <a:avLst/>
          </a:prstGeom>
          <a:noFill/>
        </p:spPr>
        <p:txBody>
          <a:bodyPr wrap="square">
            <a:spAutoFit/>
          </a:bodyPr>
          <a:lstStyle/>
          <a:p>
            <a:pPr algn="l"/>
            <a:r>
              <a:rPr sz="1000" b="1" i="0">
                <a:solidFill>
                  <a:srgbClr val="FFFFFF"/>
                </a:solidFill>
              </a:rPr>
              <a:t>i-STAT Alinity  (Core Device)</a:t>
            </a:r>
          </a:p>
        </p:txBody>
      </p:sp>
      <p:sp>
        <p:nvSpPr>
          <p:cNvPr id="12" name="TextBox 11"/>
          <p:cNvSpPr txBox="1"/>
          <p:nvPr/>
        </p:nvSpPr>
        <p:spPr>
          <a:xfrm>
            <a:off x="502920" y="2212848"/>
            <a:ext cx="5074920" cy="475488"/>
          </a:xfrm>
          <a:prstGeom prst="rect">
            <a:avLst/>
          </a:prstGeom>
          <a:noFill/>
        </p:spPr>
        <p:txBody>
          <a:bodyPr wrap="square">
            <a:spAutoFit/>
          </a:bodyPr>
          <a:lstStyle/>
          <a:p>
            <a:pPr algn="l"/>
            <a:r>
              <a:rPr sz="900" b="0" i="0">
                <a:solidFill>
                  <a:srgbClr val="2D2D2D"/>
                </a:solidFill>
              </a:rPr>
              <a:t>Handheld, wireless, touchscreen. Tests include blood gas, electrolytes, kidney/liver chemistry, cardiac troponin, coagulation, hemoglobin. One device, one cartridge — results in 2–10 min. Same cartridges as old i-STAT 1, so hospitals don't need to re-stock.</a:t>
            </a:r>
          </a:p>
        </p:txBody>
      </p:sp>
      <p:sp>
        <p:nvSpPr>
          <p:cNvPr id="13" name="Rectangle 12"/>
          <p:cNvSpPr/>
          <p:nvPr/>
        </p:nvSpPr>
        <p:spPr>
          <a:xfrm>
            <a:off x="365760" y="2706624"/>
            <a:ext cx="5212080" cy="2011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724912"/>
            <a:ext cx="5029200" cy="182880"/>
          </a:xfrm>
          <a:prstGeom prst="rect">
            <a:avLst/>
          </a:prstGeom>
          <a:noFill/>
        </p:spPr>
        <p:txBody>
          <a:bodyPr wrap="square">
            <a:spAutoFit/>
          </a:bodyPr>
          <a:lstStyle/>
          <a:p>
            <a:pPr algn="l"/>
            <a:r>
              <a:rPr sz="1000" b="1" i="0">
                <a:solidFill>
                  <a:srgbClr val="FFFFFF"/>
                </a:solidFill>
              </a:rPr>
              <a:t>i-STAT hs-TnI  (Heart Attack Test)</a:t>
            </a:r>
          </a:p>
        </p:txBody>
      </p:sp>
      <p:sp>
        <p:nvSpPr>
          <p:cNvPr id="15" name="TextBox 14"/>
          <p:cNvSpPr txBox="1"/>
          <p:nvPr/>
        </p:nvSpPr>
        <p:spPr>
          <a:xfrm>
            <a:off x="502920" y="2926080"/>
            <a:ext cx="5074920" cy="475488"/>
          </a:xfrm>
          <a:prstGeom prst="rect">
            <a:avLst/>
          </a:prstGeom>
          <a:noFill/>
        </p:spPr>
        <p:txBody>
          <a:bodyPr wrap="square">
            <a:spAutoFit/>
          </a:bodyPr>
          <a:lstStyle/>
          <a:p>
            <a:pPr algn="l"/>
            <a:r>
              <a:rPr sz="900" b="0" i="0">
                <a:solidFill>
                  <a:srgbClr val="2D2D2D"/>
                </a:solidFill>
              </a:rPr>
              <a:t>High-sensitivity troponin I — the test that rules in or out a heart attack at the bedside. FIRST whole-blood POC hs-troponin cleared in the US. Enables '0/1 hour' ER rule-out protocols without sending to central lab.</a:t>
            </a:r>
          </a:p>
        </p:txBody>
      </p:sp>
      <p:sp>
        <p:nvSpPr>
          <p:cNvPr id="16" name="Rectangle 15"/>
          <p:cNvSpPr/>
          <p:nvPr/>
        </p:nvSpPr>
        <p:spPr>
          <a:xfrm>
            <a:off x="365760" y="3419856"/>
            <a:ext cx="5212080" cy="2011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38144"/>
            <a:ext cx="5029200" cy="182880"/>
          </a:xfrm>
          <a:prstGeom prst="rect">
            <a:avLst/>
          </a:prstGeom>
          <a:noFill/>
        </p:spPr>
        <p:txBody>
          <a:bodyPr wrap="square">
            <a:spAutoFit/>
          </a:bodyPr>
          <a:lstStyle/>
          <a:p>
            <a:pPr algn="l"/>
            <a:r>
              <a:rPr sz="1000" b="1" i="0">
                <a:solidFill>
                  <a:srgbClr val="FFFFFF"/>
                </a:solidFill>
              </a:rPr>
              <a:t>i-STAT TBI  (Concussion Test)</a:t>
            </a:r>
          </a:p>
        </p:txBody>
      </p:sp>
      <p:sp>
        <p:nvSpPr>
          <p:cNvPr id="18" name="TextBox 17"/>
          <p:cNvSpPr txBox="1"/>
          <p:nvPr/>
        </p:nvSpPr>
        <p:spPr>
          <a:xfrm>
            <a:off x="502920" y="3639312"/>
            <a:ext cx="5074920" cy="475488"/>
          </a:xfrm>
          <a:prstGeom prst="rect">
            <a:avLst/>
          </a:prstGeom>
          <a:noFill/>
        </p:spPr>
        <p:txBody>
          <a:bodyPr wrap="square">
            <a:spAutoFit/>
          </a:bodyPr>
          <a:lstStyle/>
          <a:p>
            <a:pPr algn="l"/>
            <a:r>
              <a:rPr sz="900" b="0" i="0">
                <a:solidFill>
                  <a:srgbClr val="2D2D2D"/>
                </a:solidFill>
              </a:rPr>
              <a:t>GFAP + UCH-L1 biomarkers from whole blood — results in 15 min. FIRST FDA-cleared whole-blood bedside concussion test. Co-developed with the US Army. Cleared April 2024.</a:t>
            </a:r>
          </a:p>
        </p:txBody>
      </p:sp>
      <p:sp>
        <p:nvSpPr>
          <p:cNvPr id="19" name="Rectangle 18"/>
          <p:cNvSpPr/>
          <p:nvPr/>
        </p:nvSpPr>
        <p:spPr>
          <a:xfrm>
            <a:off x="365760" y="4133088"/>
            <a:ext cx="5212080" cy="2011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151376"/>
            <a:ext cx="5029200" cy="182880"/>
          </a:xfrm>
          <a:prstGeom prst="rect">
            <a:avLst/>
          </a:prstGeom>
          <a:noFill/>
        </p:spPr>
        <p:txBody>
          <a:bodyPr wrap="square">
            <a:spAutoFit/>
          </a:bodyPr>
          <a:lstStyle/>
          <a:p>
            <a:pPr algn="l"/>
            <a:r>
              <a:rPr sz="1000" b="1" i="0">
                <a:solidFill>
                  <a:srgbClr val="FFFFFF"/>
                </a:solidFill>
              </a:rPr>
              <a:t>Piccolo Xpress  (Doctor's Office)</a:t>
            </a:r>
          </a:p>
        </p:txBody>
      </p:sp>
      <p:sp>
        <p:nvSpPr>
          <p:cNvPr id="21" name="TextBox 20"/>
          <p:cNvSpPr txBox="1"/>
          <p:nvPr/>
        </p:nvSpPr>
        <p:spPr>
          <a:xfrm>
            <a:off x="502920" y="4352544"/>
            <a:ext cx="5074920" cy="475488"/>
          </a:xfrm>
          <a:prstGeom prst="rect">
            <a:avLst/>
          </a:prstGeom>
          <a:noFill/>
        </p:spPr>
        <p:txBody>
          <a:bodyPr wrap="square">
            <a:spAutoFit/>
          </a:bodyPr>
          <a:lstStyle/>
          <a:p>
            <a:pPr algn="l"/>
            <a:r>
              <a:rPr sz="900" b="0" i="0">
                <a:solidFill>
                  <a:srgbClr val="2D2D2D"/>
                </a:solidFill>
              </a:rPr>
              <a:t>Small benchtop analyzer for physician offices. 31 chemistry tests (liver, kidney, lipids, HbA1c) in 12 minutes. CLIA-waived = no lab license needed.</a:t>
            </a:r>
          </a:p>
        </p:txBody>
      </p:sp>
      <p:sp>
        <p:nvSpPr>
          <p:cNvPr id="22" name="Rectangle 21"/>
          <p:cNvSpPr/>
          <p:nvPr/>
        </p:nvSpPr>
        <p:spPr>
          <a:xfrm>
            <a:off x="365760" y="4846320"/>
            <a:ext cx="5212080" cy="20116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864608"/>
            <a:ext cx="5029200" cy="182880"/>
          </a:xfrm>
          <a:prstGeom prst="rect">
            <a:avLst/>
          </a:prstGeom>
          <a:noFill/>
        </p:spPr>
        <p:txBody>
          <a:bodyPr wrap="square">
            <a:spAutoFit/>
          </a:bodyPr>
          <a:lstStyle/>
          <a:p>
            <a:pPr algn="l"/>
            <a:r>
              <a:rPr sz="1000" b="1" i="0">
                <a:solidFill>
                  <a:srgbClr val="FFFFFF"/>
                </a:solidFill>
              </a:rPr>
              <a:t>ID NOW  (Rapid Molecular)</a:t>
            </a:r>
          </a:p>
        </p:txBody>
      </p:sp>
      <p:sp>
        <p:nvSpPr>
          <p:cNvPr id="24" name="TextBox 23"/>
          <p:cNvSpPr txBox="1"/>
          <p:nvPr/>
        </p:nvSpPr>
        <p:spPr>
          <a:xfrm>
            <a:off x="502920" y="5065776"/>
            <a:ext cx="5074920" cy="475488"/>
          </a:xfrm>
          <a:prstGeom prst="rect">
            <a:avLst/>
          </a:prstGeom>
          <a:noFill/>
        </p:spPr>
        <p:txBody>
          <a:bodyPr wrap="square">
            <a:spAutoFit/>
          </a:bodyPr>
          <a:lstStyle/>
          <a:p>
            <a:pPr algn="l"/>
            <a:r>
              <a:rPr sz="900" b="0" i="0">
                <a:solidFill>
                  <a:srgbClr val="2D2D2D"/>
                </a:solidFill>
              </a:rPr>
              <a:t>Isothermal amplification — faster than PCR. 2–13 min for COVID, Flu, RSV, Strep A. CLIA-waived. In physician offices, urgent care, pharmacies.</a:t>
            </a:r>
          </a:p>
        </p:txBody>
      </p:sp>
      <p:sp>
        <p:nvSpPr>
          <p:cNvPr id="25" name="TextBox 24"/>
          <p:cNvSpPr txBox="1"/>
          <p:nvPr/>
        </p:nvSpPr>
        <p:spPr>
          <a:xfrm>
            <a:off x="5806440" y="1664208"/>
            <a:ext cx="3657600" cy="274320"/>
          </a:xfrm>
          <a:prstGeom prst="rect">
            <a:avLst/>
          </a:prstGeom>
          <a:noFill/>
        </p:spPr>
        <p:txBody>
          <a:bodyPr wrap="square">
            <a:spAutoFit/>
          </a:bodyPr>
          <a:lstStyle/>
          <a:p>
            <a:pPr algn="l"/>
            <a:r>
              <a:rPr sz="1300" b="1" i="0">
                <a:solidFill>
                  <a:srgbClr val="00478A"/>
                </a:solidFill>
              </a:rPr>
              <a:t>Who Buys It</a:t>
            </a:r>
          </a:p>
        </p:txBody>
      </p:sp>
      <p:sp>
        <p:nvSpPr>
          <p:cNvPr id="26" name="Rectangle 25"/>
          <p:cNvSpPr/>
          <p:nvPr/>
        </p:nvSpPr>
        <p:spPr>
          <a:xfrm>
            <a:off x="5806440" y="1993392"/>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2011680"/>
            <a:ext cx="2743200" cy="182880"/>
          </a:xfrm>
          <a:prstGeom prst="rect">
            <a:avLst/>
          </a:prstGeom>
          <a:noFill/>
        </p:spPr>
        <p:txBody>
          <a:bodyPr wrap="square">
            <a:spAutoFit/>
          </a:bodyPr>
          <a:lstStyle/>
          <a:p>
            <a:pPr algn="l"/>
            <a:r>
              <a:rPr sz="1000" b="1" i="0">
                <a:solidFill>
                  <a:srgbClr val="00478A"/>
                </a:solidFill>
              </a:rPr>
              <a:t>📍 Hospital ICUs</a:t>
            </a:r>
          </a:p>
        </p:txBody>
      </p:sp>
      <p:sp>
        <p:nvSpPr>
          <p:cNvPr id="28" name="TextBox 27"/>
          <p:cNvSpPr txBox="1"/>
          <p:nvPr/>
        </p:nvSpPr>
        <p:spPr>
          <a:xfrm>
            <a:off x="5943600" y="2212848"/>
            <a:ext cx="5760720" cy="201168"/>
          </a:xfrm>
          <a:prstGeom prst="rect">
            <a:avLst/>
          </a:prstGeom>
          <a:noFill/>
        </p:spPr>
        <p:txBody>
          <a:bodyPr wrap="square">
            <a:spAutoFit/>
          </a:bodyPr>
          <a:lstStyle/>
          <a:p>
            <a:pPr algn="l"/>
            <a:r>
              <a:rPr sz="900" b="0" i="0">
                <a:solidFill>
                  <a:srgbClr val="2D2D2D"/>
                </a:solidFill>
              </a:rPr>
              <a:t>Blood gas, electrolytes, lactate — 24/7 monitoring</a:t>
            </a:r>
          </a:p>
        </p:txBody>
      </p:sp>
      <p:sp>
        <p:nvSpPr>
          <p:cNvPr id="29" name="Rectangle 28"/>
          <p:cNvSpPr/>
          <p:nvPr/>
        </p:nvSpPr>
        <p:spPr>
          <a:xfrm>
            <a:off x="5806440" y="2450592"/>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0" y="2468880"/>
            <a:ext cx="2743200" cy="182880"/>
          </a:xfrm>
          <a:prstGeom prst="rect">
            <a:avLst/>
          </a:prstGeom>
          <a:noFill/>
        </p:spPr>
        <p:txBody>
          <a:bodyPr wrap="square">
            <a:spAutoFit/>
          </a:bodyPr>
          <a:lstStyle/>
          <a:p>
            <a:pPr algn="l"/>
            <a:r>
              <a:rPr sz="1000" b="1" i="0">
                <a:solidFill>
                  <a:srgbClr val="00478A"/>
                </a:solidFill>
              </a:rPr>
              <a:t>📍 Emergency Departments</a:t>
            </a:r>
          </a:p>
        </p:txBody>
      </p:sp>
      <p:sp>
        <p:nvSpPr>
          <p:cNvPr id="31" name="TextBox 30"/>
          <p:cNvSpPr txBox="1"/>
          <p:nvPr/>
        </p:nvSpPr>
        <p:spPr>
          <a:xfrm>
            <a:off x="5943600" y="2670048"/>
            <a:ext cx="5760720" cy="201168"/>
          </a:xfrm>
          <a:prstGeom prst="rect">
            <a:avLst/>
          </a:prstGeom>
          <a:noFill/>
        </p:spPr>
        <p:txBody>
          <a:bodyPr wrap="square">
            <a:spAutoFit/>
          </a:bodyPr>
          <a:lstStyle/>
          <a:p>
            <a:pPr algn="l"/>
            <a:r>
              <a:rPr sz="900" b="0" i="0">
                <a:solidFill>
                  <a:srgbClr val="2D2D2D"/>
                </a:solidFill>
              </a:rPr>
              <a:t>Heart attack triage (hs-TnI), sepsis (lactate), concussion (TBI)</a:t>
            </a:r>
          </a:p>
        </p:txBody>
      </p:sp>
      <p:sp>
        <p:nvSpPr>
          <p:cNvPr id="32" name="Rectangle 31"/>
          <p:cNvSpPr/>
          <p:nvPr/>
        </p:nvSpPr>
        <p:spPr>
          <a:xfrm>
            <a:off x="5806440" y="2907792"/>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0" y="2926080"/>
            <a:ext cx="2743200" cy="182880"/>
          </a:xfrm>
          <a:prstGeom prst="rect">
            <a:avLst/>
          </a:prstGeom>
          <a:noFill/>
        </p:spPr>
        <p:txBody>
          <a:bodyPr wrap="square">
            <a:spAutoFit/>
          </a:bodyPr>
          <a:lstStyle/>
          <a:p>
            <a:pPr algn="l"/>
            <a:r>
              <a:rPr sz="1000" b="1" i="0">
                <a:solidFill>
                  <a:srgbClr val="00478A"/>
                </a:solidFill>
              </a:rPr>
              <a:t>📍 Operating Rooms</a:t>
            </a:r>
          </a:p>
        </p:txBody>
      </p:sp>
      <p:sp>
        <p:nvSpPr>
          <p:cNvPr id="34" name="TextBox 33"/>
          <p:cNvSpPr txBox="1"/>
          <p:nvPr/>
        </p:nvSpPr>
        <p:spPr>
          <a:xfrm>
            <a:off x="5943600" y="3127248"/>
            <a:ext cx="5760720" cy="201168"/>
          </a:xfrm>
          <a:prstGeom prst="rect">
            <a:avLst/>
          </a:prstGeom>
          <a:noFill/>
        </p:spPr>
        <p:txBody>
          <a:bodyPr wrap="square">
            <a:spAutoFit/>
          </a:bodyPr>
          <a:lstStyle/>
          <a:p>
            <a:pPr algn="l"/>
            <a:r>
              <a:rPr sz="900" b="0" i="0">
                <a:solidFill>
                  <a:srgbClr val="2D2D2D"/>
                </a:solidFill>
              </a:rPr>
              <a:t>Coagulation during cardiac surgery — heparin dosing</a:t>
            </a:r>
          </a:p>
        </p:txBody>
      </p:sp>
      <p:sp>
        <p:nvSpPr>
          <p:cNvPr id="35" name="Rectangle 34"/>
          <p:cNvSpPr/>
          <p:nvPr/>
        </p:nvSpPr>
        <p:spPr>
          <a:xfrm>
            <a:off x="5806440" y="3364992"/>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0" y="3383280"/>
            <a:ext cx="2743200" cy="182880"/>
          </a:xfrm>
          <a:prstGeom prst="rect">
            <a:avLst/>
          </a:prstGeom>
          <a:noFill/>
        </p:spPr>
        <p:txBody>
          <a:bodyPr wrap="square">
            <a:spAutoFit/>
          </a:bodyPr>
          <a:lstStyle/>
          <a:p>
            <a:pPr algn="l"/>
            <a:r>
              <a:rPr sz="1000" b="1" i="0">
                <a:solidFill>
                  <a:srgbClr val="00478A"/>
                </a:solidFill>
              </a:rPr>
              <a:t>📍 Physician Offices</a:t>
            </a:r>
          </a:p>
        </p:txBody>
      </p:sp>
      <p:sp>
        <p:nvSpPr>
          <p:cNvPr id="37" name="TextBox 36"/>
          <p:cNvSpPr txBox="1"/>
          <p:nvPr/>
        </p:nvSpPr>
        <p:spPr>
          <a:xfrm>
            <a:off x="5943600" y="3584448"/>
            <a:ext cx="5760720" cy="201168"/>
          </a:xfrm>
          <a:prstGeom prst="rect">
            <a:avLst/>
          </a:prstGeom>
          <a:noFill/>
        </p:spPr>
        <p:txBody>
          <a:bodyPr wrap="square">
            <a:spAutoFit/>
          </a:bodyPr>
          <a:lstStyle/>
          <a:p>
            <a:pPr algn="l"/>
            <a:r>
              <a:rPr sz="900" b="0" i="0">
                <a:solidFill>
                  <a:srgbClr val="2D2D2D"/>
                </a:solidFill>
              </a:rPr>
              <a:t>Piccolo chemistry panels, ID NOW respiratory tests</a:t>
            </a:r>
          </a:p>
        </p:txBody>
      </p:sp>
      <p:sp>
        <p:nvSpPr>
          <p:cNvPr id="38" name="Rectangle 37"/>
          <p:cNvSpPr/>
          <p:nvPr/>
        </p:nvSpPr>
        <p:spPr>
          <a:xfrm>
            <a:off x="5806440" y="3822191"/>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0" y="3840479"/>
            <a:ext cx="2743200" cy="182880"/>
          </a:xfrm>
          <a:prstGeom prst="rect">
            <a:avLst/>
          </a:prstGeom>
          <a:noFill/>
        </p:spPr>
        <p:txBody>
          <a:bodyPr wrap="square">
            <a:spAutoFit/>
          </a:bodyPr>
          <a:lstStyle/>
          <a:p>
            <a:pPr algn="l"/>
            <a:r>
              <a:rPr sz="1000" b="1" i="0">
                <a:solidFill>
                  <a:srgbClr val="00478A"/>
                </a:solidFill>
              </a:rPr>
              <a:t>📍 Urgent Care</a:t>
            </a:r>
          </a:p>
        </p:txBody>
      </p:sp>
      <p:sp>
        <p:nvSpPr>
          <p:cNvPr id="40" name="TextBox 39"/>
          <p:cNvSpPr txBox="1"/>
          <p:nvPr/>
        </p:nvSpPr>
        <p:spPr>
          <a:xfrm>
            <a:off x="5943600" y="4041648"/>
            <a:ext cx="5760720" cy="201168"/>
          </a:xfrm>
          <a:prstGeom prst="rect">
            <a:avLst/>
          </a:prstGeom>
          <a:noFill/>
        </p:spPr>
        <p:txBody>
          <a:bodyPr wrap="square">
            <a:spAutoFit/>
          </a:bodyPr>
          <a:lstStyle/>
          <a:p>
            <a:pPr algn="l"/>
            <a:r>
              <a:rPr sz="900" b="0" i="0">
                <a:solidFill>
                  <a:srgbClr val="2D2D2D"/>
                </a:solidFill>
              </a:rPr>
              <a:t>ID NOW — same-visit prescription decision</a:t>
            </a:r>
          </a:p>
        </p:txBody>
      </p:sp>
      <p:sp>
        <p:nvSpPr>
          <p:cNvPr id="41" name="Rectangle 40"/>
          <p:cNvSpPr/>
          <p:nvPr/>
        </p:nvSpPr>
        <p:spPr>
          <a:xfrm>
            <a:off x="5806440" y="4279392"/>
            <a:ext cx="6035040" cy="201168"/>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0" y="4297679"/>
            <a:ext cx="2743200" cy="182880"/>
          </a:xfrm>
          <a:prstGeom prst="rect">
            <a:avLst/>
          </a:prstGeom>
          <a:noFill/>
        </p:spPr>
        <p:txBody>
          <a:bodyPr wrap="square">
            <a:spAutoFit/>
          </a:bodyPr>
          <a:lstStyle/>
          <a:p>
            <a:pPr algn="l"/>
            <a:r>
              <a:rPr sz="1000" b="1" i="0">
                <a:solidFill>
                  <a:srgbClr val="00478A"/>
                </a:solidFill>
              </a:rPr>
              <a:t>📍 Military / Field</a:t>
            </a:r>
          </a:p>
        </p:txBody>
      </p:sp>
      <p:sp>
        <p:nvSpPr>
          <p:cNvPr id="43" name="TextBox 42"/>
          <p:cNvSpPr txBox="1"/>
          <p:nvPr/>
        </p:nvSpPr>
        <p:spPr>
          <a:xfrm>
            <a:off x="5943600" y="4498848"/>
            <a:ext cx="5760720" cy="201168"/>
          </a:xfrm>
          <a:prstGeom prst="rect">
            <a:avLst/>
          </a:prstGeom>
          <a:noFill/>
        </p:spPr>
        <p:txBody>
          <a:bodyPr wrap="square">
            <a:spAutoFit/>
          </a:bodyPr>
          <a:lstStyle/>
          <a:p>
            <a:pPr algn="l"/>
            <a:r>
              <a:rPr sz="900" b="0" i="0">
                <a:solidFill>
                  <a:srgbClr val="2D2D2D"/>
                </a:solidFill>
              </a:rPr>
              <a:t>i-STAT + TBI designed for forward surgical teams</a:t>
            </a:r>
          </a:p>
        </p:txBody>
      </p:sp>
      <p:sp>
        <p:nvSpPr>
          <p:cNvPr id="44" name="TextBox 43"/>
          <p:cNvSpPr txBox="1"/>
          <p:nvPr/>
        </p:nvSpPr>
        <p:spPr>
          <a:xfrm>
            <a:off x="5806440" y="4800600"/>
            <a:ext cx="3657600" cy="274320"/>
          </a:xfrm>
          <a:prstGeom prst="rect">
            <a:avLst/>
          </a:prstGeom>
          <a:noFill/>
        </p:spPr>
        <p:txBody>
          <a:bodyPr wrap="square">
            <a:spAutoFit/>
          </a:bodyPr>
          <a:lstStyle/>
          <a:p>
            <a:pPr algn="l"/>
            <a:r>
              <a:rPr sz="1300" b="1" i="0">
                <a:solidFill>
                  <a:srgbClr val="00478A"/>
                </a:solidFill>
              </a:rPr>
              <a:t>Top Competitors</a:t>
            </a:r>
          </a:p>
        </p:txBody>
      </p:sp>
      <p:sp>
        <p:nvSpPr>
          <p:cNvPr id="45" name="Rectangle 44"/>
          <p:cNvSpPr/>
          <p:nvPr/>
        </p:nvSpPr>
        <p:spPr>
          <a:xfrm>
            <a:off x="5806440" y="5102352"/>
            <a:ext cx="201168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61303" y="5157216"/>
            <a:ext cx="1901952" cy="256031"/>
          </a:xfrm>
          <a:prstGeom prst="rect">
            <a:avLst/>
          </a:prstGeom>
          <a:noFill/>
        </p:spPr>
        <p:txBody>
          <a:bodyPr wrap="square">
            <a:spAutoFit/>
          </a:bodyPr>
          <a:lstStyle/>
          <a:p>
            <a:pPr algn="ctr"/>
            <a:r>
              <a:rPr sz="1000" b="1" i="0">
                <a:solidFill>
                  <a:srgbClr val="FFFFFF"/>
                </a:solidFill>
              </a:rPr>
              <a:t>Category</a:t>
            </a:r>
          </a:p>
        </p:txBody>
      </p:sp>
      <p:sp>
        <p:nvSpPr>
          <p:cNvPr id="47" name="Rectangle 46"/>
          <p:cNvSpPr/>
          <p:nvPr/>
        </p:nvSpPr>
        <p:spPr>
          <a:xfrm>
            <a:off x="7818120" y="5102352"/>
            <a:ext cx="402336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72984" y="5157216"/>
            <a:ext cx="3913632" cy="256031"/>
          </a:xfrm>
          <a:prstGeom prst="rect">
            <a:avLst/>
          </a:prstGeom>
          <a:noFill/>
        </p:spPr>
        <p:txBody>
          <a:bodyPr wrap="square">
            <a:spAutoFit/>
          </a:bodyPr>
          <a:lstStyle/>
          <a:p>
            <a:pPr algn="ctr"/>
            <a:r>
              <a:rPr sz="1000" b="1" i="0">
                <a:solidFill>
                  <a:srgbClr val="FFFFFF"/>
                </a:solidFill>
              </a:rPr>
              <a:t>Key Rivals</a:t>
            </a:r>
          </a:p>
        </p:txBody>
      </p:sp>
      <p:sp>
        <p:nvSpPr>
          <p:cNvPr id="49" name="Rectangle 48"/>
          <p:cNvSpPr/>
          <p:nvPr/>
        </p:nvSpPr>
        <p:spPr>
          <a:xfrm>
            <a:off x="5806440" y="5431536"/>
            <a:ext cx="20116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61303" y="5477256"/>
            <a:ext cx="1901952" cy="256031"/>
          </a:xfrm>
          <a:prstGeom prst="rect">
            <a:avLst/>
          </a:prstGeom>
          <a:noFill/>
        </p:spPr>
        <p:txBody>
          <a:bodyPr wrap="square">
            <a:spAutoFit/>
          </a:bodyPr>
          <a:lstStyle/>
          <a:p>
            <a:pPr algn="l"/>
            <a:r>
              <a:rPr sz="900" b="0" i="0">
                <a:solidFill>
                  <a:srgbClr val="2D2D2D"/>
                </a:solidFill>
              </a:rPr>
              <a:t>Blood Gas</a:t>
            </a:r>
          </a:p>
        </p:txBody>
      </p:sp>
      <p:sp>
        <p:nvSpPr>
          <p:cNvPr id="51" name="Rectangle 50"/>
          <p:cNvSpPr/>
          <p:nvPr/>
        </p:nvSpPr>
        <p:spPr>
          <a:xfrm>
            <a:off x="7818120" y="5431536"/>
            <a:ext cx="40233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72984" y="5477256"/>
            <a:ext cx="3913632" cy="256031"/>
          </a:xfrm>
          <a:prstGeom prst="rect">
            <a:avLst/>
          </a:prstGeom>
          <a:noFill/>
        </p:spPr>
        <p:txBody>
          <a:bodyPr wrap="square">
            <a:spAutoFit/>
          </a:bodyPr>
          <a:lstStyle/>
          <a:p>
            <a:pPr algn="ctr"/>
            <a:r>
              <a:rPr sz="900" b="0" i="0">
                <a:solidFill>
                  <a:srgbClr val="2D2D2D"/>
                </a:solidFill>
              </a:rPr>
              <a:t>Siemens epoc (room-temp cartridges ✓), Radiometer ABL90</a:t>
            </a:r>
          </a:p>
        </p:txBody>
      </p:sp>
      <p:sp>
        <p:nvSpPr>
          <p:cNvPr id="53" name="Rectangle 52"/>
          <p:cNvSpPr/>
          <p:nvPr/>
        </p:nvSpPr>
        <p:spPr>
          <a:xfrm>
            <a:off x="5806440" y="5760720"/>
            <a:ext cx="20116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861303" y="5806440"/>
            <a:ext cx="1901952" cy="256031"/>
          </a:xfrm>
          <a:prstGeom prst="rect">
            <a:avLst/>
          </a:prstGeom>
          <a:noFill/>
        </p:spPr>
        <p:txBody>
          <a:bodyPr wrap="square">
            <a:spAutoFit/>
          </a:bodyPr>
          <a:lstStyle/>
          <a:p>
            <a:pPr algn="l"/>
            <a:r>
              <a:rPr sz="900" b="0" i="0">
                <a:solidFill>
                  <a:srgbClr val="2D2D2D"/>
                </a:solidFill>
              </a:rPr>
              <a:t>Cardiac POC</a:t>
            </a:r>
          </a:p>
        </p:txBody>
      </p:sp>
      <p:sp>
        <p:nvSpPr>
          <p:cNvPr id="55" name="Rectangle 54"/>
          <p:cNvSpPr/>
          <p:nvPr/>
        </p:nvSpPr>
        <p:spPr>
          <a:xfrm>
            <a:off x="7818120" y="5760720"/>
            <a:ext cx="40233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72984" y="5806440"/>
            <a:ext cx="3913632" cy="256031"/>
          </a:xfrm>
          <a:prstGeom prst="rect">
            <a:avLst/>
          </a:prstGeom>
          <a:noFill/>
        </p:spPr>
        <p:txBody>
          <a:bodyPr wrap="square">
            <a:spAutoFit/>
          </a:bodyPr>
          <a:lstStyle/>
          <a:p>
            <a:pPr algn="ctr"/>
            <a:r>
              <a:rPr sz="900" b="0" i="0">
                <a:solidFill>
                  <a:srgbClr val="2D2D2D"/>
                </a:solidFill>
              </a:rPr>
              <a:t>QuidelOrtho TriageTrue hs-TnI, Radiometer AQT90</a:t>
            </a:r>
          </a:p>
        </p:txBody>
      </p:sp>
      <p:sp>
        <p:nvSpPr>
          <p:cNvPr id="57" name="Rectangle 56"/>
          <p:cNvSpPr/>
          <p:nvPr/>
        </p:nvSpPr>
        <p:spPr>
          <a:xfrm>
            <a:off x="5806440" y="6089904"/>
            <a:ext cx="201168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61303" y="6135624"/>
            <a:ext cx="1901952" cy="256031"/>
          </a:xfrm>
          <a:prstGeom prst="rect">
            <a:avLst/>
          </a:prstGeom>
          <a:noFill/>
        </p:spPr>
        <p:txBody>
          <a:bodyPr wrap="square">
            <a:spAutoFit/>
          </a:bodyPr>
          <a:lstStyle/>
          <a:p>
            <a:pPr algn="l"/>
            <a:r>
              <a:rPr sz="900" b="0" i="0">
                <a:solidFill>
                  <a:srgbClr val="2D2D2D"/>
                </a:solidFill>
              </a:rPr>
              <a:t>Rapid Molecular</a:t>
            </a:r>
          </a:p>
        </p:txBody>
      </p:sp>
      <p:sp>
        <p:nvSpPr>
          <p:cNvPr id="59" name="Rectangle 58"/>
          <p:cNvSpPr/>
          <p:nvPr/>
        </p:nvSpPr>
        <p:spPr>
          <a:xfrm>
            <a:off x="7818120" y="6089904"/>
            <a:ext cx="40233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72984" y="6135624"/>
            <a:ext cx="3913632" cy="256031"/>
          </a:xfrm>
          <a:prstGeom prst="rect">
            <a:avLst/>
          </a:prstGeom>
          <a:noFill/>
        </p:spPr>
        <p:txBody>
          <a:bodyPr wrap="square">
            <a:spAutoFit/>
          </a:bodyPr>
          <a:lstStyle/>
          <a:p>
            <a:pPr algn="ctr"/>
            <a:r>
              <a:rPr sz="900" b="0" i="0">
                <a:solidFill>
                  <a:srgbClr val="2D2D2D"/>
                </a:solidFill>
              </a:rPr>
              <a:t>Cepheid GeneXpert (broader menu), Roche cobas Liat</a:t>
            </a:r>
          </a:p>
        </p:txBody>
      </p:sp>
      <p:sp>
        <p:nvSpPr>
          <p:cNvPr id="61" name="Rectangle 60"/>
          <p:cNvSpPr/>
          <p:nvPr/>
        </p:nvSpPr>
        <p:spPr>
          <a:xfrm>
            <a:off x="5806440" y="6419088"/>
            <a:ext cx="201168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861303" y="6464807"/>
            <a:ext cx="1901952" cy="256031"/>
          </a:xfrm>
          <a:prstGeom prst="rect">
            <a:avLst/>
          </a:prstGeom>
          <a:noFill/>
        </p:spPr>
        <p:txBody>
          <a:bodyPr wrap="square">
            <a:spAutoFit/>
          </a:bodyPr>
          <a:lstStyle/>
          <a:p>
            <a:pPr algn="l"/>
            <a:r>
              <a:rPr sz="900" b="0" i="0">
                <a:solidFill>
                  <a:srgbClr val="2D2D2D"/>
                </a:solidFill>
              </a:rPr>
              <a:t>Office Chemistry</a:t>
            </a:r>
          </a:p>
        </p:txBody>
      </p:sp>
      <p:sp>
        <p:nvSpPr>
          <p:cNvPr id="63" name="Rectangle 62"/>
          <p:cNvSpPr/>
          <p:nvPr/>
        </p:nvSpPr>
        <p:spPr>
          <a:xfrm>
            <a:off x="7818120" y="6419088"/>
            <a:ext cx="40233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72984" y="6464807"/>
            <a:ext cx="3913632" cy="256031"/>
          </a:xfrm>
          <a:prstGeom prst="rect">
            <a:avLst/>
          </a:prstGeom>
          <a:noFill/>
        </p:spPr>
        <p:txBody>
          <a:bodyPr wrap="square">
            <a:spAutoFit/>
          </a:bodyPr>
          <a:lstStyle/>
          <a:p>
            <a:pPr algn="ctr"/>
            <a:r>
              <a:rPr sz="900" b="0" i="0">
                <a:solidFill>
                  <a:srgbClr val="2D2D2D"/>
                </a:solidFill>
              </a:rPr>
              <a:t>Roche cobas b 101, Siemens DCA Vantage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Rapid Diagnostics  —  ~$2.5B (was $8.6B at COVID peak)</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Strip tests, NAAT rapid tests, cardiometabolic POC, and HIV/malaria tests for developing countries</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TextBox 7"/>
          <p:cNvSpPr txBox="1"/>
          <p:nvPr/>
        </p:nvSpPr>
        <p:spPr>
          <a:xfrm>
            <a:off x="365760" y="1143000"/>
            <a:ext cx="11430000" cy="411480"/>
          </a:xfrm>
          <a:prstGeom prst="rect">
            <a:avLst/>
          </a:prstGeom>
          <a:noFill/>
        </p:spPr>
        <p:txBody>
          <a:bodyPr wrap="square">
            <a:spAutoFit/>
          </a:bodyPr>
          <a:lstStyle/>
          <a:p>
            <a:pPr algn="l"/>
            <a:r>
              <a:rPr sz="1150" b="0" i="0">
                <a:solidFill>
                  <a:srgbClr val="2D2D2D"/>
                </a:solidFill>
              </a:rPr>
              <a:t>This segment came primarily from Abbott's $5.3B acquisition of Alere in 2017. It covers everything from the COVID test you took at home to HIV rapid tests distributed by the Gates Foundation in Africa.</a:t>
            </a:r>
          </a:p>
        </p:txBody>
      </p:sp>
      <p:sp>
        <p:nvSpPr>
          <p:cNvPr id="9" name="Rectangle 8"/>
          <p:cNvSpPr/>
          <p:nvPr/>
        </p:nvSpPr>
        <p:spPr>
          <a:xfrm>
            <a:off x="320040" y="1627632"/>
            <a:ext cx="3749039" cy="3200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673352"/>
            <a:ext cx="3566160" cy="256032"/>
          </a:xfrm>
          <a:prstGeom prst="rect">
            <a:avLst/>
          </a:prstGeom>
          <a:noFill/>
        </p:spPr>
        <p:txBody>
          <a:bodyPr wrap="square">
            <a:spAutoFit/>
          </a:bodyPr>
          <a:lstStyle/>
          <a:p>
            <a:pPr algn="l"/>
            <a:r>
              <a:rPr sz="1200" b="1" i="0">
                <a:solidFill>
                  <a:srgbClr val="FFFFFF"/>
                </a:solidFill>
              </a:rPr>
              <a:t>US / Developed Markets</a:t>
            </a:r>
          </a:p>
        </p:txBody>
      </p:sp>
      <p:sp>
        <p:nvSpPr>
          <p:cNvPr id="11" name="Rectangle 10"/>
          <p:cNvSpPr/>
          <p:nvPr/>
        </p:nvSpPr>
        <p:spPr>
          <a:xfrm>
            <a:off x="320040" y="1993392"/>
            <a:ext cx="3749039" cy="182880"/>
          </a:xfrm>
          <a:prstGeom prst="rect">
            <a:avLst/>
          </a:prstGeom>
          <a:solidFill>
            <a:srgbClr val="DD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2002536"/>
            <a:ext cx="3566160" cy="164592"/>
          </a:xfrm>
          <a:prstGeom prst="rect">
            <a:avLst/>
          </a:prstGeom>
          <a:noFill/>
        </p:spPr>
        <p:txBody>
          <a:bodyPr wrap="square">
            <a:spAutoFit/>
          </a:bodyPr>
          <a:lstStyle/>
          <a:p>
            <a:pPr algn="l"/>
            <a:r>
              <a:rPr sz="950" b="1" i="0">
                <a:solidFill>
                  <a:srgbClr val="00478A"/>
                </a:solidFill>
              </a:rPr>
              <a:t>BinaxNOW  (Lateral Flow)</a:t>
            </a:r>
          </a:p>
        </p:txBody>
      </p:sp>
      <p:sp>
        <p:nvSpPr>
          <p:cNvPr id="13" name="TextBox 12"/>
          <p:cNvSpPr txBox="1"/>
          <p:nvPr/>
        </p:nvSpPr>
        <p:spPr>
          <a:xfrm>
            <a:off x="411479" y="2185416"/>
            <a:ext cx="3566160" cy="457200"/>
          </a:xfrm>
          <a:prstGeom prst="rect">
            <a:avLst/>
          </a:prstGeom>
          <a:noFill/>
        </p:spPr>
        <p:txBody>
          <a:bodyPr wrap="square">
            <a:spAutoFit/>
          </a:bodyPr>
          <a:lstStyle/>
          <a:p>
            <a:pPr algn="l"/>
            <a:r>
              <a:rPr sz="850" b="0" i="0">
                <a:solidFill>
                  <a:srgbClr val="2D2D2D"/>
                </a:solidFill>
              </a:rPr>
              <a:t>COVID-19, Flu A+B, COVID+Flu combo, Strep A, RSV
Professional-use + OTC self-test
Became a household name during COVID</a:t>
            </a:r>
          </a:p>
        </p:txBody>
      </p:sp>
      <p:sp>
        <p:nvSpPr>
          <p:cNvPr id="14" name="Rectangle 13"/>
          <p:cNvSpPr/>
          <p:nvPr/>
        </p:nvSpPr>
        <p:spPr>
          <a:xfrm>
            <a:off x="320040" y="2679192"/>
            <a:ext cx="3749039" cy="182880"/>
          </a:xfrm>
          <a:prstGeom prst="rect">
            <a:avLst/>
          </a:prstGeom>
          <a:solidFill>
            <a:srgbClr val="DD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79" y="2688336"/>
            <a:ext cx="3566160" cy="164592"/>
          </a:xfrm>
          <a:prstGeom prst="rect">
            <a:avLst/>
          </a:prstGeom>
          <a:noFill/>
        </p:spPr>
        <p:txBody>
          <a:bodyPr wrap="square">
            <a:spAutoFit/>
          </a:bodyPr>
          <a:lstStyle/>
          <a:p>
            <a:pPr algn="l"/>
            <a:r>
              <a:rPr sz="950" b="1" i="0">
                <a:solidFill>
                  <a:srgbClr val="00478A"/>
                </a:solidFill>
              </a:rPr>
              <a:t>ID NOW  (Rapid Molecular)</a:t>
            </a:r>
          </a:p>
        </p:txBody>
      </p:sp>
      <p:sp>
        <p:nvSpPr>
          <p:cNvPr id="16" name="TextBox 15"/>
          <p:cNvSpPr txBox="1"/>
          <p:nvPr/>
        </p:nvSpPr>
        <p:spPr>
          <a:xfrm>
            <a:off x="411479" y="2871216"/>
            <a:ext cx="3566160" cy="457200"/>
          </a:xfrm>
          <a:prstGeom prst="rect">
            <a:avLst/>
          </a:prstGeom>
          <a:noFill/>
        </p:spPr>
        <p:txBody>
          <a:bodyPr wrap="square">
            <a:spAutoFit/>
          </a:bodyPr>
          <a:lstStyle/>
          <a:p>
            <a:pPr algn="l"/>
            <a:r>
              <a:rPr sz="850" b="0" i="0">
                <a:solidFill>
                  <a:srgbClr val="2D2D2D"/>
                </a:solidFill>
              </a:rPr>
              <a:t>2–13 min; COVID, Flu, RSV, Strep A
ISLA/LAMP tech — faster than PCR
CLIA-waived for physician offices</a:t>
            </a:r>
          </a:p>
        </p:txBody>
      </p:sp>
      <p:sp>
        <p:nvSpPr>
          <p:cNvPr id="17" name="Rectangle 16"/>
          <p:cNvSpPr/>
          <p:nvPr/>
        </p:nvSpPr>
        <p:spPr>
          <a:xfrm>
            <a:off x="320040" y="3364992"/>
            <a:ext cx="3749039" cy="182880"/>
          </a:xfrm>
          <a:prstGeom prst="rect">
            <a:avLst/>
          </a:prstGeom>
          <a:solidFill>
            <a:srgbClr val="DD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3374136"/>
            <a:ext cx="3566160" cy="164592"/>
          </a:xfrm>
          <a:prstGeom prst="rect">
            <a:avLst/>
          </a:prstGeom>
          <a:noFill/>
        </p:spPr>
        <p:txBody>
          <a:bodyPr wrap="square">
            <a:spAutoFit/>
          </a:bodyPr>
          <a:lstStyle/>
          <a:p>
            <a:pPr algn="l"/>
            <a:r>
              <a:rPr sz="950" b="1" i="0">
                <a:solidFill>
                  <a:srgbClr val="00478A"/>
                </a:solidFill>
              </a:rPr>
              <a:t>Afinion 2  (Cardiometabolic)</a:t>
            </a:r>
          </a:p>
        </p:txBody>
      </p:sp>
      <p:sp>
        <p:nvSpPr>
          <p:cNvPr id="19" name="TextBox 18"/>
          <p:cNvSpPr txBox="1"/>
          <p:nvPr/>
        </p:nvSpPr>
        <p:spPr>
          <a:xfrm>
            <a:off x="411479" y="3557016"/>
            <a:ext cx="3566160" cy="457200"/>
          </a:xfrm>
          <a:prstGeom prst="rect">
            <a:avLst/>
          </a:prstGeom>
          <a:noFill/>
        </p:spPr>
        <p:txBody>
          <a:bodyPr wrap="square">
            <a:spAutoFit/>
          </a:bodyPr>
          <a:lstStyle/>
          <a:p>
            <a:pPr algn="l"/>
            <a:r>
              <a:rPr sz="850" b="0" i="0">
                <a:solidFill>
                  <a:srgbClr val="2D2D2D"/>
                </a:solidFill>
              </a:rPr>
              <a:t>HbA1c (diabetes), lipid panel, CRP, kidney
~3 min per cartridge
Physician offices, diabetes clinics</a:t>
            </a:r>
          </a:p>
        </p:txBody>
      </p:sp>
      <p:sp>
        <p:nvSpPr>
          <p:cNvPr id="20" name="Rectangle 19"/>
          <p:cNvSpPr/>
          <p:nvPr/>
        </p:nvSpPr>
        <p:spPr>
          <a:xfrm>
            <a:off x="320040" y="4050791"/>
            <a:ext cx="3749039" cy="182880"/>
          </a:xfrm>
          <a:prstGeom prst="rect">
            <a:avLst/>
          </a:prstGeom>
          <a:solidFill>
            <a:srgbClr val="DDE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79" y="4059935"/>
            <a:ext cx="3566160" cy="164592"/>
          </a:xfrm>
          <a:prstGeom prst="rect">
            <a:avLst/>
          </a:prstGeom>
          <a:noFill/>
        </p:spPr>
        <p:txBody>
          <a:bodyPr wrap="square">
            <a:spAutoFit/>
          </a:bodyPr>
          <a:lstStyle/>
          <a:p>
            <a:pPr algn="l"/>
            <a:r>
              <a:rPr sz="950" b="1" i="0">
                <a:solidFill>
                  <a:srgbClr val="00478A"/>
                </a:solidFill>
              </a:rPr>
              <a:t>Toxicology  (Alere Legacy)</a:t>
            </a:r>
          </a:p>
        </p:txBody>
      </p:sp>
      <p:sp>
        <p:nvSpPr>
          <p:cNvPr id="22" name="TextBox 21"/>
          <p:cNvSpPr txBox="1"/>
          <p:nvPr/>
        </p:nvSpPr>
        <p:spPr>
          <a:xfrm>
            <a:off x="411479" y="4242816"/>
            <a:ext cx="3566160" cy="457200"/>
          </a:xfrm>
          <a:prstGeom prst="rect">
            <a:avLst/>
          </a:prstGeom>
          <a:noFill/>
        </p:spPr>
        <p:txBody>
          <a:bodyPr wrap="square">
            <a:spAutoFit/>
          </a:bodyPr>
          <a:lstStyle/>
          <a:p>
            <a:pPr algn="l"/>
            <a:r>
              <a:rPr sz="850" b="0" i="0">
                <a:solidFill>
                  <a:srgbClr val="2D2D2D"/>
                </a:solidFill>
              </a:rPr>
              <a:t>iCup / iScreen — 3 to 12-panel urine drug screens
Pain clinics, occupational health, courts</a:t>
            </a:r>
          </a:p>
        </p:txBody>
      </p:sp>
      <p:sp>
        <p:nvSpPr>
          <p:cNvPr id="23" name="Rectangle 22"/>
          <p:cNvSpPr/>
          <p:nvPr/>
        </p:nvSpPr>
        <p:spPr>
          <a:xfrm>
            <a:off x="4251959" y="1627632"/>
            <a:ext cx="3749039" cy="320040"/>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61688" y="1673352"/>
            <a:ext cx="3566160" cy="256032"/>
          </a:xfrm>
          <a:prstGeom prst="rect">
            <a:avLst/>
          </a:prstGeom>
          <a:noFill/>
        </p:spPr>
        <p:txBody>
          <a:bodyPr wrap="square">
            <a:spAutoFit/>
          </a:bodyPr>
          <a:lstStyle/>
          <a:p>
            <a:pPr algn="l"/>
            <a:r>
              <a:rPr sz="1200" b="1" i="0">
                <a:solidFill>
                  <a:srgbClr val="FFFFFF"/>
                </a:solidFill>
              </a:rPr>
              <a:t>Developing / Global Markets</a:t>
            </a:r>
          </a:p>
        </p:txBody>
      </p:sp>
      <p:sp>
        <p:nvSpPr>
          <p:cNvPr id="25" name="Rectangle 24"/>
          <p:cNvSpPr/>
          <p:nvPr/>
        </p:nvSpPr>
        <p:spPr>
          <a:xfrm>
            <a:off x="4251959" y="1993392"/>
            <a:ext cx="3749039" cy="182880"/>
          </a:xfrm>
          <a:prstGeom prst="rect">
            <a:avLst/>
          </a:prstGeom>
          <a:solidFill>
            <a:srgbClr val="D5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399" y="2002536"/>
            <a:ext cx="3566160" cy="164592"/>
          </a:xfrm>
          <a:prstGeom prst="rect">
            <a:avLst/>
          </a:prstGeom>
          <a:noFill/>
        </p:spPr>
        <p:txBody>
          <a:bodyPr wrap="square">
            <a:spAutoFit/>
          </a:bodyPr>
          <a:lstStyle/>
          <a:p>
            <a:pPr algn="l"/>
            <a:r>
              <a:rPr sz="950" b="1" i="0">
                <a:solidFill>
                  <a:srgbClr val="4A90C4"/>
                </a:solidFill>
              </a:rPr>
              <a:t>Panbio  (International Brand)</a:t>
            </a:r>
          </a:p>
        </p:txBody>
      </p:sp>
      <p:sp>
        <p:nvSpPr>
          <p:cNvPr id="27" name="TextBox 26"/>
          <p:cNvSpPr txBox="1"/>
          <p:nvPr/>
        </p:nvSpPr>
        <p:spPr>
          <a:xfrm>
            <a:off x="4343399" y="2185416"/>
            <a:ext cx="3566160" cy="457200"/>
          </a:xfrm>
          <a:prstGeom prst="rect">
            <a:avLst/>
          </a:prstGeom>
          <a:noFill/>
        </p:spPr>
        <p:txBody>
          <a:bodyPr wrap="square">
            <a:spAutoFit/>
          </a:bodyPr>
          <a:lstStyle/>
          <a:p>
            <a:pPr algn="l"/>
            <a:r>
              <a:rPr sz="850" b="0" i="0">
                <a:solidFill>
                  <a:srgbClr val="2D2D2D"/>
                </a:solidFill>
              </a:rPr>
              <a:t>Same as BinaxNOW but for non-US markets
200M+ COVID tests shipped to 120 countries
Dengue, HIV Self Test, Malaria Ag</a:t>
            </a:r>
          </a:p>
        </p:txBody>
      </p:sp>
      <p:sp>
        <p:nvSpPr>
          <p:cNvPr id="28" name="Rectangle 27"/>
          <p:cNvSpPr/>
          <p:nvPr/>
        </p:nvSpPr>
        <p:spPr>
          <a:xfrm>
            <a:off x="4251959" y="2679192"/>
            <a:ext cx="3749039" cy="182880"/>
          </a:xfrm>
          <a:prstGeom prst="rect">
            <a:avLst/>
          </a:prstGeom>
          <a:solidFill>
            <a:srgbClr val="D5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399" y="2688336"/>
            <a:ext cx="3566160" cy="164592"/>
          </a:xfrm>
          <a:prstGeom prst="rect">
            <a:avLst/>
          </a:prstGeom>
          <a:noFill/>
        </p:spPr>
        <p:txBody>
          <a:bodyPr wrap="square">
            <a:spAutoFit/>
          </a:bodyPr>
          <a:lstStyle/>
          <a:p>
            <a:pPr algn="l"/>
            <a:r>
              <a:rPr sz="950" b="1" i="0">
                <a:solidFill>
                  <a:srgbClr val="4A90C4"/>
                </a:solidFill>
              </a:rPr>
              <a:t>Abbott-Bioline  (LMIC HIV/Malaria)</a:t>
            </a:r>
          </a:p>
        </p:txBody>
      </p:sp>
      <p:sp>
        <p:nvSpPr>
          <p:cNvPr id="30" name="TextBox 29"/>
          <p:cNvSpPr txBox="1"/>
          <p:nvPr/>
        </p:nvSpPr>
        <p:spPr>
          <a:xfrm>
            <a:off x="4343399" y="2871216"/>
            <a:ext cx="3566160" cy="457200"/>
          </a:xfrm>
          <a:prstGeom prst="rect">
            <a:avLst/>
          </a:prstGeom>
          <a:noFill/>
        </p:spPr>
        <p:txBody>
          <a:bodyPr wrap="square">
            <a:spAutoFit/>
          </a:bodyPr>
          <a:lstStyle/>
          <a:p>
            <a:pPr algn="l"/>
            <a:r>
              <a:rPr sz="850" b="0" i="0">
                <a:solidFill>
                  <a:srgbClr val="2D2D2D"/>
                </a:solidFill>
              </a:rPr>
              <a:t>HIV 1/2 rapid antibody tests
WHO prequalified — required for
Global Fund / PEPFAR procurement</a:t>
            </a:r>
          </a:p>
        </p:txBody>
      </p:sp>
      <p:sp>
        <p:nvSpPr>
          <p:cNvPr id="31" name="Rectangle 30"/>
          <p:cNvSpPr/>
          <p:nvPr/>
        </p:nvSpPr>
        <p:spPr>
          <a:xfrm>
            <a:off x="4251959" y="3364992"/>
            <a:ext cx="3749039" cy="182880"/>
          </a:xfrm>
          <a:prstGeom prst="rect">
            <a:avLst/>
          </a:prstGeom>
          <a:solidFill>
            <a:srgbClr val="D5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399" y="3374136"/>
            <a:ext cx="3566160" cy="164592"/>
          </a:xfrm>
          <a:prstGeom prst="rect">
            <a:avLst/>
          </a:prstGeom>
          <a:noFill/>
        </p:spPr>
        <p:txBody>
          <a:bodyPr wrap="square">
            <a:spAutoFit/>
          </a:bodyPr>
          <a:lstStyle/>
          <a:p>
            <a:pPr algn="l"/>
            <a:r>
              <a:rPr sz="950" b="1" i="0">
                <a:solidFill>
                  <a:srgbClr val="4A90C4"/>
                </a:solidFill>
              </a:rPr>
              <a:t>m-PIMA  (HIV Viral Load POC)</a:t>
            </a:r>
          </a:p>
        </p:txBody>
      </p:sp>
      <p:sp>
        <p:nvSpPr>
          <p:cNvPr id="33" name="TextBox 32"/>
          <p:cNvSpPr txBox="1"/>
          <p:nvPr/>
        </p:nvSpPr>
        <p:spPr>
          <a:xfrm>
            <a:off x="4343399" y="3557016"/>
            <a:ext cx="3566160" cy="457200"/>
          </a:xfrm>
          <a:prstGeom prst="rect">
            <a:avLst/>
          </a:prstGeom>
          <a:noFill/>
        </p:spPr>
        <p:txBody>
          <a:bodyPr wrap="square">
            <a:spAutoFit/>
          </a:bodyPr>
          <a:lstStyle/>
          <a:p>
            <a:pPr algn="l"/>
            <a:r>
              <a:rPr sz="850" b="0" i="0">
                <a:solidFill>
                  <a:srgbClr val="2D2D2D"/>
                </a:solidFill>
              </a:rPr>
              <a:t>WORLD'S FIRST WHO-prequalified
POC HIV viral load test
Battery-powered — for rural African clinics</a:t>
            </a:r>
          </a:p>
        </p:txBody>
      </p:sp>
      <p:sp>
        <p:nvSpPr>
          <p:cNvPr id="34" name="Rectangle 33"/>
          <p:cNvSpPr/>
          <p:nvPr/>
        </p:nvSpPr>
        <p:spPr>
          <a:xfrm>
            <a:off x="4251959" y="4050791"/>
            <a:ext cx="3749039" cy="182880"/>
          </a:xfrm>
          <a:prstGeom prst="rect">
            <a:avLst/>
          </a:prstGeom>
          <a:solidFill>
            <a:srgbClr val="D5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399" y="4059935"/>
            <a:ext cx="3566160" cy="164592"/>
          </a:xfrm>
          <a:prstGeom prst="rect">
            <a:avLst/>
          </a:prstGeom>
          <a:noFill/>
        </p:spPr>
        <p:txBody>
          <a:bodyPr wrap="square">
            <a:spAutoFit/>
          </a:bodyPr>
          <a:lstStyle/>
          <a:p>
            <a:pPr algn="l"/>
            <a:r>
              <a:rPr sz="950" b="1" i="0">
                <a:solidFill>
                  <a:srgbClr val="4A90C4"/>
                </a:solidFill>
              </a:rPr>
              <a:t>Cholestech LDX</a:t>
            </a:r>
          </a:p>
        </p:txBody>
      </p:sp>
      <p:sp>
        <p:nvSpPr>
          <p:cNvPr id="36" name="TextBox 35"/>
          <p:cNvSpPr txBox="1"/>
          <p:nvPr/>
        </p:nvSpPr>
        <p:spPr>
          <a:xfrm>
            <a:off x="4343399" y="4242816"/>
            <a:ext cx="3566160" cy="457200"/>
          </a:xfrm>
          <a:prstGeom prst="rect">
            <a:avLst/>
          </a:prstGeom>
          <a:noFill/>
        </p:spPr>
        <p:txBody>
          <a:bodyPr wrap="square">
            <a:spAutoFit/>
          </a:bodyPr>
          <a:lstStyle/>
          <a:p>
            <a:pPr algn="l"/>
            <a:r>
              <a:rPr sz="850" b="0" i="0">
                <a:solidFill>
                  <a:srgbClr val="2D2D2D"/>
                </a:solidFill>
              </a:rPr>
              <a:t>Lipid + glucose; 5-min result
Older product but large installed base</a:t>
            </a:r>
          </a:p>
        </p:txBody>
      </p:sp>
      <p:sp>
        <p:nvSpPr>
          <p:cNvPr id="37" name="Rectangle 36"/>
          <p:cNvSpPr/>
          <p:nvPr/>
        </p:nvSpPr>
        <p:spPr>
          <a:xfrm>
            <a:off x="8183879" y="1627632"/>
            <a:ext cx="3749039" cy="320040"/>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3607" y="1673352"/>
            <a:ext cx="3566160" cy="256032"/>
          </a:xfrm>
          <a:prstGeom prst="rect">
            <a:avLst/>
          </a:prstGeom>
          <a:noFill/>
        </p:spPr>
        <p:txBody>
          <a:bodyPr wrap="square">
            <a:spAutoFit/>
          </a:bodyPr>
          <a:lstStyle/>
          <a:p>
            <a:pPr algn="l"/>
            <a:r>
              <a:rPr sz="1200" b="1" i="0">
                <a:solidFill>
                  <a:srgbClr val="FFFFFF"/>
                </a:solidFill>
              </a:rPr>
              <a:t>Who Buys</a:t>
            </a:r>
          </a:p>
        </p:txBody>
      </p:sp>
      <p:sp>
        <p:nvSpPr>
          <p:cNvPr id="39" name="Rectangle 38"/>
          <p:cNvSpPr/>
          <p:nvPr/>
        </p:nvSpPr>
        <p:spPr>
          <a:xfrm>
            <a:off x="8183879" y="1993392"/>
            <a:ext cx="3749039" cy="182880"/>
          </a:xfrm>
          <a:prstGeom prst="rect">
            <a:avLst/>
          </a:prstGeom>
          <a:solidFill>
            <a:srgbClr val="D5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75319" y="2002536"/>
            <a:ext cx="3566160" cy="164592"/>
          </a:xfrm>
          <a:prstGeom prst="rect">
            <a:avLst/>
          </a:prstGeom>
          <a:noFill/>
        </p:spPr>
        <p:txBody>
          <a:bodyPr wrap="square">
            <a:spAutoFit/>
          </a:bodyPr>
          <a:lstStyle/>
          <a:p>
            <a:pPr algn="l"/>
            <a:r>
              <a:rPr sz="950" b="1" i="0">
                <a:solidFill>
                  <a:srgbClr val="008A4B"/>
                </a:solidFill>
              </a:rPr>
              <a:t>Physician Offices (US)</a:t>
            </a:r>
          </a:p>
        </p:txBody>
      </p:sp>
      <p:sp>
        <p:nvSpPr>
          <p:cNvPr id="41" name="TextBox 40"/>
          <p:cNvSpPr txBox="1"/>
          <p:nvPr/>
        </p:nvSpPr>
        <p:spPr>
          <a:xfrm>
            <a:off x="8275319" y="2185416"/>
            <a:ext cx="3566160" cy="457200"/>
          </a:xfrm>
          <a:prstGeom prst="rect">
            <a:avLst/>
          </a:prstGeom>
          <a:noFill/>
        </p:spPr>
        <p:txBody>
          <a:bodyPr wrap="square">
            <a:spAutoFit/>
          </a:bodyPr>
          <a:lstStyle/>
          <a:p>
            <a:pPr algn="l"/>
            <a:r>
              <a:rPr sz="850" b="0" i="0">
                <a:solidFill>
                  <a:srgbClr val="2D2D2D"/>
                </a:solidFill>
              </a:rPr>
              <a:t>Largest US volume buyer
BinaxNOW, ID NOW, Afinion, Toxicology</a:t>
            </a:r>
          </a:p>
        </p:txBody>
      </p:sp>
      <p:sp>
        <p:nvSpPr>
          <p:cNvPr id="42" name="Rectangle 41"/>
          <p:cNvSpPr/>
          <p:nvPr/>
        </p:nvSpPr>
        <p:spPr>
          <a:xfrm>
            <a:off x="8183879" y="2679192"/>
            <a:ext cx="3749039" cy="182880"/>
          </a:xfrm>
          <a:prstGeom prst="rect">
            <a:avLst/>
          </a:prstGeom>
          <a:solidFill>
            <a:srgbClr val="D5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19" y="2688336"/>
            <a:ext cx="3566160" cy="164592"/>
          </a:xfrm>
          <a:prstGeom prst="rect">
            <a:avLst/>
          </a:prstGeom>
          <a:noFill/>
        </p:spPr>
        <p:txBody>
          <a:bodyPr wrap="square">
            <a:spAutoFit/>
          </a:bodyPr>
          <a:lstStyle/>
          <a:p>
            <a:pPr algn="l"/>
            <a:r>
              <a:rPr sz="950" b="1" i="0">
                <a:solidFill>
                  <a:srgbClr val="008A4B"/>
                </a:solidFill>
              </a:rPr>
              <a:t>Urgent Care &amp; Retail Clinics</a:t>
            </a:r>
          </a:p>
        </p:txBody>
      </p:sp>
      <p:sp>
        <p:nvSpPr>
          <p:cNvPr id="44" name="TextBox 43"/>
          <p:cNvSpPr txBox="1"/>
          <p:nvPr/>
        </p:nvSpPr>
        <p:spPr>
          <a:xfrm>
            <a:off x="8275319" y="2871216"/>
            <a:ext cx="3566160" cy="457200"/>
          </a:xfrm>
          <a:prstGeom prst="rect">
            <a:avLst/>
          </a:prstGeom>
          <a:noFill/>
        </p:spPr>
        <p:txBody>
          <a:bodyPr wrap="square">
            <a:spAutoFit/>
          </a:bodyPr>
          <a:lstStyle/>
          <a:p>
            <a:pPr algn="l"/>
            <a:r>
              <a:rPr sz="850" b="0" i="0">
                <a:solidFill>
                  <a:srgbClr val="2D2D2D"/>
                </a:solidFill>
              </a:rPr>
              <a:t>ID NOW for same-visit prescribing
MinuteClinic, independent pharmacies</a:t>
            </a:r>
          </a:p>
        </p:txBody>
      </p:sp>
      <p:sp>
        <p:nvSpPr>
          <p:cNvPr id="45" name="Rectangle 44"/>
          <p:cNvSpPr/>
          <p:nvPr/>
        </p:nvSpPr>
        <p:spPr>
          <a:xfrm>
            <a:off x="8183879" y="3364992"/>
            <a:ext cx="3749039" cy="182880"/>
          </a:xfrm>
          <a:prstGeom prst="rect">
            <a:avLst/>
          </a:prstGeom>
          <a:solidFill>
            <a:srgbClr val="D5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75319" y="3374136"/>
            <a:ext cx="3566160" cy="164592"/>
          </a:xfrm>
          <a:prstGeom prst="rect">
            <a:avLst/>
          </a:prstGeom>
          <a:noFill/>
        </p:spPr>
        <p:txBody>
          <a:bodyPr wrap="square">
            <a:spAutoFit/>
          </a:bodyPr>
          <a:lstStyle/>
          <a:p>
            <a:pPr algn="l"/>
            <a:r>
              <a:rPr sz="950" b="1" i="0">
                <a:solidFill>
                  <a:srgbClr val="008A4B"/>
                </a:solidFill>
              </a:rPr>
              <a:t>Retail Pharmacy (OTC)</a:t>
            </a:r>
          </a:p>
        </p:txBody>
      </p:sp>
      <p:sp>
        <p:nvSpPr>
          <p:cNvPr id="47" name="TextBox 46"/>
          <p:cNvSpPr txBox="1"/>
          <p:nvPr/>
        </p:nvSpPr>
        <p:spPr>
          <a:xfrm>
            <a:off x="8275319" y="3557016"/>
            <a:ext cx="3566160" cy="457200"/>
          </a:xfrm>
          <a:prstGeom prst="rect">
            <a:avLst/>
          </a:prstGeom>
          <a:noFill/>
        </p:spPr>
        <p:txBody>
          <a:bodyPr wrap="square">
            <a:spAutoFit/>
          </a:bodyPr>
          <a:lstStyle/>
          <a:p>
            <a:pPr algn="l"/>
            <a:r>
              <a:rPr sz="850" b="0" i="0">
                <a:solidFill>
                  <a:srgbClr val="2D2D2D"/>
                </a:solidFill>
              </a:rPr>
              <a:t>BinaxNOW at CVS, Walgreens, Walmart</a:t>
            </a:r>
          </a:p>
        </p:txBody>
      </p:sp>
      <p:sp>
        <p:nvSpPr>
          <p:cNvPr id="48" name="Rectangle 47"/>
          <p:cNvSpPr/>
          <p:nvPr/>
        </p:nvSpPr>
        <p:spPr>
          <a:xfrm>
            <a:off x="8183879" y="4050791"/>
            <a:ext cx="3749039" cy="182880"/>
          </a:xfrm>
          <a:prstGeom prst="rect">
            <a:avLst/>
          </a:prstGeom>
          <a:solidFill>
            <a:srgbClr val="D5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75319" y="4059935"/>
            <a:ext cx="3566160" cy="164592"/>
          </a:xfrm>
          <a:prstGeom prst="rect">
            <a:avLst/>
          </a:prstGeom>
          <a:noFill/>
        </p:spPr>
        <p:txBody>
          <a:bodyPr wrap="square">
            <a:spAutoFit/>
          </a:bodyPr>
          <a:lstStyle/>
          <a:p>
            <a:pPr algn="l"/>
            <a:r>
              <a:rPr sz="950" b="1" i="0">
                <a:solidFill>
                  <a:srgbClr val="008A4B"/>
                </a:solidFill>
              </a:rPr>
              <a:t>Global Health Programs</a:t>
            </a:r>
          </a:p>
        </p:txBody>
      </p:sp>
      <p:sp>
        <p:nvSpPr>
          <p:cNvPr id="50" name="TextBox 49"/>
          <p:cNvSpPr txBox="1"/>
          <p:nvPr/>
        </p:nvSpPr>
        <p:spPr>
          <a:xfrm>
            <a:off x="8275319" y="4242816"/>
            <a:ext cx="3566160" cy="457200"/>
          </a:xfrm>
          <a:prstGeom prst="rect">
            <a:avLst/>
          </a:prstGeom>
          <a:noFill/>
        </p:spPr>
        <p:txBody>
          <a:bodyPr wrap="square">
            <a:spAutoFit/>
          </a:bodyPr>
          <a:lstStyle/>
          <a:p>
            <a:pPr algn="l"/>
            <a:r>
              <a:rPr sz="850" b="0" i="0">
                <a:solidFill>
                  <a:srgbClr val="2D2D2D"/>
                </a:solidFill>
              </a:rPr>
              <a:t>PEPFAR, Global Fund, UNICEF, USAID
Buy Panbio &amp; Bioline in bulk
WHO prequalification is the entry ticket</a:t>
            </a:r>
          </a:p>
        </p:txBody>
      </p:sp>
      <p:sp>
        <p:nvSpPr>
          <p:cNvPr id="51" name="Rectangle 50"/>
          <p:cNvSpPr/>
          <p:nvPr/>
        </p:nvSpPr>
        <p:spPr>
          <a:xfrm>
            <a:off x="8183879" y="4736592"/>
            <a:ext cx="3749039" cy="182880"/>
          </a:xfrm>
          <a:prstGeom prst="rect">
            <a:avLst/>
          </a:prstGeom>
          <a:solidFill>
            <a:srgbClr val="D5EE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75319" y="4745736"/>
            <a:ext cx="3566160" cy="164592"/>
          </a:xfrm>
          <a:prstGeom prst="rect">
            <a:avLst/>
          </a:prstGeom>
          <a:noFill/>
        </p:spPr>
        <p:txBody>
          <a:bodyPr wrap="square">
            <a:spAutoFit/>
          </a:bodyPr>
          <a:lstStyle/>
          <a:p>
            <a:pPr algn="l"/>
            <a:r>
              <a:rPr sz="950" b="1" i="0">
                <a:solidFill>
                  <a:srgbClr val="008A4B"/>
                </a:solidFill>
              </a:rPr>
              <a:t>Governments (stockpiling)</a:t>
            </a:r>
          </a:p>
        </p:txBody>
      </p:sp>
      <p:sp>
        <p:nvSpPr>
          <p:cNvPr id="53" name="TextBox 52"/>
          <p:cNvSpPr txBox="1"/>
          <p:nvPr/>
        </p:nvSpPr>
        <p:spPr>
          <a:xfrm>
            <a:off x="8275319" y="4928616"/>
            <a:ext cx="3566160" cy="457200"/>
          </a:xfrm>
          <a:prstGeom prst="rect">
            <a:avLst/>
          </a:prstGeom>
          <a:noFill/>
        </p:spPr>
        <p:txBody>
          <a:bodyPr wrap="square">
            <a:spAutoFit/>
          </a:bodyPr>
          <a:lstStyle/>
          <a:p>
            <a:pPr algn="l"/>
            <a:r>
              <a:rPr sz="850" b="0" i="0">
                <a:solidFill>
                  <a:srgbClr val="2D2D2D"/>
                </a:solidFill>
              </a:rPr>
              <a:t>US HHS/BARDA, EU governments bought
hundreds of millions during COVID</a:t>
            </a:r>
          </a:p>
        </p:txBody>
      </p:sp>
      <p:sp>
        <p:nvSpPr>
          <p:cNvPr id="54" name="Rectangle 53"/>
          <p:cNvSpPr/>
          <p:nvPr/>
        </p:nvSpPr>
        <p:spPr>
          <a:xfrm>
            <a:off x="320040" y="5989320"/>
            <a:ext cx="11521440" cy="640080"/>
          </a:xfrm>
          <a:prstGeom prst="rect">
            <a:avLst/>
          </a:prstGeom>
          <a:solidFill>
            <a:srgbClr val="FF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02920" y="6035040"/>
            <a:ext cx="3657600" cy="228600"/>
          </a:xfrm>
          <a:prstGeom prst="rect">
            <a:avLst/>
          </a:prstGeom>
          <a:noFill/>
        </p:spPr>
        <p:txBody>
          <a:bodyPr wrap="square">
            <a:spAutoFit/>
          </a:bodyPr>
          <a:lstStyle/>
          <a:p>
            <a:pPr algn="l"/>
            <a:r>
              <a:rPr sz="1100" b="1" i="0">
                <a:solidFill>
                  <a:srgbClr val="E87D1E"/>
                </a:solidFill>
              </a:rPr>
              <a:t>⚠️  Key Risks in This Segment</a:t>
            </a:r>
          </a:p>
        </p:txBody>
      </p:sp>
      <p:sp>
        <p:nvSpPr>
          <p:cNvPr id="56" name="TextBox 55"/>
          <p:cNvSpPr txBox="1"/>
          <p:nvPr/>
        </p:nvSpPr>
        <p:spPr>
          <a:xfrm>
            <a:off x="502920" y="6263640"/>
            <a:ext cx="11155680" cy="347472"/>
          </a:xfrm>
          <a:prstGeom prst="rect">
            <a:avLst/>
          </a:prstGeom>
          <a:noFill/>
        </p:spPr>
        <p:txBody>
          <a:bodyPr wrap="square">
            <a:spAutoFit/>
          </a:bodyPr>
          <a:lstStyle/>
          <a:p>
            <a:pPr algn="l"/>
            <a:r>
              <a:rPr sz="950" b="0" i="0">
                <a:solidFill>
                  <a:srgbClr val="2D2D2D"/>
                </a:solidFill>
              </a:rPr>
              <a:t>ID NOW sensitivity (~85–91% for COVID vs PCR's 95–99%) was controversial early on; Cepheid GeneXpert has a broader menu. Abbott-Bioline malaria test sensitivity questioned in 2025 publication — could affect WHO/Global Fund procurement. Roche acquired LumiraDx (July 2024) — now a stronger multi-analyte cardiometabolic POC rival.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The Competitive Landscape</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Abbott is #2 globally in IVD — Roche leads, Danaher/Siemens close behind</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TextBox 7"/>
          <p:cNvSpPr txBox="1"/>
          <p:nvPr/>
        </p:nvSpPr>
        <p:spPr>
          <a:xfrm>
            <a:off x="365760" y="1143000"/>
            <a:ext cx="10972800" cy="274320"/>
          </a:xfrm>
          <a:prstGeom prst="rect">
            <a:avLst/>
          </a:prstGeom>
          <a:noFill/>
        </p:spPr>
        <p:txBody>
          <a:bodyPr wrap="square">
            <a:spAutoFit/>
          </a:bodyPr>
          <a:lstStyle/>
          <a:p>
            <a:pPr algn="l"/>
            <a:r>
              <a:rPr sz="1300" b="1" i="0">
                <a:solidFill>
                  <a:srgbClr val="00478A"/>
                </a:solidFill>
              </a:rPr>
              <a:t>Global IVD Market  (~$82B in 2024, growing ~5–6%/yr)</a:t>
            </a:r>
          </a:p>
        </p:txBody>
      </p:sp>
      <p:sp>
        <p:nvSpPr>
          <p:cNvPr id="9" name="Rectangle 8"/>
          <p:cNvSpPr/>
          <p:nvPr/>
        </p:nvSpPr>
        <p:spPr>
          <a:xfrm>
            <a:off x="320040" y="1463040"/>
            <a:ext cx="54864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 y="1517904"/>
            <a:ext cx="438912" cy="256031"/>
          </a:xfrm>
          <a:prstGeom prst="rect">
            <a:avLst/>
          </a:prstGeom>
          <a:noFill/>
        </p:spPr>
        <p:txBody>
          <a:bodyPr wrap="square">
            <a:spAutoFit/>
          </a:bodyPr>
          <a:lstStyle/>
          <a:p>
            <a:pPr algn="ctr"/>
            <a:r>
              <a:rPr sz="1000" b="1" i="0">
                <a:solidFill>
                  <a:srgbClr val="FFFFFF"/>
                </a:solidFill>
              </a:rPr>
              <a:t>Rank</a:t>
            </a:r>
          </a:p>
        </p:txBody>
      </p:sp>
      <p:sp>
        <p:nvSpPr>
          <p:cNvPr id="11" name="Rectangle 10"/>
          <p:cNvSpPr/>
          <p:nvPr/>
        </p:nvSpPr>
        <p:spPr>
          <a:xfrm>
            <a:off x="868680" y="1463040"/>
            <a:ext cx="228600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1517904"/>
            <a:ext cx="2176272" cy="256031"/>
          </a:xfrm>
          <a:prstGeom prst="rect">
            <a:avLst/>
          </a:prstGeom>
          <a:noFill/>
        </p:spPr>
        <p:txBody>
          <a:bodyPr wrap="square">
            <a:spAutoFit/>
          </a:bodyPr>
          <a:lstStyle/>
          <a:p>
            <a:pPr algn="ctr"/>
            <a:r>
              <a:rPr sz="1000" b="1" i="0">
                <a:solidFill>
                  <a:srgbClr val="FFFFFF"/>
                </a:solidFill>
              </a:rPr>
              <a:t>Company</a:t>
            </a:r>
          </a:p>
        </p:txBody>
      </p:sp>
      <p:sp>
        <p:nvSpPr>
          <p:cNvPr id="13" name="Rectangle 12"/>
          <p:cNvSpPr/>
          <p:nvPr/>
        </p:nvSpPr>
        <p:spPr>
          <a:xfrm>
            <a:off x="3154680" y="1463040"/>
            <a:ext cx="128016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9544" y="1517904"/>
            <a:ext cx="1170431" cy="256031"/>
          </a:xfrm>
          <a:prstGeom prst="rect">
            <a:avLst/>
          </a:prstGeom>
          <a:noFill/>
        </p:spPr>
        <p:txBody>
          <a:bodyPr wrap="square">
            <a:spAutoFit/>
          </a:bodyPr>
          <a:lstStyle/>
          <a:p>
            <a:pPr algn="ctr"/>
            <a:r>
              <a:rPr sz="1000" b="1" i="0">
                <a:solidFill>
                  <a:srgbClr val="FFFFFF"/>
                </a:solidFill>
              </a:rPr>
              <a:t>IVD Revenue</a:t>
            </a:r>
          </a:p>
        </p:txBody>
      </p:sp>
      <p:sp>
        <p:nvSpPr>
          <p:cNvPr id="15" name="Rectangle 14"/>
          <p:cNvSpPr/>
          <p:nvPr/>
        </p:nvSpPr>
        <p:spPr>
          <a:xfrm>
            <a:off x="4434840" y="1463040"/>
            <a:ext cx="393192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3" y="1517904"/>
            <a:ext cx="3822191" cy="256031"/>
          </a:xfrm>
          <a:prstGeom prst="rect">
            <a:avLst/>
          </a:prstGeom>
          <a:noFill/>
        </p:spPr>
        <p:txBody>
          <a:bodyPr wrap="square">
            <a:spAutoFit/>
          </a:bodyPr>
          <a:lstStyle/>
          <a:p>
            <a:pPr algn="ctr"/>
            <a:r>
              <a:rPr sz="1000" b="1" i="0">
                <a:solidFill>
                  <a:srgbClr val="FFFFFF"/>
                </a:solidFill>
              </a:rPr>
              <a:t>Key Strengths</a:t>
            </a:r>
          </a:p>
        </p:txBody>
      </p:sp>
      <p:sp>
        <p:nvSpPr>
          <p:cNvPr id="17" name="Rectangle 16"/>
          <p:cNvSpPr/>
          <p:nvPr/>
        </p:nvSpPr>
        <p:spPr>
          <a:xfrm>
            <a:off x="8366759" y="1463040"/>
            <a:ext cx="3474720" cy="329184"/>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21624" y="1517904"/>
            <a:ext cx="3364991" cy="256031"/>
          </a:xfrm>
          <a:prstGeom prst="rect">
            <a:avLst/>
          </a:prstGeom>
          <a:noFill/>
        </p:spPr>
        <p:txBody>
          <a:bodyPr wrap="square">
            <a:spAutoFit/>
          </a:bodyPr>
          <a:lstStyle/>
          <a:p>
            <a:pPr algn="ctr"/>
            <a:r>
              <a:rPr sz="1000" b="1" i="0">
                <a:solidFill>
                  <a:srgbClr val="FFFFFF"/>
                </a:solidFill>
              </a:rPr>
              <a:t>Where They Beat Abbott</a:t>
            </a:r>
          </a:p>
        </p:txBody>
      </p:sp>
      <p:sp>
        <p:nvSpPr>
          <p:cNvPr id="19" name="Rectangle 18"/>
          <p:cNvSpPr/>
          <p:nvPr/>
        </p:nvSpPr>
        <p:spPr>
          <a:xfrm>
            <a:off x="320040" y="1792224"/>
            <a:ext cx="54864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4" y="1837943"/>
            <a:ext cx="438912" cy="256031"/>
          </a:xfrm>
          <a:prstGeom prst="rect">
            <a:avLst/>
          </a:prstGeom>
          <a:noFill/>
        </p:spPr>
        <p:txBody>
          <a:bodyPr wrap="square">
            <a:spAutoFit/>
          </a:bodyPr>
          <a:lstStyle/>
          <a:p>
            <a:pPr algn="l"/>
            <a:r>
              <a:rPr sz="900" b="0" i="0">
                <a:solidFill>
                  <a:srgbClr val="2D2D2D"/>
                </a:solidFill>
              </a:rPr>
              <a:t>#1</a:t>
            </a:r>
          </a:p>
        </p:txBody>
      </p:sp>
      <p:sp>
        <p:nvSpPr>
          <p:cNvPr id="21" name="Rectangle 20"/>
          <p:cNvSpPr/>
          <p:nvPr/>
        </p:nvSpPr>
        <p:spPr>
          <a:xfrm>
            <a:off x="868680" y="1792224"/>
            <a:ext cx="22860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 y="1837943"/>
            <a:ext cx="2176272" cy="256031"/>
          </a:xfrm>
          <a:prstGeom prst="rect">
            <a:avLst/>
          </a:prstGeom>
          <a:noFill/>
        </p:spPr>
        <p:txBody>
          <a:bodyPr wrap="square">
            <a:spAutoFit/>
          </a:bodyPr>
          <a:lstStyle/>
          <a:p>
            <a:pPr algn="ctr"/>
            <a:r>
              <a:rPr sz="900" b="0" i="0">
                <a:solidFill>
                  <a:srgbClr val="2D2D2D"/>
                </a:solidFill>
              </a:rPr>
              <a:t>Roche Diagnostics</a:t>
            </a:r>
          </a:p>
        </p:txBody>
      </p:sp>
      <p:sp>
        <p:nvSpPr>
          <p:cNvPr id="23" name="Rectangle 22"/>
          <p:cNvSpPr/>
          <p:nvPr/>
        </p:nvSpPr>
        <p:spPr>
          <a:xfrm>
            <a:off x="3154680" y="1792224"/>
            <a:ext cx="12801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9544" y="1837943"/>
            <a:ext cx="1170431" cy="256031"/>
          </a:xfrm>
          <a:prstGeom prst="rect">
            <a:avLst/>
          </a:prstGeom>
          <a:noFill/>
        </p:spPr>
        <p:txBody>
          <a:bodyPr wrap="square">
            <a:spAutoFit/>
          </a:bodyPr>
          <a:lstStyle/>
          <a:p>
            <a:pPr algn="ctr"/>
            <a:r>
              <a:rPr sz="900" b="0" i="0">
                <a:solidFill>
                  <a:srgbClr val="2D2D2D"/>
                </a:solidFill>
              </a:rPr>
              <a:t>~$14B</a:t>
            </a:r>
          </a:p>
        </p:txBody>
      </p:sp>
      <p:sp>
        <p:nvSpPr>
          <p:cNvPr id="25" name="Rectangle 24"/>
          <p:cNvSpPr/>
          <p:nvPr/>
        </p:nvSpPr>
        <p:spPr>
          <a:xfrm>
            <a:off x="4434840" y="1792224"/>
            <a:ext cx="39319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3" y="1837943"/>
            <a:ext cx="3822191" cy="256031"/>
          </a:xfrm>
          <a:prstGeom prst="rect">
            <a:avLst/>
          </a:prstGeom>
          <a:noFill/>
        </p:spPr>
        <p:txBody>
          <a:bodyPr wrap="square">
            <a:spAutoFit/>
          </a:bodyPr>
          <a:lstStyle/>
          <a:p>
            <a:pPr algn="ctr"/>
            <a:r>
              <a:rPr sz="900" b="0" i="0">
                <a:solidFill>
                  <a:srgbClr val="2D2D2D"/>
                </a:solidFill>
              </a:rPr>
              <a:t>Everything — immunoassay, molecular, tissue pathology, cobas platform</a:t>
            </a:r>
          </a:p>
        </p:txBody>
      </p:sp>
      <p:sp>
        <p:nvSpPr>
          <p:cNvPr id="27" name="Rectangle 26"/>
          <p:cNvSpPr/>
          <p:nvPr/>
        </p:nvSpPr>
        <p:spPr>
          <a:xfrm>
            <a:off x="8366759" y="1792224"/>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21624" y="1837943"/>
            <a:ext cx="3364991" cy="256031"/>
          </a:xfrm>
          <a:prstGeom prst="rect">
            <a:avLst/>
          </a:prstGeom>
          <a:noFill/>
        </p:spPr>
        <p:txBody>
          <a:bodyPr wrap="square">
            <a:spAutoFit/>
          </a:bodyPr>
          <a:lstStyle/>
          <a:p>
            <a:pPr algn="ctr"/>
            <a:r>
              <a:rPr sz="900" b="0" i="0">
                <a:solidFill>
                  <a:srgbClr val="2D2D2D"/>
                </a:solidFill>
              </a:rPr>
              <a:t>Higher throughput immunoassay; Foundation Medicine NGS; Tissue/pathology</a:t>
            </a:r>
          </a:p>
        </p:txBody>
      </p:sp>
      <p:sp>
        <p:nvSpPr>
          <p:cNvPr id="29" name="Rectangle 28"/>
          <p:cNvSpPr/>
          <p:nvPr/>
        </p:nvSpPr>
        <p:spPr>
          <a:xfrm>
            <a:off x="320040" y="2121408"/>
            <a:ext cx="54864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2167128"/>
            <a:ext cx="438912" cy="256031"/>
          </a:xfrm>
          <a:prstGeom prst="rect">
            <a:avLst/>
          </a:prstGeom>
          <a:noFill/>
        </p:spPr>
        <p:txBody>
          <a:bodyPr wrap="square">
            <a:spAutoFit/>
          </a:bodyPr>
          <a:lstStyle/>
          <a:p>
            <a:pPr algn="l"/>
            <a:r>
              <a:rPr sz="900" b="0" i="0">
                <a:solidFill>
                  <a:srgbClr val="2D2D2D"/>
                </a:solidFill>
              </a:rPr>
              <a:t>#2</a:t>
            </a:r>
          </a:p>
        </p:txBody>
      </p:sp>
      <p:sp>
        <p:nvSpPr>
          <p:cNvPr id="31" name="Rectangle 30"/>
          <p:cNvSpPr/>
          <p:nvPr/>
        </p:nvSpPr>
        <p:spPr>
          <a:xfrm>
            <a:off x="868680" y="2121408"/>
            <a:ext cx="22860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2167128"/>
            <a:ext cx="2176272" cy="256031"/>
          </a:xfrm>
          <a:prstGeom prst="rect">
            <a:avLst/>
          </a:prstGeom>
          <a:noFill/>
        </p:spPr>
        <p:txBody>
          <a:bodyPr wrap="square">
            <a:spAutoFit/>
          </a:bodyPr>
          <a:lstStyle/>
          <a:p>
            <a:pPr algn="ctr"/>
            <a:r>
              <a:rPr sz="900" b="0" i="0">
                <a:solidFill>
                  <a:srgbClr val="2D2D2D"/>
                </a:solidFill>
              </a:rPr>
              <a:t>Abbott Diagnostics</a:t>
            </a:r>
          </a:p>
        </p:txBody>
      </p:sp>
      <p:sp>
        <p:nvSpPr>
          <p:cNvPr id="33" name="Rectangle 32"/>
          <p:cNvSpPr/>
          <p:nvPr/>
        </p:nvSpPr>
        <p:spPr>
          <a:xfrm>
            <a:off x="3154680" y="2121408"/>
            <a:ext cx="12801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9544" y="2167128"/>
            <a:ext cx="1170431" cy="256031"/>
          </a:xfrm>
          <a:prstGeom prst="rect">
            <a:avLst/>
          </a:prstGeom>
          <a:noFill/>
        </p:spPr>
        <p:txBody>
          <a:bodyPr wrap="square">
            <a:spAutoFit/>
          </a:bodyPr>
          <a:lstStyle/>
          <a:p>
            <a:pPr algn="ctr"/>
            <a:r>
              <a:rPr sz="900" b="0" i="0">
                <a:solidFill>
                  <a:srgbClr val="2D2D2D"/>
                </a:solidFill>
              </a:rPr>
              <a:t>$9.3B</a:t>
            </a:r>
          </a:p>
        </p:txBody>
      </p:sp>
      <p:sp>
        <p:nvSpPr>
          <p:cNvPr id="35" name="Rectangle 34"/>
          <p:cNvSpPr/>
          <p:nvPr/>
        </p:nvSpPr>
        <p:spPr>
          <a:xfrm>
            <a:off x="4434840" y="2121408"/>
            <a:ext cx="39319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3" y="2167128"/>
            <a:ext cx="3822191" cy="256031"/>
          </a:xfrm>
          <a:prstGeom prst="rect">
            <a:avLst/>
          </a:prstGeom>
          <a:noFill/>
        </p:spPr>
        <p:txBody>
          <a:bodyPr wrap="square">
            <a:spAutoFit/>
          </a:bodyPr>
          <a:lstStyle/>
          <a:p>
            <a:pPr algn="ctr"/>
            <a:r>
              <a:rPr sz="900" b="0" i="0">
                <a:solidFill>
                  <a:srgbClr val="2D2D2D"/>
                </a:solidFill>
              </a:rPr>
              <a:t>Core Lab breadth (Alinity), POC leadership (i-STAT), Rapid Dx scale</a:t>
            </a:r>
          </a:p>
        </p:txBody>
      </p:sp>
      <p:sp>
        <p:nvSpPr>
          <p:cNvPr id="37" name="Rectangle 36"/>
          <p:cNvSpPr/>
          <p:nvPr/>
        </p:nvSpPr>
        <p:spPr>
          <a:xfrm>
            <a:off x="8366759" y="2121408"/>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21624" y="2167128"/>
            <a:ext cx="3364991" cy="256031"/>
          </a:xfrm>
          <a:prstGeom prst="rect">
            <a:avLst/>
          </a:prstGeom>
          <a:noFill/>
        </p:spPr>
        <p:txBody>
          <a:bodyPr wrap="square">
            <a:spAutoFit/>
          </a:bodyPr>
          <a:lstStyle/>
          <a:p>
            <a:pPr algn="ctr"/>
            <a:r>
              <a:rPr sz="900" b="0" i="0">
                <a:solidFill>
                  <a:srgbClr val="2D2D2D"/>
                </a:solidFill>
              </a:rPr>
              <a:t>— (this is Abbott)</a:t>
            </a:r>
          </a:p>
        </p:txBody>
      </p:sp>
      <p:sp>
        <p:nvSpPr>
          <p:cNvPr id="39" name="Rectangle 38"/>
          <p:cNvSpPr/>
          <p:nvPr/>
        </p:nvSpPr>
        <p:spPr>
          <a:xfrm>
            <a:off x="320040" y="2450592"/>
            <a:ext cx="54864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4904" y="2496312"/>
            <a:ext cx="438912" cy="256031"/>
          </a:xfrm>
          <a:prstGeom prst="rect">
            <a:avLst/>
          </a:prstGeom>
          <a:noFill/>
        </p:spPr>
        <p:txBody>
          <a:bodyPr wrap="square">
            <a:spAutoFit/>
          </a:bodyPr>
          <a:lstStyle/>
          <a:p>
            <a:pPr algn="l"/>
            <a:r>
              <a:rPr sz="900" b="0" i="0">
                <a:solidFill>
                  <a:srgbClr val="2D2D2D"/>
                </a:solidFill>
              </a:rPr>
              <a:t>#3</a:t>
            </a:r>
          </a:p>
        </p:txBody>
      </p:sp>
      <p:sp>
        <p:nvSpPr>
          <p:cNvPr id="41" name="Rectangle 40"/>
          <p:cNvSpPr/>
          <p:nvPr/>
        </p:nvSpPr>
        <p:spPr>
          <a:xfrm>
            <a:off x="868680" y="2450592"/>
            <a:ext cx="22860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 y="2496312"/>
            <a:ext cx="2176272" cy="256031"/>
          </a:xfrm>
          <a:prstGeom prst="rect">
            <a:avLst/>
          </a:prstGeom>
          <a:noFill/>
        </p:spPr>
        <p:txBody>
          <a:bodyPr wrap="square">
            <a:spAutoFit/>
          </a:bodyPr>
          <a:lstStyle/>
          <a:p>
            <a:pPr algn="ctr"/>
            <a:r>
              <a:rPr sz="900" b="0" i="0">
                <a:solidFill>
                  <a:srgbClr val="2D2D2D"/>
                </a:solidFill>
              </a:rPr>
              <a:t>Danaher
(Beckman/Cepheid/Radiometer)</a:t>
            </a:r>
          </a:p>
        </p:txBody>
      </p:sp>
      <p:sp>
        <p:nvSpPr>
          <p:cNvPr id="43" name="Rectangle 42"/>
          <p:cNvSpPr/>
          <p:nvPr/>
        </p:nvSpPr>
        <p:spPr>
          <a:xfrm>
            <a:off x="3154680" y="2450592"/>
            <a:ext cx="12801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9544" y="2496312"/>
            <a:ext cx="1170431" cy="256031"/>
          </a:xfrm>
          <a:prstGeom prst="rect">
            <a:avLst/>
          </a:prstGeom>
          <a:noFill/>
        </p:spPr>
        <p:txBody>
          <a:bodyPr wrap="square">
            <a:spAutoFit/>
          </a:bodyPr>
          <a:lstStyle/>
          <a:p>
            <a:pPr algn="ctr"/>
            <a:r>
              <a:rPr sz="900" b="0" i="0">
                <a:solidFill>
                  <a:srgbClr val="2D2D2D"/>
                </a:solidFill>
              </a:rPr>
              <a:t>~$9B</a:t>
            </a:r>
          </a:p>
        </p:txBody>
      </p:sp>
      <p:sp>
        <p:nvSpPr>
          <p:cNvPr id="45" name="Rectangle 44"/>
          <p:cNvSpPr/>
          <p:nvPr/>
        </p:nvSpPr>
        <p:spPr>
          <a:xfrm>
            <a:off x="4434840" y="2450592"/>
            <a:ext cx="39319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9703" y="2496312"/>
            <a:ext cx="3822191" cy="256031"/>
          </a:xfrm>
          <a:prstGeom prst="rect">
            <a:avLst/>
          </a:prstGeom>
          <a:noFill/>
        </p:spPr>
        <p:txBody>
          <a:bodyPr wrap="square">
            <a:spAutoFit/>
          </a:bodyPr>
          <a:lstStyle/>
          <a:p>
            <a:pPr algn="ctr"/>
            <a:r>
              <a:rPr sz="900" b="0" i="0">
                <a:solidFill>
                  <a:srgbClr val="2D2D2D"/>
                </a:solidFill>
              </a:rPr>
              <a:t>Beckman clinical chemistry/IA, Cepheid molecular POC, Radiometer critical care</a:t>
            </a:r>
          </a:p>
        </p:txBody>
      </p:sp>
      <p:sp>
        <p:nvSpPr>
          <p:cNvPr id="47" name="Rectangle 46"/>
          <p:cNvSpPr/>
          <p:nvPr/>
        </p:nvSpPr>
        <p:spPr>
          <a:xfrm>
            <a:off x="8366759" y="2450592"/>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21624" y="2496312"/>
            <a:ext cx="3364991" cy="256031"/>
          </a:xfrm>
          <a:prstGeom prst="rect">
            <a:avLst/>
          </a:prstGeom>
          <a:noFill/>
        </p:spPr>
        <p:txBody>
          <a:bodyPr wrap="square">
            <a:spAutoFit/>
          </a:bodyPr>
          <a:lstStyle/>
          <a:p>
            <a:pPr algn="ctr"/>
            <a:r>
              <a:rPr sz="900" b="0" i="0">
                <a:solidFill>
                  <a:srgbClr val="2D2D2D"/>
                </a:solidFill>
              </a:rPr>
              <a:t>Cepheid GeneXpert menu at POC; Sysmex hematology</a:t>
            </a:r>
          </a:p>
        </p:txBody>
      </p:sp>
      <p:sp>
        <p:nvSpPr>
          <p:cNvPr id="49" name="Rectangle 48"/>
          <p:cNvSpPr/>
          <p:nvPr/>
        </p:nvSpPr>
        <p:spPr>
          <a:xfrm>
            <a:off x="320040" y="2779776"/>
            <a:ext cx="54864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4904" y="2825496"/>
            <a:ext cx="438912" cy="256031"/>
          </a:xfrm>
          <a:prstGeom prst="rect">
            <a:avLst/>
          </a:prstGeom>
          <a:noFill/>
        </p:spPr>
        <p:txBody>
          <a:bodyPr wrap="square">
            <a:spAutoFit/>
          </a:bodyPr>
          <a:lstStyle/>
          <a:p>
            <a:pPr algn="l"/>
            <a:r>
              <a:rPr sz="900" b="0" i="0">
                <a:solidFill>
                  <a:srgbClr val="2D2D2D"/>
                </a:solidFill>
              </a:rPr>
              <a:t>#4</a:t>
            </a:r>
          </a:p>
        </p:txBody>
      </p:sp>
      <p:sp>
        <p:nvSpPr>
          <p:cNvPr id="51" name="Rectangle 50"/>
          <p:cNvSpPr/>
          <p:nvPr/>
        </p:nvSpPr>
        <p:spPr>
          <a:xfrm>
            <a:off x="868680" y="2779776"/>
            <a:ext cx="22860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 y="2825496"/>
            <a:ext cx="2176272" cy="256031"/>
          </a:xfrm>
          <a:prstGeom prst="rect">
            <a:avLst/>
          </a:prstGeom>
          <a:noFill/>
        </p:spPr>
        <p:txBody>
          <a:bodyPr wrap="square">
            <a:spAutoFit/>
          </a:bodyPr>
          <a:lstStyle/>
          <a:p>
            <a:pPr algn="ctr"/>
            <a:r>
              <a:rPr sz="900" b="0" i="0">
                <a:solidFill>
                  <a:srgbClr val="2D2D2D"/>
                </a:solidFill>
              </a:rPr>
              <a:t>Siemens Healthineers</a:t>
            </a:r>
          </a:p>
        </p:txBody>
      </p:sp>
      <p:sp>
        <p:nvSpPr>
          <p:cNvPr id="53" name="Rectangle 52"/>
          <p:cNvSpPr/>
          <p:nvPr/>
        </p:nvSpPr>
        <p:spPr>
          <a:xfrm>
            <a:off x="3154680" y="2779776"/>
            <a:ext cx="12801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9544" y="2825496"/>
            <a:ext cx="1170431" cy="256031"/>
          </a:xfrm>
          <a:prstGeom prst="rect">
            <a:avLst/>
          </a:prstGeom>
          <a:noFill/>
        </p:spPr>
        <p:txBody>
          <a:bodyPr wrap="square">
            <a:spAutoFit/>
          </a:bodyPr>
          <a:lstStyle/>
          <a:p>
            <a:pPr algn="ctr"/>
            <a:r>
              <a:rPr sz="900" b="0" i="0">
                <a:solidFill>
                  <a:srgbClr val="2D2D2D"/>
                </a:solidFill>
              </a:rPr>
              <a:t>~$6–7B</a:t>
            </a:r>
          </a:p>
        </p:txBody>
      </p:sp>
      <p:sp>
        <p:nvSpPr>
          <p:cNvPr id="55" name="Rectangle 54"/>
          <p:cNvSpPr/>
          <p:nvPr/>
        </p:nvSpPr>
        <p:spPr>
          <a:xfrm>
            <a:off x="4434840" y="2779776"/>
            <a:ext cx="39319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9703" y="2825496"/>
            <a:ext cx="3822191" cy="256031"/>
          </a:xfrm>
          <a:prstGeom prst="rect">
            <a:avLst/>
          </a:prstGeom>
          <a:noFill/>
        </p:spPr>
        <p:txBody>
          <a:bodyPr wrap="square">
            <a:spAutoFit/>
          </a:bodyPr>
          <a:lstStyle/>
          <a:p>
            <a:pPr algn="ctr"/>
            <a:r>
              <a:rPr sz="900" b="0" i="0">
                <a:solidFill>
                  <a:srgbClr val="2D2D2D"/>
                </a:solidFill>
              </a:rPr>
              <a:t>Atellica platform, high throughput (1,800 tests/hr chemistry)</a:t>
            </a:r>
          </a:p>
        </p:txBody>
      </p:sp>
      <p:sp>
        <p:nvSpPr>
          <p:cNvPr id="57" name="Rectangle 56"/>
          <p:cNvSpPr/>
          <p:nvPr/>
        </p:nvSpPr>
        <p:spPr>
          <a:xfrm>
            <a:off x="8366759" y="2779776"/>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21624" y="2825496"/>
            <a:ext cx="3364991" cy="256031"/>
          </a:xfrm>
          <a:prstGeom prst="rect">
            <a:avLst/>
          </a:prstGeom>
          <a:noFill/>
        </p:spPr>
        <p:txBody>
          <a:bodyPr wrap="square">
            <a:spAutoFit/>
          </a:bodyPr>
          <a:lstStyle/>
          <a:p>
            <a:pPr algn="ctr"/>
            <a:r>
              <a:rPr sz="900" b="0" i="0">
                <a:solidFill>
                  <a:srgbClr val="2D2D2D"/>
                </a:solidFill>
              </a:rPr>
              <a:t>Throughput; imaging + lab integration</a:t>
            </a:r>
          </a:p>
        </p:txBody>
      </p:sp>
      <p:sp>
        <p:nvSpPr>
          <p:cNvPr id="59" name="Rectangle 58"/>
          <p:cNvSpPr/>
          <p:nvPr/>
        </p:nvSpPr>
        <p:spPr>
          <a:xfrm>
            <a:off x="320040" y="3108960"/>
            <a:ext cx="54864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74904" y="3154679"/>
            <a:ext cx="438912" cy="256031"/>
          </a:xfrm>
          <a:prstGeom prst="rect">
            <a:avLst/>
          </a:prstGeom>
          <a:noFill/>
        </p:spPr>
        <p:txBody>
          <a:bodyPr wrap="square">
            <a:spAutoFit/>
          </a:bodyPr>
          <a:lstStyle/>
          <a:p>
            <a:pPr algn="l"/>
            <a:r>
              <a:rPr sz="900" b="0" i="0">
                <a:solidFill>
                  <a:srgbClr val="2D2D2D"/>
                </a:solidFill>
              </a:rPr>
              <a:t>#5</a:t>
            </a:r>
          </a:p>
        </p:txBody>
      </p:sp>
      <p:sp>
        <p:nvSpPr>
          <p:cNvPr id="61" name="Rectangle 60"/>
          <p:cNvSpPr/>
          <p:nvPr/>
        </p:nvSpPr>
        <p:spPr>
          <a:xfrm>
            <a:off x="868680" y="3108960"/>
            <a:ext cx="22860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3544" y="3154679"/>
            <a:ext cx="2176272" cy="256031"/>
          </a:xfrm>
          <a:prstGeom prst="rect">
            <a:avLst/>
          </a:prstGeom>
          <a:noFill/>
        </p:spPr>
        <p:txBody>
          <a:bodyPr wrap="square">
            <a:spAutoFit/>
          </a:bodyPr>
          <a:lstStyle/>
          <a:p>
            <a:pPr algn="ctr"/>
            <a:r>
              <a:rPr sz="900" b="0" i="0">
                <a:solidFill>
                  <a:srgbClr val="2D2D2D"/>
                </a:solidFill>
              </a:rPr>
              <a:t>Thermo Fisher</a:t>
            </a:r>
          </a:p>
        </p:txBody>
      </p:sp>
      <p:sp>
        <p:nvSpPr>
          <p:cNvPr id="63" name="Rectangle 62"/>
          <p:cNvSpPr/>
          <p:nvPr/>
        </p:nvSpPr>
        <p:spPr>
          <a:xfrm>
            <a:off x="3154680" y="3108960"/>
            <a:ext cx="12801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209544" y="3154679"/>
            <a:ext cx="1170431" cy="256031"/>
          </a:xfrm>
          <a:prstGeom prst="rect">
            <a:avLst/>
          </a:prstGeom>
          <a:noFill/>
        </p:spPr>
        <p:txBody>
          <a:bodyPr wrap="square">
            <a:spAutoFit/>
          </a:bodyPr>
          <a:lstStyle/>
          <a:p>
            <a:pPr algn="ctr"/>
            <a:r>
              <a:rPr sz="900" b="0" i="0">
                <a:solidFill>
                  <a:srgbClr val="2D2D2D"/>
                </a:solidFill>
              </a:rPr>
              <a:t>~$5–6B</a:t>
            </a:r>
          </a:p>
        </p:txBody>
      </p:sp>
      <p:sp>
        <p:nvSpPr>
          <p:cNvPr id="65" name="Rectangle 64"/>
          <p:cNvSpPr/>
          <p:nvPr/>
        </p:nvSpPr>
        <p:spPr>
          <a:xfrm>
            <a:off x="4434840" y="3108960"/>
            <a:ext cx="39319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89703" y="3154679"/>
            <a:ext cx="3822191" cy="256031"/>
          </a:xfrm>
          <a:prstGeom prst="rect">
            <a:avLst/>
          </a:prstGeom>
          <a:noFill/>
        </p:spPr>
        <p:txBody>
          <a:bodyPr wrap="square">
            <a:spAutoFit/>
          </a:bodyPr>
          <a:lstStyle/>
          <a:p>
            <a:pPr algn="ctr"/>
            <a:r>
              <a:rPr sz="900" b="0" i="0">
                <a:solidFill>
                  <a:srgbClr val="2D2D2D"/>
                </a:solidFill>
              </a:rPr>
              <a:t>Molecular, mass spec, research-grade clinical</a:t>
            </a:r>
          </a:p>
        </p:txBody>
      </p:sp>
      <p:sp>
        <p:nvSpPr>
          <p:cNvPr id="67" name="Rectangle 66"/>
          <p:cNvSpPr/>
          <p:nvPr/>
        </p:nvSpPr>
        <p:spPr>
          <a:xfrm>
            <a:off x="8366759" y="3108960"/>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21624" y="3154679"/>
            <a:ext cx="3364991" cy="256031"/>
          </a:xfrm>
          <a:prstGeom prst="rect">
            <a:avLst/>
          </a:prstGeom>
          <a:noFill/>
        </p:spPr>
        <p:txBody>
          <a:bodyPr wrap="square">
            <a:spAutoFit/>
          </a:bodyPr>
          <a:lstStyle/>
          <a:p>
            <a:pPr algn="ctr"/>
            <a:r>
              <a:rPr sz="900" b="0" i="0">
                <a:solidFill>
                  <a:srgbClr val="2D2D2D"/>
                </a:solidFill>
              </a:rPr>
              <a:t>Oncology molecular (pre-Exact Sciences)</a:t>
            </a:r>
          </a:p>
        </p:txBody>
      </p:sp>
      <p:sp>
        <p:nvSpPr>
          <p:cNvPr id="69" name="Rectangle 68"/>
          <p:cNvSpPr/>
          <p:nvPr/>
        </p:nvSpPr>
        <p:spPr>
          <a:xfrm>
            <a:off x="320040" y="3438144"/>
            <a:ext cx="54864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4904" y="3483864"/>
            <a:ext cx="438912" cy="256031"/>
          </a:xfrm>
          <a:prstGeom prst="rect">
            <a:avLst/>
          </a:prstGeom>
          <a:noFill/>
        </p:spPr>
        <p:txBody>
          <a:bodyPr wrap="square">
            <a:spAutoFit/>
          </a:bodyPr>
          <a:lstStyle/>
          <a:p>
            <a:pPr algn="l"/>
            <a:r>
              <a:rPr sz="900" b="0" i="0">
                <a:solidFill>
                  <a:srgbClr val="2D2D2D"/>
                </a:solidFill>
              </a:rPr>
              <a:t>#6</a:t>
            </a:r>
          </a:p>
        </p:txBody>
      </p:sp>
      <p:sp>
        <p:nvSpPr>
          <p:cNvPr id="71" name="Rectangle 70"/>
          <p:cNvSpPr/>
          <p:nvPr/>
        </p:nvSpPr>
        <p:spPr>
          <a:xfrm>
            <a:off x="868680" y="3438144"/>
            <a:ext cx="22860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23544" y="3483864"/>
            <a:ext cx="2176272" cy="256031"/>
          </a:xfrm>
          <a:prstGeom prst="rect">
            <a:avLst/>
          </a:prstGeom>
          <a:noFill/>
        </p:spPr>
        <p:txBody>
          <a:bodyPr wrap="square">
            <a:spAutoFit/>
          </a:bodyPr>
          <a:lstStyle/>
          <a:p>
            <a:pPr algn="ctr"/>
            <a:r>
              <a:rPr sz="900" b="0" i="0">
                <a:solidFill>
                  <a:srgbClr val="2D2D2D"/>
                </a:solidFill>
              </a:rPr>
              <a:t>bioMérieux</a:t>
            </a:r>
          </a:p>
        </p:txBody>
      </p:sp>
      <p:sp>
        <p:nvSpPr>
          <p:cNvPr id="73" name="Rectangle 72"/>
          <p:cNvSpPr/>
          <p:nvPr/>
        </p:nvSpPr>
        <p:spPr>
          <a:xfrm>
            <a:off x="3154680" y="3438144"/>
            <a:ext cx="12801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09544" y="3483864"/>
            <a:ext cx="1170431" cy="256031"/>
          </a:xfrm>
          <a:prstGeom prst="rect">
            <a:avLst/>
          </a:prstGeom>
          <a:noFill/>
        </p:spPr>
        <p:txBody>
          <a:bodyPr wrap="square">
            <a:spAutoFit/>
          </a:bodyPr>
          <a:lstStyle/>
          <a:p>
            <a:pPr algn="ctr"/>
            <a:r>
              <a:rPr sz="900" b="0" i="0">
                <a:solidFill>
                  <a:srgbClr val="2D2D2D"/>
                </a:solidFill>
              </a:rPr>
              <a:t>~$4B</a:t>
            </a:r>
          </a:p>
        </p:txBody>
      </p:sp>
      <p:sp>
        <p:nvSpPr>
          <p:cNvPr id="75" name="Rectangle 74"/>
          <p:cNvSpPr/>
          <p:nvPr/>
        </p:nvSpPr>
        <p:spPr>
          <a:xfrm>
            <a:off x="4434840" y="3438144"/>
            <a:ext cx="39319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89703" y="3483864"/>
            <a:ext cx="3822191" cy="256031"/>
          </a:xfrm>
          <a:prstGeom prst="rect">
            <a:avLst/>
          </a:prstGeom>
          <a:noFill/>
        </p:spPr>
        <p:txBody>
          <a:bodyPr wrap="square">
            <a:spAutoFit/>
          </a:bodyPr>
          <a:lstStyle/>
          <a:p>
            <a:pPr algn="ctr"/>
            <a:r>
              <a:rPr sz="900" b="0" i="0">
                <a:solidFill>
                  <a:srgbClr val="2D2D2D"/>
                </a:solidFill>
              </a:rPr>
              <a:t>Blood culture, VITEK microbiology, BioFire syndromic panels</a:t>
            </a:r>
          </a:p>
        </p:txBody>
      </p:sp>
      <p:sp>
        <p:nvSpPr>
          <p:cNvPr id="77" name="Rectangle 76"/>
          <p:cNvSpPr/>
          <p:nvPr/>
        </p:nvSpPr>
        <p:spPr>
          <a:xfrm>
            <a:off x="8366759" y="3438144"/>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21624" y="3483864"/>
            <a:ext cx="3364991" cy="256031"/>
          </a:xfrm>
          <a:prstGeom prst="rect">
            <a:avLst/>
          </a:prstGeom>
          <a:noFill/>
        </p:spPr>
        <p:txBody>
          <a:bodyPr wrap="square">
            <a:spAutoFit/>
          </a:bodyPr>
          <a:lstStyle/>
          <a:p>
            <a:pPr algn="ctr"/>
            <a:r>
              <a:rPr sz="900" b="0" i="0">
                <a:solidFill>
                  <a:srgbClr val="2D2D2D"/>
                </a:solidFill>
              </a:rPr>
              <a:t>Syndromic panels (BioFire) — Abbott has none</a:t>
            </a:r>
          </a:p>
        </p:txBody>
      </p:sp>
      <p:sp>
        <p:nvSpPr>
          <p:cNvPr id="79" name="Rectangle 78"/>
          <p:cNvSpPr/>
          <p:nvPr/>
        </p:nvSpPr>
        <p:spPr>
          <a:xfrm>
            <a:off x="320040" y="3767328"/>
            <a:ext cx="54864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4904" y="3813048"/>
            <a:ext cx="438912" cy="256031"/>
          </a:xfrm>
          <a:prstGeom prst="rect">
            <a:avLst/>
          </a:prstGeom>
          <a:noFill/>
        </p:spPr>
        <p:txBody>
          <a:bodyPr wrap="square">
            <a:spAutoFit/>
          </a:bodyPr>
          <a:lstStyle/>
          <a:p>
            <a:pPr algn="l"/>
            <a:r>
              <a:rPr sz="900" b="0" i="0">
                <a:solidFill>
                  <a:srgbClr val="2D2D2D"/>
                </a:solidFill>
              </a:rPr>
              <a:t>#7</a:t>
            </a:r>
          </a:p>
        </p:txBody>
      </p:sp>
      <p:sp>
        <p:nvSpPr>
          <p:cNvPr id="81" name="Rectangle 80"/>
          <p:cNvSpPr/>
          <p:nvPr/>
        </p:nvSpPr>
        <p:spPr>
          <a:xfrm>
            <a:off x="868680" y="3767328"/>
            <a:ext cx="228600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3544" y="3813048"/>
            <a:ext cx="2176272" cy="256031"/>
          </a:xfrm>
          <a:prstGeom prst="rect">
            <a:avLst/>
          </a:prstGeom>
          <a:noFill/>
        </p:spPr>
        <p:txBody>
          <a:bodyPr wrap="square">
            <a:spAutoFit/>
          </a:bodyPr>
          <a:lstStyle/>
          <a:p>
            <a:pPr algn="ctr"/>
            <a:r>
              <a:rPr sz="900" b="0" i="0">
                <a:solidFill>
                  <a:srgbClr val="2D2D2D"/>
                </a:solidFill>
              </a:rPr>
              <a:t>Sysmex</a:t>
            </a:r>
          </a:p>
        </p:txBody>
      </p:sp>
      <p:sp>
        <p:nvSpPr>
          <p:cNvPr id="83" name="Rectangle 82"/>
          <p:cNvSpPr/>
          <p:nvPr/>
        </p:nvSpPr>
        <p:spPr>
          <a:xfrm>
            <a:off x="3154680" y="3767328"/>
            <a:ext cx="128016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09544" y="3813048"/>
            <a:ext cx="1170431" cy="256031"/>
          </a:xfrm>
          <a:prstGeom prst="rect">
            <a:avLst/>
          </a:prstGeom>
          <a:noFill/>
        </p:spPr>
        <p:txBody>
          <a:bodyPr wrap="square">
            <a:spAutoFit/>
          </a:bodyPr>
          <a:lstStyle/>
          <a:p>
            <a:pPr algn="ctr"/>
            <a:r>
              <a:rPr sz="900" b="0" i="0">
                <a:solidFill>
                  <a:srgbClr val="2D2D2D"/>
                </a:solidFill>
              </a:rPr>
              <a:t>~$3B</a:t>
            </a:r>
          </a:p>
        </p:txBody>
      </p:sp>
      <p:sp>
        <p:nvSpPr>
          <p:cNvPr id="85" name="Rectangle 84"/>
          <p:cNvSpPr/>
          <p:nvPr/>
        </p:nvSpPr>
        <p:spPr>
          <a:xfrm>
            <a:off x="4434840" y="3767328"/>
            <a:ext cx="39319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89703" y="3813048"/>
            <a:ext cx="3822191" cy="256031"/>
          </a:xfrm>
          <a:prstGeom prst="rect">
            <a:avLst/>
          </a:prstGeom>
          <a:noFill/>
        </p:spPr>
        <p:txBody>
          <a:bodyPr wrap="square">
            <a:spAutoFit/>
          </a:bodyPr>
          <a:lstStyle/>
          <a:p>
            <a:pPr algn="ctr"/>
            <a:r>
              <a:rPr sz="900" b="0" i="0">
                <a:solidFill>
                  <a:srgbClr val="2D2D2D"/>
                </a:solidFill>
              </a:rPr>
              <a:t>Hematology — dominant globally</a:t>
            </a:r>
          </a:p>
        </p:txBody>
      </p:sp>
      <p:sp>
        <p:nvSpPr>
          <p:cNvPr id="87" name="Rectangle 86"/>
          <p:cNvSpPr/>
          <p:nvPr/>
        </p:nvSpPr>
        <p:spPr>
          <a:xfrm>
            <a:off x="8366759" y="3767328"/>
            <a:ext cx="3474720" cy="329184"/>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21624" y="3813048"/>
            <a:ext cx="3364991" cy="256031"/>
          </a:xfrm>
          <a:prstGeom prst="rect">
            <a:avLst/>
          </a:prstGeom>
          <a:noFill/>
        </p:spPr>
        <p:txBody>
          <a:bodyPr wrap="square">
            <a:spAutoFit/>
          </a:bodyPr>
          <a:lstStyle/>
          <a:p>
            <a:pPr algn="ctr"/>
            <a:r>
              <a:rPr sz="900" b="0" i="0">
                <a:solidFill>
                  <a:srgbClr val="2D2D2D"/>
                </a:solidFill>
              </a:rPr>
              <a:t>Hematology (Abbott's Alinity h is a re-entry)</a:t>
            </a:r>
          </a:p>
        </p:txBody>
      </p:sp>
      <p:sp>
        <p:nvSpPr>
          <p:cNvPr id="89" name="Rectangle 88"/>
          <p:cNvSpPr/>
          <p:nvPr/>
        </p:nvSpPr>
        <p:spPr>
          <a:xfrm>
            <a:off x="320040" y="4096512"/>
            <a:ext cx="54864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74904" y="4142232"/>
            <a:ext cx="438912" cy="256031"/>
          </a:xfrm>
          <a:prstGeom prst="rect">
            <a:avLst/>
          </a:prstGeom>
          <a:noFill/>
        </p:spPr>
        <p:txBody>
          <a:bodyPr wrap="square">
            <a:spAutoFit/>
          </a:bodyPr>
          <a:lstStyle/>
          <a:p>
            <a:pPr algn="l"/>
            <a:r>
              <a:rPr sz="900" b="0" i="0">
                <a:solidFill>
                  <a:srgbClr val="2D2D2D"/>
                </a:solidFill>
              </a:rPr>
              <a:t>#8</a:t>
            </a:r>
          </a:p>
        </p:txBody>
      </p:sp>
      <p:sp>
        <p:nvSpPr>
          <p:cNvPr id="91" name="Rectangle 90"/>
          <p:cNvSpPr/>
          <p:nvPr/>
        </p:nvSpPr>
        <p:spPr>
          <a:xfrm>
            <a:off x="868680" y="4096512"/>
            <a:ext cx="228600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23544" y="4142232"/>
            <a:ext cx="2176272" cy="256031"/>
          </a:xfrm>
          <a:prstGeom prst="rect">
            <a:avLst/>
          </a:prstGeom>
          <a:noFill/>
        </p:spPr>
        <p:txBody>
          <a:bodyPr wrap="square">
            <a:spAutoFit/>
          </a:bodyPr>
          <a:lstStyle/>
          <a:p>
            <a:pPr algn="ctr"/>
            <a:r>
              <a:rPr sz="900" b="0" i="0">
                <a:solidFill>
                  <a:srgbClr val="2D2D2D"/>
                </a:solidFill>
              </a:rPr>
              <a:t>BD</a:t>
            </a:r>
          </a:p>
        </p:txBody>
      </p:sp>
      <p:sp>
        <p:nvSpPr>
          <p:cNvPr id="93" name="Rectangle 92"/>
          <p:cNvSpPr/>
          <p:nvPr/>
        </p:nvSpPr>
        <p:spPr>
          <a:xfrm>
            <a:off x="3154680" y="4096512"/>
            <a:ext cx="128016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209544" y="4142232"/>
            <a:ext cx="1170431" cy="256031"/>
          </a:xfrm>
          <a:prstGeom prst="rect">
            <a:avLst/>
          </a:prstGeom>
          <a:noFill/>
        </p:spPr>
        <p:txBody>
          <a:bodyPr wrap="square">
            <a:spAutoFit/>
          </a:bodyPr>
          <a:lstStyle/>
          <a:p>
            <a:pPr algn="ctr"/>
            <a:r>
              <a:rPr sz="900" b="0" i="0">
                <a:solidFill>
                  <a:srgbClr val="2D2D2D"/>
                </a:solidFill>
              </a:rPr>
              <a:t>~$3B</a:t>
            </a:r>
          </a:p>
        </p:txBody>
      </p:sp>
      <p:sp>
        <p:nvSpPr>
          <p:cNvPr id="95" name="Rectangle 94"/>
          <p:cNvSpPr/>
          <p:nvPr/>
        </p:nvSpPr>
        <p:spPr>
          <a:xfrm>
            <a:off x="4434840" y="4096512"/>
            <a:ext cx="39319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89703" y="4142232"/>
            <a:ext cx="3822191" cy="256031"/>
          </a:xfrm>
          <a:prstGeom prst="rect">
            <a:avLst/>
          </a:prstGeom>
          <a:noFill/>
        </p:spPr>
        <p:txBody>
          <a:bodyPr wrap="square">
            <a:spAutoFit/>
          </a:bodyPr>
          <a:lstStyle/>
          <a:p>
            <a:pPr algn="ctr"/>
            <a:r>
              <a:rPr sz="900" b="0" i="0">
                <a:solidFill>
                  <a:srgbClr val="2D2D2D"/>
                </a:solidFill>
              </a:rPr>
              <a:t>Microbiology, molecular (BD MAX), Veritor rapid tests</a:t>
            </a:r>
          </a:p>
        </p:txBody>
      </p:sp>
      <p:sp>
        <p:nvSpPr>
          <p:cNvPr id="97" name="Rectangle 96"/>
          <p:cNvSpPr/>
          <p:nvPr/>
        </p:nvSpPr>
        <p:spPr>
          <a:xfrm>
            <a:off x="8366759" y="4096512"/>
            <a:ext cx="3474720" cy="329184"/>
          </a:xfrm>
          <a:prstGeom prst="rect">
            <a:avLst/>
          </a:prstGeom>
          <a:solidFill>
            <a:srgbClr val="F4F4F4"/>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421624" y="4142232"/>
            <a:ext cx="3364991" cy="256031"/>
          </a:xfrm>
          <a:prstGeom prst="rect">
            <a:avLst/>
          </a:prstGeom>
          <a:noFill/>
        </p:spPr>
        <p:txBody>
          <a:bodyPr wrap="square">
            <a:spAutoFit/>
          </a:bodyPr>
          <a:lstStyle/>
          <a:p>
            <a:pPr algn="ctr"/>
            <a:r>
              <a:rPr sz="900" b="0" i="0">
                <a:solidFill>
                  <a:srgbClr val="2D2D2D"/>
                </a:solidFill>
              </a:rPr>
              <a:t>Veritor reader vs BinaxNOW; BD MAX molecular panels</a:t>
            </a:r>
          </a:p>
        </p:txBody>
      </p:sp>
      <p:sp>
        <p:nvSpPr>
          <p:cNvPr id="99" name="Rectangle 98"/>
          <p:cNvSpPr/>
          <p:nvPr/>
        </p:nvSpPr>
        <p:spPr>
          <a:xfrm>
            <a:off x="320040" y="5897880"/>
            <a:ext cx="6858000" cy="777240"/>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2920" y="5943600"/>
            <a:ext cx="6400800" cy="256032"/>
          </a:xfrm>
          <a:prstGeom prst="rect">
            <a:avLst/>
          </a:prstGeom>
          <a:noFill/>
        </p:spPr>
        <p:txBody>
          <a:bodyPr wrap="square">
            <a:spAutoFit/>
          </a:bodyPr>
          <a:lstStyle/>
          <a:p>
            <a:pPr algn="l"/>
            <a:r>
              <a:rPr sz="1100" b="1" i="0">
                <a:solidFill>
                  <a:srgbClr val="00478A"/>
                </a:solidFill>
              </a:rPr>
              <a:t>Abbott's Structural Advantage: Breadth</a:t>
            </a:r>
          </a:p>
        </p:txBody>
      </p:sp>
      <p:sp>
        <p:nvSpPr>
          <p:cNvPr id="101" name="TextBox 100"/>
          <p:cNvSpPr txBox="1"/>
          <p:nvPr/>
        </p:nvSpPr>
        <p:spPr>
          <a:xfrm>
            <a:off x="502920" y="6199632"/>
            <a:ext cx="6492240" cy="438912"/>
          </a:xfrm>
          <a:prstGeom prst="rect">
            <a:avLst/>
          </a:prstGeom>
          <a:noFill/>
        </p:spPr>
        <p:txBody>
          <a:bodyPr wrap="square">
            <a:spAutoFit/>
          </a:bodyPr>
          <a:lstStyle/>
          <a:p>
            <a:pPr algn="l"/>
            <a:r>
              <a:rPr sz="950" b="0" i="0">
                <a:solidFill>
                  <a:srgbClr val="2D2D2D"/>
                </a:solidFill>
              </a:rPr>
              <a:t>No competitor matches Abbott's combination of Core Lab + POC + Rapid + Molecular + (now) Oncology all under one commercial umbrella. This enables enterprise-wide selling to hospital networks and creates significant switching costs through integrated informatics (AlinIQ).</a:t>
            </a:r>
          </a:p>
        </p:txBody>
      </p:sp>
      <p:sp>
        <p:nvSpPr>
          <p:cNvPr id="102" name="Rectangle 101"/>
          <p:cNvSpPr/>
          <p:nvPr/>
        </p:nvSpPr>
        <p:spPr>
          <a:xfrm>
            <a:off x="7269480" y="5897880"/>
            <a:ext cx="4526280" cy="777240"/>
          </a:xfrm>
          <a:prstGeom prst="rect">
            <a:avLst/>
          </a:prstGeom>
          <a:solidFill>
            <a:srgbClr val="FF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406640" y="5943600"/>
            <a:ext cx="4297680" cy="256032"/>
          </a:xfrm>
          <a:prstGeom prst="rect">
            <a:avLst/>
          </a:prstGeom>
          <a:noFill/>
        </p:spPr>
        <p:txBody>
          <a:bodyPr wrap="square">
            <a:spAutoFit/>
          </a:bodyPr>
          <a:lstStyle/>
          <a:p>
            <a:pPr algn="l"/>
            <a:r>
              <a:rPr sz="1100" b="1" i="0">
                <a:solidFill>
                  <a:srgbClr val="E87D1E"/>
                </a:solidFill>
              </a:rPr>
              <a:t>Abbott's Biggest Gap (Pre-Exact Sciences)</a:t>
            </a:r>
          </a:p>
        </p:txBody>
      </p:sp>
      <p:sp>
        <p:nvSpPr>
          <p:cNvPr id="104" name="TextBox 103"/>
          <p:cNvSpPr txBox="1"/>
          <p:nvPr/>
        </p:nvSpPr>
        <p:spPr>
          <a:xfrm>
            <a:off x="7406640" y="6199632"/>
            <a:ext cx="4297680" cy="438912"/>
          </a:xfrm>
          <a:prstGeom prst="rect">
            <a:avLst/>
          </a:prstGeom>
          <a:noFill/>
        </p:spPr>
        <p:txBody>
          <a:bodyPr wrap="square">
            <a:spAutoFit/>
          </a:bodyPr>
          <a:lstStyle/>
          <a:p>
            <a:pPr algn="l"/>
            <a:r>
              <a:rPr sz="950" b="0" i="0">
                <a:solidFill>
                  <a:srgbClr val="2D2D2D"/>
                </a:solidFill>
              </a:rPr>
              <a:t>No next-generation sequencing (NGS) oncology offering. Roche (Foundation Medicine) and Thermo Fisher dominate cancer genomics. The Exact Sciences deal addresses this directly by adding Cologuard, Oncotype DX, and CancerGuard liquid biopsy.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The Next Chapter: Exact Sciences Acquisition</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Closed March 23, 2026 · $21B deal · Adds ~$3B in fast-growing cancer diagnostics</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TextBox 7"/>
          <p:cNvSpPr txBox="1"/>
          <p:nvPr/>
        </p:nvSpPr>
        <p:spPr>
          <a:xfrm>
            <a:off x="365760" y="1143000"/>
            <a:ext cx="11430000" cy="502920"/>
          </a:xfrm>
          <a:prstGeom prst="rect">
            <a:avLst/>
          </a:prstGeom>
          <a:noFill/>
        </p:spPr>
        <p:txBody>
          <a:bodyPr wrap="square">
            <a:spAutoFit/>
          </a:bodyPr>
          <a:lstStyle/>
          <a:p>
            <a:pPr algn="l"/>
            <a:r>
              <a:rPr sz="1200" b="0" i="0">
                <a:solidFill>
                  <a:srgbClr val="2D2D2D"/>
                </a:solidFill>
              </a:rPr>
              <a:t>Abbott had one major strategic gap: it had no meaningful oncology diagnostics business. Roche had Foundation Medicine (tumor profiling), Thermo Fisher had Ion Torrent (NGS). The Exact Sciences acquisition fills that hole and transforms Abbott's diagnostics mix.</a:t>
            </a:r>
          </a:p>
        </p:txBody>
      </p:sp>
      <p:sp>
        <p:nvSpPr>
          <p:cNvPr id="9" name="Rectangle 8"/>
          <p:cNvSpPr/>
          <p:nvPr/>
        </p:nvSpPr>
        <p:spPr>
          <a:xfrm>
            <a:off x="320040" y="1737360"/>
            <a:ext cx="3657600" cy="475488"/>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64792"/>
            <a:ext cx="3474720" cy="274320"/>
          </a:xfrm>
          <a:prstGeom prst="rect">
            <a:avLst/>
          </a:prstGeom>
          <a:noFill/>
        </p:spPr>
        <p:txBody>
          <a:bodyPr wrap="square">
            <a:spAutoFit/>
          </a:bodyPr>
          <a:lstStyle/>
          <a:p>
            <a:pPr algn="l"/>
            <a:r>
              <a:rPr sz="1500" b="1" i="0">
                <a:solidFill>
                  <a:srgbClr val="FFFFFF"/>
                </a:solidFill>
              </a:rPr>
              <a:t>Cologuard</a:t>
            </a:r>
          </a:p>
        </p:txBody>
      </p:sp>
      <p:sp>
        <p:nvSpPr>
          <p:cNvPr id="11" name="TextBox 10"/>
          <p:cNvSpPr txBox="1"/>
          <p:nvPr/>
        </p:nvSpPr>
        <p:spPr>
          <a:xfrm>
            <a:off x="457200" y="2075688"/>
            <a:ext cx="3474720" cy="201168"/>
          </a:xfrm>
          <a:prstGeom prst="rect">
            <a:avLst/>
          </a:prstGeom>
          <a:noFill/>
        </p:spPr>
        <p:txBody>
          <a:bodyPr wrap="square">
            <a:spAutoFit/>
          </a:bodyPr>
          <a:lstStyle/>
          <a:p>
            <a:pPr algn="l"/>
            <a:r>
              <a:rPr sz="1000" b="0" i="1">
                <a:solidFill>
                  <a:srgbClr val="FFFFFF"/>
                </a:solidFill>
              </a:rPr>
              <a:t>Colorectal Cancer Screening</a:t>
            </a:r>
          </a:p>
        </p:txBody>
      </p:sp>
      <p:sp>
        <p:nvSpPr>
          <p:cNvPr id="12" name="Rectangle 11"/>
          <p:cNvSpPr/>
          <p:nvPr/>
        </p:nvSpPr>
        <p:spPr>
          <a:xfrm>
            <a:off x="320040" y="2212848"/>
            <a:ext cx="3657600" cy="2926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 y="2304288"/>
            <a:ext cx="3383280" cy="2743200"/>
          </a:xfrm>
          <a:prstGeom prst="rect">
            <a:avLst/>
          </a:prstGeom>
          <a:noFill/>
        </p:spPr>
        <p:txBody>
          <a:bodyPr wrap="square">
            <a:spAutoFit/>
          </a:bodyPr>
          <a:lstStyle/>
          <a:p>
            <a:pPr algn="l"/>
            <a:r>
              <a:rPr sz="1000" b="0">
                <a:solidFill>
                  <a:srgbClr val="2D2D2D"/>
                </a:solidFill>
              </a:rPr>
              <a:t>Non-invasive stool DNA test for colon cancer</a:t>
            </a:r>
          </a:p>
          <a:p>
            <a:pPr algn="l"/>
            <a:r>
              <a:rPr sz="1000" b="0">
                <a:solidFill>
                  <a:srgbClr val="2D2D2D"/>
                </a:solidFill>
              </a:rPr>
              <a:t>Patient mails in a sample — no colonoscopy prep</a:t>
            </a:r>
          </a:p>
          <a:p>
            <a:pPr algn="l"/>
            <a:r>
              <a:rPr sz="1000" b="0">
                <a:solidFill>
                  <a:srgbClr val="2D2D2D"/>
                </a:solidFill>
              </a:rPr>
              <a:t>FDA approved; covered by Medicare/insurance</a:t>
            </a:r>
          </a:p>
          <a:p>
            <a:pPr algn="l"/>
            <a:r>
              <a:rPr sz="1000" b="0">
                <a:solidFill>
                  <a:srgbClr val="2D2D2D"/>
                </a:solidFill>
              </a:rPr>
              <a:t>~10M Americans screened so far; enormous TAM</a:t>
            </a:r>
          </a:p>
          <a:p>
            <a:pPr algn="l"/>
            <a:r>
              <a:rPr sz="1000" b="0">
                <a:solidFill>
                  <a:srgbClr val="2D2D2D"/>
                </a:solidFill>
              </a:rPr>
              <a:t>Revenue: $1B+ and growing high-teens annually</a:t>
            </a:r>
          </a:p>
          <a:p>
            <a:pPr algn="l"/>
            <a:r>
              <a:rPr sz="1000" b="0">
                <a:solidFill>
                  <a:srgbClr val="2D2D2D"/>
                </a:solidFill>
              </a:rPr>
              <a:t>Main competition: colonoscopy (procedure-based),</a:t>
            </a:r>
          </a:p>
          <a:p>
            <a:pPr algn="l"/>
            <a:r>
              <a:rPr sz="1000" b="0">
                <a:solidFill>
                  <a:srgbClr val="2D2D2D"/>
                </a:solidFill>
              </a:rPr>
              <a:t>  Guardant Shield (liquid biopsy — emerging rival)</a:t>
            </a:r>
          </a:p>
        </p:txBody>
      </p:sp>
      <p:sp>
        <p:nvSpPr>
          <p:cNvPr id="14" name="Rectangle 13"/>
          <p:cNvSpPr/>
          <p:nvPr/>
        </p:nvSpPr>
        <p:spPr>
          <a:xfrm>
            <a:off x="4197096" y="1737360"/>
            <a:ext cx="3657600" cy="475488"/>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34256" y="1764792"/>
            <a:ext cx="3474720" cy="274320"/>
          </a:xfrm>
          <a:prstGeom prst="rect">
            <a:avLst/>
          </a:prstGeom>
          <a:noFill/>
        </p:spPr>
        <p:txBody>
          <a:bodyPr wrap="square">
            <a:spAutoFit/>
          </a:bodyPr>
          <a:lstStyle/>
          <a:p>
            <a:pPr algn="l"/>
            <a:r>
              <a:rPr sz="1500" b="1" i="0">
                <a:solidFill>
                  <a:srgbClr val="FFFFFF"/>
                </a:solidFill>
              </a:rPr>
              <a:t>Oncotype DX</a:t>
            </a:r>
          </a:p>
        </p:txBody>
      </p:sp>
      <p:sp>
        <p:nvSpPr>
          <p:cNvPr id="16" name="TextBox 15"/>
          <p:cNvSpPr txBox="1"/>
          <p:nvPr/>
        </p:nvSpPr>
        <p:spPr>
          <a:xfrm>
            <a:off x="4334256" y="2075688"/>
            <a:ext cx="3474720" cy="201168"/>
          </a:xfrm>
          <a:prstGeom prst="rect">
            <a:avLst/>
          </a:prstGeom>
          <a:noFill/>
        </p:spPr>
        <p:txBody>
          <a:bodyPr wrap="square">
            <a:spAutoFit/>
          </a:bodyPr>
          <a:lstStyle/>
          <a:p>
            <a:pPr algn="l"/>
            <a:r>
              <a:rPr sz="1000" b="0" i="1">
                <a:solidFill>
                  <a:srgbClr val="FFFFFF"/>
                </a:solidFill>
              </a:rPr>
              <a:t>Breast &amp; Prostate Cancer Precision</a:t>
            </a:r>
          </a:p>
        </p:txBody>
      </p:sp>
      <p:sp>
        <p:nvSpPr>
          <p:cNvPr id="17" name="Rectangle 16"/>
          <p:cNvSpPr/>
          <p:nvPr/>
        </p:nvSpPr>
        <p:spPr>
          <a:xfrm>
            <a:off x="4197096" y="2212848"/>
            <a:ext cx="3657600" cy="2926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1688" y="2304288"/>
            <a:ext cx="3383280" cy="2743200"/>
          </a:xfrm>
          <a:prstGeom prst="rect">
            <a:avLst/>
          </a:prstGeom>
          <a:noFill/>
        </p:spPr>
        <p:txBody>
          <a:bodyPr wrap="square">
            <a:spAutoFit/>
          </a:bodyPr>
          <a:lstStyle/>
          <a:p>
            <a:pPr algn="l"/>
            <a:r>
              <a:rPr sz="1000" b="0">
                <a:solidFill>
                  <a:srgbClr val="2D2D2D"/>
                </a:solidFill>
              </a:rPr>
              <a:t>Genomic test on tumor tissue</a:t>
            </a:r>
          </a:p>
          <a:p>
            <a:pPr algn="l"/>
            <a:r>
              <a:rPr sz="1000" b="0">
                <a:solidFill>
                  <a:srgbClr val="2D2D2D"/>
                </a:solidFill>
              </a:rPr>
              <a:t>Tells oncologists whether a breast cancer patient</a:t>
            </a:r>
          </a:p>
          <a:p>
            <a:pPr algn="l"/>
            <a:r>
              <a:rPr sz="1000" b="0">
                <a:solidFill>
                  <a:srgbClr val="2D2D2D"/>
                </a:solidFill>
              </a:rPr>
              <a:t>  needs chemotherapy or can skip it</a:t>
            </a:r>
          </a:p>
          <a:p>
            <a:pPr algn="l"/>
            <a:r>
              <a:rPr sz="1000" b="0">
                <a:solidFill>
                  <a:srgbClr val="2D2D2D"/>
                </a:solidFill>
              </a:rPr>
              <a:t>Changes treatment decisions in ~30% of cases</a:t>
            </a:r>
          </a:p>
          <a:p>
            <a:pPr algn="l"/>
            <a:r>
              <a:rPr sz="1000" b="0">
                <a:solidFill>
                  <a:srgbClr val="2D2D2D"/>
                </a:solidFill>
              </a:rPr>
              <a:t>Reimbursed in US and many EU countries</a:t>
            </a:r>
          </a:p>
          <a:p>
            <a:pPr algn="l"/>
            <a:r>
              <a:rPr sz="1000" b="0">
                <a:solidFill>
                  <a:srgbClr val="2D2D2D"/>
                </a:solidFill>
              </a:rPr>
              <a:t>~$600–800M revenue, growing steadily</a:t>
            </a:r>
          </a:p>
          <a:p>
            <a:pPr algn="l"/>
            <a:r>
              <a:rPr sz="1000" b="0">
                <a:solidFill>
                  <a:srgbClr val="2D2D2D"/>
                </a:solidFill>
              </a:rPr>
              <a:t>Used in: breast cancer (primary), prostate, colon</a:t>
            </a:r>
          </a:p>
        </p:txBody>
      </p:sp>
      <p:sp>
        <p:nvSpPr>
          <p:cNvPr id="19" name="Rectangle 18"/>
          <p:cNvSpPr/>
          <p:nvPr/>
        </p:nvSpPr>
        <p:spPr>
          <a:xfrm>
            <a:off x="8074152" y="1737360"/>
            <a:ext cx="3657600" cy="475488"/>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1764792"/>
            <a:ext cx="3474720" cy="274320"/>
          </a:xfrm>
          <a:prstGeom prst="rect">
            <a:avLst/>
          </a:prstGeom>
          <a:noFill/>
        </p:spPr>
        <p:txBody>
          <a:bodyPr wrap="square">
            <a:spAutoFit/>
          </a:bodyPr>
          <a:lstStyle/>
          <a:p>
            <a:pPr algn="l"/>
            <a:r>
              <a:rPr sz="1500" b="1" i="0">
                <a:solidFill>
                  <a:srgbClr val="FFFFFF"/>
                </a:solidFill>
              </a:rPr>
              <a:t>CancerGuard</a:t>
            </a:r>
          </a:p>
        </p:txBody>
      </p:sp>
      <p:sp>
        <p:nvSpPr>
          <p:cNvPr id="21" name="TextBox 20"/>
          <p:cNvSpPr txBox="1"/>
          <p:nvPr/>
        </p:nvSpPr>
        <p:spPr>
          <a:xfrm>
            <a:off x="8211312" y="2075688"/>
            <a:ext cx="3474720" cy="201168"/>
          </a:xfrm>
          <a:prstGeom prst="rect">
            <a:avLst/>
          </a:prstGeom>
          <a:noFill/>
        </p:spPr>
        <p:txBody>
          <a:bodyPr wrap="square">
            <a:spAutoFit/>
          </a:bodyPr>
          <a:lstStyle/>
          <a:p>
            <a:pPr algn="l"/>
            <a:r>
              <a:rPr sz="1000" b="0" i="1">
                <a:solidFill>
                  <a:srgbClr val="FFFFFF"/>
                </a:solidFill>
              </a:rPr>
              <a:t>Multi-Cancer Early Detection</a:t>
            </a:r>
          </a:p>
        </p:txBody>
      </p:sp>
      <p:sp>
        <p:nvSpPr>
          <p:cNvPr id="22" name="Rectangle 21"/>
          <p:cNvSpPr/>
          <p:nvPr/>
        </p:nvSpPr>
        <p:spPr>
          <a:xfrm>
            <a:off x="8074152" y="2212848"/>
            <a:ext cx="3657600" cy="2926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2304288"/>
            <a:ext cx="3383280" cy="2743200"/>
          </a:xfrm>
          <a:prstGeom prst="rect">
            <a:avLst/>
          </a:prstGeom>
          <a:noFill/>
        </p:spPr>
        <p:txBody>
          <a:bodyPr wrap="square">
            <a:spAutoFit/>
          </a:bodyPr>
          <a:lstStyle/>
          <a:p>
            <a:pPr algn="l"/>
            <a:r>
              <a:rPr sz="1000" b="0">
                <a:solidFill>
                  <a:srgbClr val="2D2D2D"/>
                </a:solidFill>
              </a:rPr>
              <a:t>Liquid biopsy — a simple blood test</a:t>
            </a:r>
          </a:p>
          <a:p>
            <a:pPr algn="l"/>
            <a:r>
              <a:rPr sz="1000" b="0">
                <a:solidFill>
                  <a:srgbClr val="2D2D2D"/>
                </a:solidFill>
              </a:rPr>
              <a:t>Screens for signals of 50+ cancer types</a:t>
            </a:r>
          </a:p>
          <a:p>
            <a:pPr algn="l"/>
            <a:r>
              <a:rPr sz="1000" b="0">
                <a:solidFill>
                  <a:srgbClr val="2D2D2D"/>
                </a:solidFill>
              </a:rPr>
              <a:t>  from a single blood draw</a:t>
            </a:r>
          </a:p>
          <a:p>
            <a:pPr algn="l"/>
            <a:r>
              <a:rPr sz="1000" b="0">
                <a:solidFill>
                  <a:srgbClr val="2D2D2D"/>
                </a:solidFill>
              </a:rPr>
              <a:t>Launched 2025 — very early stage revenue</a:t>
            </a:r>
          </a:p>
          <a:p>
            <a:pPr algn="l"/>
            <a:r>
              <a:rPr sz="1000" b="0">
                <a:solidFill>
                  <a:srgbClr val="2D2D2D"/>
                </a:solidFill>
              </a:rPr>
              <a:t>The 'holy grail' of diagnostics if it works at scale</a:t>
            </a:r>
          </a:p>
          <a:p>
            <a:pPr algn="l"/>
            <a:r>
              <a:rPr sz="1000" b="0">
                <a:solidFill>
                  <a:srgbClr val="2D2D2D"/>
                </a:solidFill>
              </a:rPr>
              <a:t>Competes with: Grail (Galleri test), Guardant,</a:t>
            </a:r>
          </a:p>
          <a:p>
            <a:pPr algn="l"/>
            <a:r>
              <a:rPr sz="1000" b="0">
                <a:solidFill>
                  <a:srgbClr val="2D2D2D"/>
                </a:solidFill>
              </a:rPr>
              <a:t>  Foundation Medicine (Roche)</a:t>
            </a:r>
          </a:p>
          <a:p>
            <a:pPr algn="l"/>
            <a:r>
              <a:rPr sz="1000" b="0">
                <a:solidFill>
                  <a:srgbClr val="2D2D2D"/>
                </a:solidFill>
              </a:rPr>
              <a:t>Market could be $10B+ if MCED becomes standard of care</a:t>
            </a:r>
          </a:p>
        </p:txBody>
      </p:sp>
      <p:sp>
        <p:nvSpPr>
          <p:cNvPr id="24" name="Rectangle 23"/>
          <p:cNvSpPr/>
          <p:nvPr/>
        </p:nvSpPr>
        <p:spPr>
          <a:xfrm>
            <a:off x="320040" y="5230368"/>
            <a:ext cx="11521440" cy="1417320"/>
          </a:xfrm>
          <a:prstGeom prst="rect">
            <a:avLst/>
          </a:prstGeom>
          <a:solidFill>
            <a:srgbClr val="E8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285232"/>
            <a:ext cx="7315200" cy="274320"/>
          </a:xfrm>
          <a:prstGeom prst="rect">
            <a:avLst/>
          </a:prstGeom>
          <a:noFill/>
        </p:spPr>
        <p:txBody>
          <a:bodyPr wrap="square">
            <a:spAutoFit/>
          </a:bodyPr>
          <a:lstStyle/>
          <a:p>
            <a:pPr algn="l"/>
            <a:r>
              <a:rPr sz="1300" b="1" i="0">
                <a:solidFill>
                  <a:srgbClr val="00478A"/>
                </a:solidFill>
              </a:rPr>
              <a:t>What This Changes for Abbott</a:t>
            </a:r>
          </a:p>
        </p:txBody>
      </p:sp>
      <p:sp>
        <p:nvSpPr>
          <p:cNvPr id="26" name="TextBox 25"/>
          <p:cNvSpPr txBox="1"/>
          <p:nvPr/>
        </p:nvSpPr>
        <p:spPr>
          <a:xfrm>
            <a:off x="502920" y="5596128"/>
            <a:ext cx="1280160" cy="411480"/>
          </a:xfrm>
          <a:prstGeom prst="rect">
            <a:avLst/>
          </a:prstGeom>
          <a:noFill/>
        </p:spPr>
        <p:txBody>
          <a:bodyPr wrap="square">
            <a:spAutoFit/>
          </a:bodyPr>
          <a:lstStyle/>
          <a:p>
            <a:pPr algn="l"/>
            <a:r>
              <a:rPr sz="1000" b="1" i="0">
                <a:solidFill>
                  <a:srgbClr val="00478A"/>
                </a:solidFill>
              </a:rPr>
              <a:t>▸  Revenue: </a:t>
            </a:r>
          </a:p>
        </p:txBody>
      </p:sp>
      <p:sp>
        <p:nvSpPr>
          <p:cNvPr id="27" name="TextBox 26"/>
          <p:cNvSpPr txBox="1"/>
          <p:nvPr/>
        </p:nvSpPr>
        <p:spPr>
          <a:xfrm>
            <a:off x="1737360" y="5596128"/>
            <a:ext cx="4297680" cy="411480"/>
          </a:xfrm>
          <a:prstGeom prst="rect">
            <a:avLst/>
          </a:prstGeom>
          <a:noFill/>
        </p:spPr>
        <p:txBody>
          <a:bodyPr wrap="square">
            <a:spAutoFit/>
          </a:bodyPr>
          <a:lstStyle/>
          <a:p>
            <a:pPr algn="l"/>
            <a:r>
              <a:rPr sz="1000" b="0" i="0">
                <a:solidFill>
                  <a:srgbClr val="2D2D2D"/>
                </a:solidFill>
              </a:rPr>
              <a:t>Total Diagnostics crosses $12B+ in 2026 — closes the gap with Roche faster than organic growth could</a:t>
            </a:r>
          </a:p>
        </p:txBody>
      </p:sp>
      <p:sp>
        <p:nvSpPr>
          <p:cNvPr id="28" name="TextBox 27"/>
          <p:cNvSpPr txBox="1"/>
          <p:nvPr/>
        </p:nvSpPr>
        <p:spPr>
          <a:xfrm>
            <a:off x="6263640" y="5596128"/>
            <a:ext cx="1280160" cy="411480"/>
          </a:xfrm>
          <a:prstGeom prst="rect">
            <a:avLst/>
          </a:prstGeom>
          <a:noFill/>
        </p:spPr>
        <p:txBody>
          <a:bodyPr wrap="square">
            <a:spAutoFit/>
          </a:bodyPr>
          <a:lstStyle/>
          <a:p>
            <a:pPr algn="l"/>
            <a:r>
              <a:rPr sz="1000" b="1" i="0">
                <a:solidFill>
                  <a:srgbClr val="00478A"/>
                </a:solidFill>
              </a:rPr>
              <a:t>▸  Growth Rate: </a:t>
            </a:r>
          </a:p>
        </p:txBody>
      </p:sp>
      <p:sp>
        <p:nvSpPr>
          <p:cNvPr id="29" name="TextBox 28"/>
          <p:cNvSpPr txBox="1"/>
          <p:nvPr/>
        </p:nvSpPr>
        <p:spPr>
          <a:xfrm>
            <a:off x="7498079" y="5596128"/>
            <a:ext cx="4297680" cy="411480"/>
          </a:xfrm>
          <a:prstGeom prst="rect">
            <a:avLst/>
          </a:prstGeom>
          <a:noFill/>
        </p:spPr>
        <p:txBody>
          <a:bodyPr wrap="square">
            <a:spAutoFit/>
          </a:bodyPr>
          <a:lstStyle/>
          <a:p>
            <a:pPr algn="l"/>
            <a:r>
              <a:rPr sz="1000" b="0" i="0">
                <a:solidFill>
                  <a:srgbClr val="2D2D2D"/>
                </a:solidFill>
              </a:rPr>
              <a:t>Exact Sciences grew at ~15–18%/yr. Adds a high-growth engine alongside stable Core Lab</a:t>
            </a:r>
          </a:p>
        </p:txBody>
      </p:sp>
      <p:sp>
        <p:nvSpPr>
          <p:cNvPr id="30" name="TextBox 29"/>
          <p:cNvSpPr txBox="1"/>
          <p:nvPr/>
        </p:nvSpPr>
        <p:spPr>
          <a:xfrm>
            <a:off x="502920" y="6053328"/>
            <a:ext cx="1280160" cy="411480"/>
          </a:xfrm>
          <a:prstGeom prst="rect">
            <a:avLst/>
          </a:prstGeom>
          <a:noFill/>
        </p:spPr>
        <p:txBody>
          <a:bodyPr wrap="square">
            <a:spAutoFit/>
          </a:bodyPr>
          <a:lstStyle/>
          <a:p>
            <a:pPr algn="l"/>
            <a:r>
              <a:rPr sz="1000" b="1" i="0">
                <a:solidFill>
                  <a:srgbClr val="00478A"/>
                </a:solidFill>
              </a:rPr>
              <a:t>▸  Oncology Gap: </a:t>
            </a:r>
          </a:p>
        </p:txBody>
      </p:sp>
      <p:sp>
        <p:nvSpPr>
          <p:cNvPr id="31" name="TextBox 30"/>
          <p:cNvSpPr txBox="1"/>
          <p:nvPr/>
        </p:nvSpPr>
        <p:spPr>
          <a:xfrm>
            <a:off x="1737360" y="6053328"/>
            <a:ext cx="4297680" cy="411480"/>
          </a:xfrm>
          <a:prstGeom prst="rect">
            <a:avLst/>
          </a:prstGeom>
          <a:noFill/>
        </p:spPr>
        <p:txBody>
          <a:bodyPr wrap="square">
            <a:spAutoFit/>
          </a:bodyPr>
          <a:lstStyle/>
          <a:p>
            <a:pPr algn="l"/>
            <a:r>
              <a:rPr sz="1000" b="0" i="0">
                <a:solidFill>
                  <a:srgbClr val="2D2D2D"/>
                </a:solidFill>
              </a:rPr>
              <a:t>Abbott now has a credible cancer diagnostics portfolio — the #1 strategic hole is plugged</a:t>
            </a:r>
          </a:p>
        </p:txBody>
      </p:sp>
      <p:sp>
        <p:nvSpPr>
          <p:cNvPr id="32" name="TextBox 31"/>
          <p:cNvSpPr txBox="1"/>
          <p:nvPr/>
        </p:nvSpPr>
        <p:spPr>
          <a:xfrm>
            <a:off x="6263640" y="6053328"/>
            <a:ext cx="1280160" cy="411480"/>
          </a:xfrm>
          <a:prstGeom prst="rect">
            <a:avLst/>
          </a:prstGeom>
          <a:noFill/>
        </p:spPr>
        <p:txBody>
          <a:bodyPr wrap="square">
            <a:spAutoFit/>
          </a:bodyPr>
          <a:lstStyle/>
          <a:p>
            <a:pPr algn="l"/>
            <a:r>
              <a:rPr sz="1000" b="1" i="0">
                <a:solidFill>
                  <a:srgbClr val="00478A"/>
                </a:solidFill>
              </a:rPr>
              <a:t>▸  Reporting Change: </a:t>
            </a:r>
          </a:p>
        </p:txBody>
      </p:sp>
      <p:sp>
        <p:nvSpPr>
          <p:cNvPr id="33" name="TextBox 32"/>
          <p:cNvSpPr txBox="1"/>
          <p:nvPr/>
        </p:nvSpPr>
        <p:spPr>
          <a:xfrm>
            <a:off x="7498079" y="6053328"/>
            <a:ext cx="4297680" cy="411480"/>
          </a:xfrm>
          <a:prstGeom prst="rect">
            <a:avLst/>
          </a:prstGeom>
          <a:noFill/>
        </p:spPr>
        <p:txBody>
          <a:bodyPr wrap="square">
            <a:spAutoFit/>
          </a:bodyPr>
          <a:lstStyle/>
          <a:p>
            <a:pPr algn="l"/>
            <a:r>
              <a:rPr sz="1000" b="0" i="0">
                <a:solidFill>
                  <a:srgbClr val="2D2D2D"/>
                </a:solidFill>
              </a:rPr>
              <a:t>New segment 'Cancer Diagnostics' added in Q1 2026; Rapid+Molecular+POC consolidated into one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9144000" cy="502920"/>
          </a:xfrm>
          <a:prstGeom prst="rect">
            <a:avLst/>
          </a:prstGeom>
          <a:noFill/>
        </p:spPr>
        <p:txBody>
          <a:bodyPr wrap="square">
            <a:spAutoFit/>
          </a:bodyPr>
          <a:lstStyle/>
          <a:p>
            <a:pPr algn="l"/>
            <a:r>
              <a:rPr sz="2600" b="1" i="0">
                <a:solidFill>
                  <a:srgbClr val="FFFFFF"/>
                </a:solidFill>
              </a:rPr>
              <a:t>Key Takeaways</a:t>
            </a:r>
          </a:p>
        </p:txBody>
      </p:sp>
      <p:sp>
        <p:nvSpPr>
          <p:cNvPr id="4" name="TextBox 3"/>
          <p:cNvSpPr txBox="1"/>
          <p:nvPr/>
        </p:nvSpPr>
        <p:spPr>
          <a:xfrm>
            <a:off x="274320" y="594360"/>
            <a:ext cx="9144000" cy="365760"/>
          </a:xfrm>
          <a:prstGeom prst="rect">
            <a:avLst/>
          </a:prstGeom>
          <a:noFill/>
        </p:spPr>
        <p:txBody>
          <a:bodyPr wrap="square">
            <a:spAutoFit/>
          </a:bodyPr>
          <a:lstStyle/>
          <a:p>
            <a:pPr algn="l"/>
            <a:r>
              <a:rPr sz="1300" b="0" i="0">
                <a:solidFill>
                  <a:srgbClr val="BFD9F2"/>
                </a:solidFill>
              </a:rPr>
              <a:t>What to remember about Abbott's diagnostics business</a:t>
            </a:r>
          </a:p>
        </p:txBody>
      </p:sp>
      <p:sp>
        <p:nvSpPr>
          <p:cNvPr id="5" name="Rectangle 4"/>
          <p:cNvSpPr/>
          <p:nvPr/>
        </p:nvSpPr>
        <p:spPr>
          <a:xfrm>
            <a:off x="0" y="1005840"/>
            <a:ext cx="12188952" cy="36576"/>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29400"/>
            <a:ext cx="12188952" cy="2286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47688"/>
            <a:ext cx="10972800" cy="182880"/>
          </a:xfrm>
          <a:prstGeom prst="rect">
            <a:avLst/>
          </a:prstGeom>
          <a:noFill/>
        </p:spPr>
        <p:txBody>
          <a:bodyPr wrap="square">
            <a:spAutoFit/>
          </a:bodyPr>
          <a:lstStyle/>
          <a:p>
            <a:pPr algn="l"/>
            <a:r>
              <a:rPr sz="800" b="0" i="0">
                <a:solidFill>
                  <a:srgbClr val="5A5A5A"/>
                </a:solidFill>
              </a:rPr>
              <a:t>Abbott Diagnostics — Confidential</a:t>
            </a:r>
          </a:p>
        </p:txBody>
      </p:sp>
      <p:sp>
        <p:nvSpPr>
          <p:cNvPr id="8" name="Rectangle 7"/>
          <p:cNvSpPr/>
          <p:nvPr/>
        </p:nvSpPr>
        <p:spPr>
          <a:xfrm>
            <a:off x="320040" y="1188720"/>
            <a:ext cx="502920" cy="713232"/>
          </a:xfrm>
          <a:prstGeom prst="rect">
            <a:avLst/>
          </a:prstGeom>
          <a:solidFill>
            <a:srgbClr val="0047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353312"/>
            <a:ext cx="502920" cy="457200"/>
          </a:xfrm>
          <a:prstGeom prst="rect">
            <a:avLst/>
          </a:prstGeom>
          <a:noFill/>
        </p:spPr>
        <p:txBody>
          <a:bodyPr wrap="square">
            <a:spAutoFit/>
          </a:bodyPr>
          <a:lstStyle/>
          <a:p>
            <a:pPr algn="ctr"/>
            <a:r>
              <a:rPr sz="2000" b="1" i="0">
                <a:solidFill>
                  <a:srgbClr val="FFFFFF"/>
                </a:solidFill>
              </a:rPr>
              <a:t>1</a:t>
            </a:r>
          </a:p>
        </p:txBody>
      </p:sp>
      <p:sp>
        <p:nvSpPr>
          <p:cNvPr id="10" name="Rectangle 9"/>
          <p:cNvSpPr/>
          <p:nvPr/>
        </p:nvSpPr>
        <p:spPr>
          <a:xfrm>
            <a:off x="822960" y="1188720"/>
            <a:ext cx="11018520" cy="7132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225296"/>
            <a:ext cx="10515600" cy="256032"/>
          </a:xfrm>
          <a:prstGeom prst="rect">
            <a:avLst/>
          </a:prstGeom>
          <a:noFill/>
        </p:spPr>
        <p:txBody>
          <a:bodyPr wrap="square">
            <a:spAutoFit/>
          </a:bodyPr>
          <a:lstStyle/>
          <a:p>
            <a:pPr algn="l"/>
            <a:r>
              <a:rPr sz="1200" b="1" i="0">
                <a:solidFill>
                  <a:srgbClr val="00478A"/>
                </a:solidFill>
              </a:rPr>
              <a:t>Core Lab is the stable foundation</a:t>
            </a:r>
          </a:p>
        </p:txBody>
      </p:sp>
      <p:sp>
        <p:nvSpPr>
          <p:cNvPr id="12" name="TextBox 11"/>
          <p:cNvSpPr txBox="1"/>
          <p:nvPr/>
        </p:nvSpPr>
        <p:spPr>
          <a:xfrm>
            <a:off x="960120" y="1499616"/>
            <a:ext cx="10515600" cy="384048"/>
          </a:xfrm>
          <a:prstGeom prst="rect">
            <a:avLst/>
          </a:prstGeom>
          <a:noFill/>
        </p:spPr>
        <p:txBody>
          <a:bodyPr wrap="square">
            <a:spAutoFit/>
          </a:bodyPr>
          <a:lstStyle/>
          <a:p>
            <a:pPr algn="l"/>
            <a:r>
              <a:rPr sz="1000" b="0" i="0">
                <a:solidFill>
                  <a:srgbClr val="2D2D2D"/>
                </a:solidFill>
              </a:rPr>
              <a:t>The ~$5.2B Core Laboratory business (hospital analyzers and reagents) grows 3–5% per year organically and is relatively predictable. It is Abbott's highest-quality recurring revenue stream — think of it like a printer business: place the machine, sell the ink for 5–7 years.</a:t>
            </a:r>
          </a:p>
        </p:txBody>
      </p:sp>
      <p:sp>
        <p:nvSpPr>
          <p:cNvPr id="13" name="Rectangle 12"/>
          <p:cNvSpPr/>
          <p:nvPr/>
        </p:nvSpPr>
        <p:spPr>
          <a:xfrm>
            <a:off x="320040" y="1993392"/>
            <a:ext cx="502920" cy="713232"/>
          </a:xfrm>
          <a:prstGeom prst="rect">
            <a:avLst/>
          </a:prstGeom>
          <a:solidFill>
            <a:srgbClr val="E87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157984"/>
            <a:ext cx="502920" cy="457200"/>
          </a:xfrm>
          <a:prstGeom prst="rect">
            <a:avLst/>
          </a:prstGeom>
          <a:noFill/>
        </p:spPr>
        <p:txBody>
          <a:bodyPr wrap="square">
            <a:spAutoFit/>
          </a:bodyPr>
          <a:lstStyle/>
          <a:p>
            <a:pPr algn="ctr"/>
            <a:r>
              <a:rPr sz="2000" b="1" i="0">
                <a:solidFill>
                  <a:srgbClr val="FFFFFF"/>
                </a:solidFill>
              </a:rPr>
              <a:t>2</a:t>
            </a:r>
          </a:p>
        </p:txBody>
      </p:sp>
      <p:sp>
        <p:nvSpPr>
          <p:cNvPr id="15" name="Rectangle 14"/>
          <p:cNvSpPr/>
          <p:nvPr/>
        </p:nvSpPr>
        <p:spPr>
          <a:xfrm>
            <a:off x="822960" y="1993392"/>
            <a:ext cx="11018520" cy="7132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029968"/>
            <a:ext cx="10515600" cy="256032"/>
          </a:xfrm>
          <a:prstGeom prst="rect">
            <a:avLst/>
          </a:prstGeom>
          <a:noFill/>
        </p:spPr>
        <p:txBody>
          <a:bodyPr wrap="square">
            <a:spAutoFit/>
          </a:bodyPr>
          <a:lstStyle/>
          <a:p>
            <a:pPr algn="l"/>
            <a:r>
              <a:rPr sz="1200" b="1" i="0">
                <a:solidFill>
                  <a:srgbClr val="E87D1E"/>
                </a:solidFill>
              </a:rPr>
              <a:t>COVID inflated and deflated — the base business never stopped growing</a:t>
            </a:r>
          </a:p>
        </p:txBody>
      </p:sp>
      <p:sp>
        <p:nvSpPr>
          <p:cNvPr id="17" name="TextBox 16"/>
          <p:cNvSpPr txBox="1"/>
          <p:nvPr/>
        </p:nvSpPr>
        <p:spPr>
          <a:xfrm>
            <a:off x="960120" y="2304288"/>
            <a:ext cx="10515600" cy="384048"/>
          </a:xfrm>
          <a:prstGeom prst="rect">
            <a:avLst/>
          </a:prstGeom>
          <a:noFill/>
        </p:spPr>
        <p:txBody>
          <a:bodyPr wrap="square">
            <a:spAutoFit/>
          </a:bodyPr>
          <a:lstStyle/>
          <a:p>
            <a:pPr algn="l"/>
            <a:r>
              <a:rPr sz="1000" b="0" i="0">
                <a:solidFill>
                  <a:srgbClr val="2D2D2D"/>
                </a:solidFill>
              </a:rPr>
              <a:t>Revenue looked like it collapsed from $16.5B to $8.9B — but that's almost entirely COVID test revenue disappearing. Strip out COVID and the underlying business grew ~6% over 2022–2025. The story is now about the ex-COVID trajectory, not the headline number.</a:t>
            </a:r>
          </a:p>
        </p:txBody>
      </p:sp>
      <p:sp>
        <p:nvSpPr>
          <p:cNvPr id="18" name="Rectangle 17"/>
          <p:cNvSpPr/>
          <p:nvPr/>
        </p:nvSpPr>
        <p:spPr>
          <a:xfrm>
            <a:off x="320040" y="2798064"/>
            <a:ext cx="502920" cy="713232"/>
          </a:xfrm>
          <a:prstGeom prst="rect">
            <a:avLst/>
          </a:prstGeom>
          <a:solidFill>
            <a:srgbClr val="008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2962656"/>
            <a:ext cx="502920" cy="457200"/>
          </a:xfrm>
          <a:prstGeom prst="rect">
            <a:avLst/>
          </a:prstGeom>
          <a:noFill/>
        </p:spPr>
        <p:txBody>
          <a:bodyPr wrap="square">
            <a:spAutoFit/>
          </a:bodyPr>
          <a:lstStyle/>
          <a:p>
            <a:pPr algn="ctr"/>
            <a:r>
              <a:rPr sz="2000" b="1" i="0">
                <a:solidFill>
                  <a:srgbClr val="FFFFFF"/>
                </a:solidFill>
              </a:rPr>
              <a:t>3</a:t>
            </a:r>
          </a:p>
        </p:txBody>
      </p:sp>
      <p:sp>
        <p:nvSpPr>
          <p:cNvPr id="20" name="Rectangle 19"/>
          <p:cNvSpPr/>
          <p:nvPr/>
        </p:nvSpPr>
        <p:spPr>
          <a:xfrm>
            <a:off x="822960" y="2798064"/>
            <a:ext cx="11018520" cy="7132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834640"/>
            <a:ext cx="10515600" cy="256032"/>
          </a:xfrm>
          <a:prstGeom prst="rect">
            <a:avLst/>
          </a:prstGeom>
          <a:noFill/>
        </p:spPr>
        <p:txBody>
          <a:bodyPr wrap="square">
            <a:spAutoFit/>
          </a:bodyPr>
          <a:lstStyle/>
          <a:p>
            <a:pPr algn="l"/>
            <a:r>
              <a:rPr sz="1200" b="1" i="0">
                <a:solidFill>
                  <a:srgbClr val="008A4B"/>
                </a:solidFill>
              </a:rPr>
              <a:t>China VBP was the big 2024–2025 headwind — largely behind us</a:t>
            </a:r>
          </a:p>
        </p:txBody>
      </p:sp>
      <p:sp>
        <p:nvSpPr>
          <p:cNvPr id="22" name="TextBox 21"/>
          <p:cNvSpPr txBox="1"/>
          <p:nvPr/>
        </p:nvSpPr>
        <p:spPr>
          <a:xfrm>
            <a:off x="960120" y="3108960"/>
            <a:ext cx="10515600" cy="384048"/>
          </a:xfrm>
          <a:prstGeom prst="rect">
            <a:avLst/>
          </a:prstGeom>
          <a:noFill/>
        </p:spPr>
        <p:txBody>
          <a:bodyPr wrap="square">
            <a:spAutoFit/>
          </a:bodyPr>
          <a:lstStyle/>
          <a:p>
            <a:pPr algn="l"/>
            <a:r>
              <a:rPr sz="1000" b="0" i="0">
                <a:solidFill>
                  <a:srgbClr val="2D2D2D"/>
                </a:solidFill>
              </a:rPr>
              <a:t>China's government forced 60–85% price cuts on lab reagents through 'volume-based procurement.' This created a $400–500M annual drag on Core Lab. The worst is over (Q1 2026 China was flat). Prices won't recover, but the year-over-year comparison gets easier through H2 2026.</a:t>
            </a:r>
          </a:p>
        </p:txBody>
      </p:sp>
      <p:sp>
        <p:nvSpPr>
          <p:cNvPr id="23" name="Rectangle 22"/>
          <p:cNvSpPr/>
          <p:nvPr/>
        </p:nvSpPr>
        <p:spPr>
          <a:xfrm>
            <a:off x="320040" y="3602736"/>
            <a:ext cx="502920" cy="713232"/>
          </a:xfrm>
          <a:prstGeom prst="rect">
            <a:avLst/>
          </a:prstGeom>
          <a:solidFill>
            <a:srgbClr val="4A9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3767328"/>
            <a:ext cx="502920" cy="457200"/>
          </a:xfrm>
          <a:prstGeom prst="rect">
            <a:avLst/>
          </a:prstGeom>
          <a:noFill/>
        </p:spPr>
        <p:txBody>
          <a:bodyPr wrap="square">
            <a:spAutoFit/>
          </a:bodyPr>
          <a:lstStyle/>
          <a:p>
            <a:pPr algn="ctr"/>
            <a:r>
              <a:rPr sz="2000" b="1" i="0">
                <a:solidFill>
                  <a:srgbClr val="FFFFFF"/>
                </a:solidFill>
              </a:rPr>
              <a:t>4</a:t>
            </a:r>
          </a:p>
        </p:txBody>
      </p:sp>
      <p:sp>
        <p:nvSpPr>
          <p:cNvPr id="25" name="Rectangle 24"/>
          <p:cNvSpPr/>
          <p:nvPr/>
        </p:nvSpPr>
        <p:spPr>
          <a:xfrm>
            <a:off x="822960" y="3602736"/>
            <a:ext cx="11018520" cy="7132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639312"/>
            <a:ext cx="10515600" cy="256032"/>
          </a:xfrm>
          <a:prstGeom prst="rect">
            <a:avLst/>
          </a:prstGeom>
          <a:noFill/>
        </p:spPr>
        <p:txBody>
          <a:bodyPr wrap="square">
            <a:spAutoFit/>
          </a:bodyPr>
          <a:lstStyle/>
          <a:p>
            <a:pPr algn="l"/>
            <a:r>
              <a:rPr sz="1200" b="1" i="0">
                <a:solidFill>
                  <a:srgbClr val="4A90C4"/>
                </a:solidFill>
              </a:rPr>
              <a:t>Exact Sciences transforms the growth profile</a:t>
            </a:r>
          </a:p>
        </p:txBody>
      </p:sp>
      <p:sp>
        <p:nvSpPr>
          <p:cNvPr id="27" name="TextBox 26"/>
          <p:cNvSpPr txBox="1"/>
          <p:nvPr/>
        </p:nvSpPr>
        <p:spPr>
          <a:xfrm>
            <a:off x="960120" y="3913632"/>
            <a:ext cx="10515600" cy="384048"/>
          </a:xfrm>
          <a:prstGeom prst="rect">
            <a:avLst/>
          </a:prstGeom>
          <a:noFill/>
        </p:spPr>
        <p:txBody>
          <a:bodyPr wrap="square">
            <a:spAutoFit/>
          </a:bodyPr>
          <a:lstStyle/>
          <a:p>
            <a:pPr algn="l"/>
            <a:r>
              <a:rPr sz="1000" b="0" i="0">
                <a:solidFill>
                  <a:srgbClr val="2D2D2D"/>
                </a:solidFill>
              </a:rPr>
              <a:t>The $21B Exact Sciences acquisition (March 2026) adds Cologuard (colon cancer screening), Oncotype DX (breast cancer precision medicine), and CancerGuard (liquid biopsy). This fills Abbott's biggest strategic gap and pushes total diagnostics to $12B+ with a faster growth rate.</a:t>
            </a:r>
          </a:p>
        </p:txBody>
      </p:sp>
      <p:sp>
        <p:nvSpPr>
          <p:cNvPr id="28" name="Rectangle 27"/>
          <p:cNvSpPr/>
          <p:nvPr/>
        </p:nvSpPr>
        <p:spPr>
          <a:xfrm>
            <a:off x="320040" y="4407408"/>
            <a:ext cx="502920" cy="713232"/>
          </a:xfrm>
          <a:prstGeom prst="rect">
            <a:avLst/>
          </a:prstGeom>
          <a:solidFill>
            <a:srgbClr val="6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4572000"/>
            <a:ext cx="502920" cy="457200"/>
          </a:xfrm>
          <a:prstGeom prst="rect">
            <a:avLst/>
          </a:prstGeom>
          <a:noFill/>
        </p:spPr>
        <p:txBody>
          <a:bodyPr wrap="square">
            <a:spAutoFit/>
          </a:bodyPr>
          <a:lstStyle/>
          <a:p>
            <a:pPr algn="ctr"/>
            <a:r>
              <a:rPr sz="2000" b="1" i="0">
                <a:solidFill>
                  <a:srgbClr val="FFFFFF"/>
                </a:solidFill>
              </a:rPr>
              <a:t>5</a:t>
            </a:r>
          </a:p>
        </p:txBody>
      </p:sp>
      <p:sp>
        <p:nvSpPr>
          <p:cNvPr id="30" name="Rectangle 29"/>
          <p:cNvSpPr/>
          <p:nvPr/>
        </p:nvSpPr>
        <p:spPr>
          <a:xfrm>
            <a:off x="822960" y="4407408"/>
            <a:ext cx="11018520" cy="7132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443984"/>
            <a:ext cx="10515600" cy="256032"/>
          </a:xfrm>
          <a:prstGeom prst="rect">
            <a:avLst/>
          </a:prstGeom>
          <a:noFill/>
        </p:spPr>
        <p:txBody>
          <a:bodyPr wrap="square">
            <a:spAutoFit/>
          </a:bodyPr>
          <a:lstStyle/>
          <a:p>
            <a:pPr algn="l"/>
            <a:r>
              <a:rPr sz="1200" b="1" i="0">
                <a:solidFill>
                  <a:srgbClr val="6B4CA0"/>
                </a:solidFill>
              </a:rPr>
              <a:t>Abbott is a true platform company — breadth is the moat</a:t>
            </a:r>
          </a:p>
        </p:txBody>
      </p:sp>
      <p:sp>
        <p:nvSpPr>
          <p:cNvPr id="32" name="TextBox 31"/>
          <p:cNvSpPr txBox="1"/>
          <p:nvPr/>
        </p:nvSpPr>
        <p:spPr>
          <a:xfrm>
            <a:off x="960120" y="4718304"/>
            <a:ext cx="10515600" cy="384048"/>
          </a:xfrm>
          <a:prstGeom prst="rect">
            <a:avLst/>
          </a:prstGeom>
          <a:noFill/>
        </p:spPr>
        <p:txBody>
          <a:bodyPr wrap="square">
            <a:spAutoFit/>
          </a:bodyPr>
          <a:lstStyle/>
          <a:p>
            <a:pPr algn="l"/>
            <a:r>
              <a:rPr sz="1000" b="0" i="0">
                <a:solidFill>
                  <a:srgbClr val="2D2D2D"/>
                </a:solidFill>
              </a:rPr>
              <a:t>No competitor matches Abbott's ability to serve one hospital across Core Lab, POC (i-STAT), Rapid testing (BinaxNOW, ID NOW), Molecular (Alinity m), and now Oncology. The Alinity ecosystem + AlinIQ informatics creates significant switching costs.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