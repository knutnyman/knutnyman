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0"/>
            <a:ext cx="54864"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0"/>
            <a:ext cx="3474720" cy="914400"/>
          </a:xfrm>
          <a:prstGeom prst="rect">
            <a:avLst/>
          </a:prstGeom>
          <a:noFill/>
        </p:spPr>
        <p:txBody>
          <a:bodyPr wrap="square">
            <a:spAutoFit/>
          </a:bodyPr>
          <a:lstStyle/>
          <a:p>
            <a:pPr algn="ctr"/>
            <a:r>
              <a:rPr sz="5200" b="1" i="0">
                <a:solidFill>
                  <a:srgbClr val="FFFFFF"/>
                </a:solidFill>
              </a:rPr>
              <a:t>CHINA</a:t>
            </a:r>
          </a:p>
        </p:txBody>
      </p:sp>
      <p:sp>
        <p:nvSpPr>
          <p:cNvPr id="6" name="TextBox 5"/>
          <p:cNvSpPr txBox="1"/>
          <p:nvPr/>
        </p:nvSpPr>
        <p:spPr>
          <a:xfrm>
            <a:off x="365760" y="1920240"/>
            <a:ext cx="3474720" cy="822960"/>
          </a:xfrm>
          <a:prstGeom prst="rect">
            <a:avLst/>
          </a:prstGeom>
          <a:noFill/>
        </p:spPr>
        <p:txBody>
          <a:bodyPr wrap="square">
            <a:spAutoFit/>
          </a:bodyPr>
          <a:lstStyle/>
          <a:p>
            <a:pPr algn="ctr"/>
            <a:r>
              <a:rPr sz="5200" b="1" i="0">
                <a:solidFill>
                  <a:srgbClr val="C0392B"/>
                </a:solidFill>
              </a:rPr>
              <a:t>VBP</a:t>
            </a:r>
          </a:p>
        </p:txBody>
      </p:sp>
      <p:sp>
        <p:nvSpPr>
          <p:cNvPr id="7" name="TextBox 6"/>
          <p:cNvSpPr txBox="1"/>
          <p:nvPr/>
        </p:nvSpPr>
        <p:spPr>
          <a:xfrm>
            <a:off x="365760" y="2743200"/>
            <a:ext cx="3474720" cy="822960"/>
          </a:xfrm>
          <a:prstGeom prst="rect">
            <a:avLst/>
          </a:prstGeom>
          <a:noFill/>
        </p:spPr>
        <p:txBody>
          <a:bodyPr wrap="square">
            <a:spAutoFit/>
          </a:bodyPr>
          <a:lstStyle/>
          <a:p>
            <a:pPr algn="ctr"/>
            <a:r>
              <a:rPr sz="5200" b="1" i="0">
                <a:solidFill>
                  <a:srgbClr val="FFFFFF"/>
                </a:solidFill>
              </a:rPr>
              <a:t>IMPACT</a:t>
            </a:r>
          </a:p>
        </p:txBody>
      </p:sp>
      <p:sp>
        <p:nvSpPr>
          <p:cNvPr id="8" name="TextBox 7"/>
          <p:cNvSpPr txBox="1"/>
          <p:nvPr/>
        </p:nvSpPr>
        <p:spPr>
          <a:xfrm>
            <a:off x="4572000" y="1371600"/>
            <a:ext cx="7223760" cy="640080"/>
          </a:xfrm>
          <a:prstGeom prst="rect">
            <a:avLst/>
          </a:prstGeom>
          <a:noFill/>
        </p:spPr>
        <p:txBody>
          <a:bodyPr wrap="square">
            <a:spAutoFit/>
          </a:bodyPr>
          <a:lstStyle/>
          <a:p>
            <a:pPr algn="l"/>
            <a:r>
              <a:rPr sz="3000" b="1" i="0">
                <a:solidFill>
                  <a:srgbClr val="FFFFFF"/>
                </a:solidFill>
              </a:rPr>
              <a:t>Abbott Diagnostics</a:t>
            </a:r>
          </a:p>
        </p:txBody>
      </p:sp>
      <p:sp>
        <p:nvSpPr>
          <p:cNvPr id="9" name="TextBox 8"/>
          <p:cNvSpPr txBox="1"/>
          <p:nvPr/>
        </p:nvSpPr>
        <p:spPr>
          <a:xfrm>
            <a:off x="4572000" y="2103120"/>
            <a:ext cx="7223760" cy="914400"/>
          </a:xfrm>
          <a:prstGeom prst="rect">
            <a:avLst/>
          </a:prstGeom>
          <a:noFill/>
        </p:spPr>
        <p:txBody>
          <a:bodyPr wrap="square">
            <a:spAutoFit/>
          </a:bodyPr>
          <a:lstStyle/>
          <a:p>
            <a:pPr algn="l"/>
            <a:r>
              <a:rPr sz="2000" b="0" i="0">
                <a:solidFill>
                  <a:srgbClr val="BFD9F2"/>
                </a:solidFill>
              </a:rPr>
              <a:t>Volume-Based Procurement
Deep Dive &amp; Headwind Assessment</a:t>
            </a:r>
          </a:p>
        </p:txBody>
      </p:sp>
      <p:sp>
        <p:nvSpPr>
          <p:cNvPr id="10" name="TextBox 9"/>
          <p:cNvSpPr txBox="1"/>
          <p:nvPr/>
        </p:nvSpPr>
        <p:spPr>
          <a:xfrm>
            <a:off x="4572000" y="3108960"/>
            <a:ext cx="7223760" cy="457200"/>
          </a:xfrm>
          <a:prstGeom prst="rect">
            <a:avLst/>
          </a:prstGeom>
          <a:noFill/>
        </p:spPr>
        <p:txBody>
          <a:bodyPr wrap="square">
            <a:spAutoFit/>
          </a:bodyPr>
          <a:lstStyle/>
          <a:p>
            <a:pPr algn="l"/>
            <a:r>
              <a:rPr sz="1200" b="0" i="1">
                <a:solidFill>
                  <a:srgbClr val="99AABB"/>
                </a:solidFill>
              </a:rPr>
              <a:t>How big is the hit?  What has cleared?  What remains?  When does it end?</a:t>
            </a:r>
          </a:p>
        </p:txBody>
      </p:sp>
      <p:sp>
        <p:nvSpPr>
          <p:cNvPr id="11" name="TextBox 10"/>
          <p:cNvSpPr txBox="1"/>
          <p:nvPr/>
        </p:nvSpPr>
        <p:spPr>
          <a:xfrm>
            <a:off x="4572000" y="5943600"/>
            <a:ext cx="7223760" cy="365760"/>
          </a:xfrm>
          <a:prstGeom prst="rect">
            <a:avLst/>
          </a:prstGeom>
          <a:noFill/>
        </p:spPr>
        <p:txBody>
          <a:bodyPr wrap="square">
            <a:spAutoFit/>
          </a:bodyPr>
          <a:lstStyle/>
          <a:p>
            <a:pPr algn="l"/>
            <a:r>
              <a:rPr sz="1200" b="0" i="0">
                <a:solidFill>
                  <a:srgbClr val="5A5A5A"/>
                </a:solidFill>
              </a:rPr>
              <a:t>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What Is VBP? — Plain English</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China's government forcing hospitals to buy lab test supplies at much lower prices via bulk tenders</a:t>
            </a:r>
          </a:p>
        </p:txBody>
      </p:sp>
      <p:sp>
        <p:nvSpPr>
          <p:cNvPr id="5" name="Rectangle 4"/>
          <p:cNvSpPr/>
          <p:nvPr/>
        </p:nvSpPr>
        <p:spPr>
          <a:xfrm>
            <a:off x="0" y="1005840"/>
            <a:ext cx="12188952" cy="3657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China VBP Analysis</a:t>
            </a:r>
          </a:p>
        </p:txBody>
      </p:sp>
      <p:sp>
        <p:nvSpPr>
          <p:cNvPr id="8" name="Rectangle 7"/>
          <p:cNvSpPr/>
          <p:nvPr/>
        </p:nvSpPr>
        <p:spPr>
          <a:xfrm>
            <a:off x="320040" y="1143000"/>
            <a:ext cx="11521440" cy="914400"/>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88720"/>
            <a:ext cx="3657600" cy="274320"/>
          </a:xfrm>
          <a:prstGeom prst="rect">
            <a:avLst/>
          </a:prstGeom>
          <a:noFill/>
        </p:spPr>
        <p:txBody>
          <a:bodyPr wrap="square">
            <a:spAutoFit/>
          </a:bodyPr>
          <a:lstStyle/>
          <a:p>
            <a:pPr algn="l"/>
            <a:r>
              <a:rPr sz="1200" b="1" i="0">
                <a:solidFill>
                  <a:srgbClr val="00478A"/>
                </a:solidFill>
              </a:rPr>
              <a:t>The Simple Version</a:t>
            </a:r>
          </a:p>
        </p:txBody>
      </p:sp>
      <p:sp>
        <p:nvSpPr>
          <p:cNvPr id="10" name="TextBox 9"/>
          <p:cNvSpPr txBox="1"/>
          <p:nvPr/>
        </p:nvSpPr>
        <p:spPr>
          <a:xfrm>
            <a:off x="502920" y="1463040"/>
            <a:ext cx="11064240" cy="548640"/>
          </a:xfrm>
          <a:prstGeom prst="rect">
            <a:avLst/>
          </a:prstGeom>
          <a:noFill/>
        </p:spPr>
        <p:txBody>
          <a:bodyPr wrap="square">
            <a:spAutoFit/>
          </a:bodyPr>
          <a:lstStyle/>
          <a:p>
            <a:pPr algn="l"/>
            <a:r>
              <a:rPr sz="1100" b="0" i="0">
                <a:solidFill>
                  <a:srgbClr val="2D2D2D"/>
                </a:solidFill>
              </a:rPr>
              <a:t>China's government (NHSA) organizes massive group-buying events for hospital supplies. A coalition of 20–28 provinces pools together and says: 'We will commit to buying X million tests per year — but only if you cut your price by 60–85%. Whoever offers the lowest price wins the contract.' This is called Volume-Based Procurement (VBP / 集采 in Chinese).</a:t>
            </a:r>
          </a:p>
        </p:txBody>
      </p:sp>
      <p:sp>
        <p:nvSpPr>
          <p:cNvPr id="11" name="Rectangle 10"/>
          <p:cNvSpPr/>
          <p:nvPr/>
        </p:nvSpPr>
        <p:spPr>
          <a:xfrm>
            <a:off x="320040" y="2176272"/>
            <a:ext cx="3657600" cy="3200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2212848"/>
            <a:ext cx="3474720" cy="256032"/>
          </a:xfrm>
          <a:prstGeom prst="rect">
            <a:avLst/>
          </a:prstGeom>
          <a:noFill/>
        </p:spPr>
        <p:txBody>
          <a:bodyPr wrap="square">
            <a:spAutoFit/>
          </a:bodyPr>
          <a:lstStyle/>
          <a:p>
            <a:pPr algn="l"/>
            <a:r>
              <a:rPr sz="1200" b="1" i="0">
                <a:solidFill>
                  <a:srgbClr val="FFFFFF"/>
                </a:solidFill>
              </a:rPr>
              <a:t>⚙️  How It Works</a:t>
            </a:r>
          </a:p>
        </p:txBody>
      </p:sp>
      <p:sp>
        <p:nvSpPr>
          <p:cNvPr id="13" name="Rectangle 12"/>
          <p:cNvSpPr/>
          <p:nvPr/>
        </p:nvSpPr>
        <p:spPr>
          <a:xfrm>
            <a:off x="320040" y="2496312"/>
            <a:ext cx="3657600"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578608"/>
            <a:ext cx="3383280" cy="2194560"/>
          </a:xfrm>
          <a:prstGeom prst="rect">
            <a:avLst/>
          </a:prstGeom>
          <a:noFill/>
        </p:spPr>
        <p:txBody>
          <a:bodyPr wrap="square">
            <a:spAutoFit/>
          </a:bodyPr>
          <a:lstStyle/>
          <a:p>
            <a:r>
              <a:rPr sz="1000" b="0">
                <a:solidFill>
                  <a:srgbClr val="2D2D2D"/>
                </a:solidFill>
              </a:rPr>
              <a:t>Provinces pool together (20–28 at a time)</a:t>
            </a:r>
          </a:p>
          <a:p>
            <a:r>
              <a:rPr sz="1000" b="0">
                <a:solidFill>
                  <a:srgbClr val="2D2D2D"/>
                </a:solidFill>
              </a:rPr>
              <a:t>They tender for specific test reagents</a:t>
            </a:r>
          </a:p>
          <a:p>
            <a:r>
              <a:rPr sz="1000" b="0">
                <a:solidFill>
                  <a:srgbClr val="2D2D2D"/>
                </a:solidFill>
              </a:rPr>
              <a:t>  (e.g. 'thyroid tests' or 'chemistry panels')</a:t>
            </a:r>
          </a:p>
          <a:p>
            <a:r>
              <a:rPr sz="1000" b="0">
                <a:solidFill>
                  <a:srgbClr val="2D2D2D"/>
                </a:solidFill>
              </a:rPr>
              <a:t>Winning company gets ~80% of volume</a:t>
            </a:r>
          </a:p>
          <a:p>
            <a:r>
              <a:rPr sz="1000" b="0">
                <a:solidFill>
                  <a:srgbClr val="2D2D2D"/>
                </a:solidFill>
              </a:rPr>
              <a:t>  across all hospitals in those provinces</a:t>
            </a:r>
          </a:p>
          <a:p>
            <a:r>
              <a:rPr sz="1000" b="0">
                <a:solidFill>
                  <a:srgbClr val="2D2D2D"/>
                </a:solidFill>
              </a:rPr>
              <a:t>Price is fixed for 2–3 year contract</a:t>
            </a:r>
          </a:p>
          <a:p>
            <a:r>
              <a:rPr sz="1000" b="0">
                <a:solidFill>
                  <a:srgbClr val="2D2D2D"/>
                </a:solidFill>
              </a:rPr>
              <a:t>Non-winners get only the leftover 20%</a:t>
            </a:r>
          </a:p>
          <a:p>
            <a:r>
              <a:rPr sz="1000" b="0">
                <a:solidFill>
                  <a:srgbClr val="2D2D2D"/>
                </a:solidFill>
              </a:rPr>
              <a:t>Instruments are NOT included — just reagents</a:t>
            </a:r>
          </a:p>
          <a:p>
            <a:r>
              <a:rPr sz="1000" b="0">
                <a:solidFill>
                  <a:srgbClr val="2D2D2D"/>
                </a:solidFill>
              </a:rPr>
              <a:t>  (the 'ink cartridge' part of the business)</a:t>
            </a:r>
          </a:p>
        </p:txBody>
      </p:sp>
      <p:sp>
        <p:nvSpPr>
          <p:cNvPr id="15" name="Rectangle 14"/>
          <p:cNvSpPr/>
          <p:nvPr/>
        </p:nvSpPr>
        <p:spPr>
          <a:xfrm>
            <a:off x="4142231" y="2176272"/>
            <a:ext cx="3657600" cy="320040"/>
          </a:xfrm>
          <a:prstGeom prst="rect">
            <a:avLst/>
          </a:prstGeom>
          <a:solidFill>
            <a:srgbClr val="4A9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59" y="2212848"/>
            <a:ext cx="3474720" cy="256032"/>
          </a:xfrm>
          <a:prstGeom prst="rect">
            <a:avLst/>
          </a:prstGeom>
          <a:noFill/>
        </p:spPr>
        <p:txBody>
          <a:bodyPr wrap="square">
            <a:spAutoFit/>
          </a:bodyPr>
          <a:lstStyle/>
          <a:p>
            <a:pPr algn="l"/>
            <a:r>
              <a:rPr sz="1200" b="1" i="0">
                <a:solidFill>
                  <a:srgbClr val="FFFFFF"/>
                </a:solidFill>
              </a:rPr>
              <a:t>🏛️  Who Runs It</a:t>
            </a:r>
          </a:p>
        </p:txBody>
      </p:sp>
      <p:sp>
        <p:nvSpPr>
          <p:cNvPr id="17" name="Rectangle 16"/>
          <p:cNvSpPr/>
          <p:nvPr/>
        </p:nvSpPr>
        <p:spPr>
          <a:xfrm>
            <a:off x="4142231" y="2496312"/>
            <a:ext cx="3657600"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9392" y="2578608"/>
            <a:ext cx="3383280" cy="2194560"/>
          </a:xfrm>
          <a:prstGeom prst="rect">
            <a:avLst/>
          </a:prstGeom>
          <a:noFill/>
        </p:spPr>
        <p:txBody>
          <a:bodyPr wrap="square">
            <a:spAutoFit/>
          </a:bodyPr>
          <a:lstStyle/>
          <a:p>
            <a:r>
              <a:rPr sz="1000" b="0">
                <a:solidFill>
                  <a:srgbClr val="2D2D2D"/>
                </a:solidFill>
              </a:rPr>
              <a:t>NOT a single national body</a:t>
            </a:r>
          </a:p>
          <a:p>
            <a:r>
              <a:rPr sz="1000" b="0">
                <a:solidFill>
                  <a:srgbClr val="2D2D2D"/>
                </a:solidFill>
              </a:rPr>
              <a:t>7 lead provinces designated by NHSA:</a:t>
            </a:r>
          </a:p>
          <a:p>
            <a:r>
              <a:rPr sz="1000" b="0">
                <a:solidFill>
                  <a:srgbClr val="2D2D2D"/>
                </a:solidFill>
              </a:rPr>
              <a:t>  Jiangxi, Anhui, Guangdong, Zhejiang,</a:t>
            </a:r>
          </a:p>
          <a:p>
            <a:r>
              <a:rPr sz="1000" b="0">
                <a:solidFill>
                  <a:srgbClr val="2D2D2D"/>
                </a:solidFill>
              </a:rPr>
              <a:t>  Fujian, Henan, Hebei</a:t>
            </a:r>
          </a:p>
          <a:p>
            <a:r>
              <a:rPr sz="1000" b="0">
                <a:solidFill>
                  <a:srgbClr val="2D2D2D"/>
                </a:solidFill>
              </a:rPr>
              <a:t>Each province leads a multi-province</a:t>
            </a:r>
          </a:p>
          <a:p>
            <a:r>
              <a:rPr sz="1000" b="0">
                <a:solidFill>
                  <a:srgbClr val="2D2D2D"/>
                </a:solidFill>
              </a:rPr>
              <a:t>  alliance for specific categories</a:t>
            </a:r>
          </a:p>
          <a:p>
            <a:r>
              <a:rPr sz="1000" b="0">
                <a:solidFill>
                  <a:srgbClr val="2D2D2D"/>
                </a:solidFill>
              </a:rPr>
              <a:t>Anhui pioneered this in 2021 with</a:t>
            </a:r>
          </a:p>
          <a:p>
            <a:r>
              <a:rPr sz="1000" b="0">
                <a:solidFill>
                  <a:srgbClr val="2D2D2D"/>
                </a:solidFill>
              </a:rPr>
              <a:t>  immunoassay; other provinces followed</a:t>
            </a:r>
          </a:p>
          <a:p>
            <a:r>
              <a:rPr sz="1000" b="0">
                <a:solidFill>
                  <a:srgbClr val="2D2D2D"/>
                </a:solidFill>
              </a:rPr>
              <a:t>Goal: 80% of IVD spending through VBP</a:t>
            </a:r>
          </a:p>
        </p:txBody>
      </p:sp>
      <p:sp>
        <p:nvSpPr>
          <p:cNvPr id="19" name="Rectangle 18"/>
          <p:cNvSpPr/>
          <p:nvPr/>
        </p:nvSpPr>
        <p:spPr>
          <a:xfrm>
            <a:off x="7964423" y="2176272"/>
            <a:ext cx="3657600"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1" y="2212848"/>
            <a:ext cx="3474720" cy="256032"/>
          </a:xfrm>
          <a:prstGeom prst="rect">
            <a:avLst/>
          </a:prstGeom>
          <a:noFill/>
        </p:spPr>
        <p:txBody>
          <a:bodyPr wrap="square">
            <a:spAutoFit/>
          </a:bodyPr>
          <a:lstStyle/>
          <a:p>
            <a:pPr algn="l"/>
            <a:r>
              <a:rPr sz="1200" b="1" i="0">
                <a:solidFill>
                  <a:srgbClr val="FFFFFF"/>
                </a:solidFill>
              </a:rPr>
              <a:t>💥  Why It Hurts Multinationals</a:t>
            </a:r>
          </a:p>
        </p:txBody>
      </p:sp>
      <p:sp>
        <p:nvSpPr>
          <p:cNvPr id="21" name="Rectangle 20"/>
          <p:cNvSpPr/>
          <p:nvPr/>
        </p:nvSpPr>
        <p:spPr>
          <a:xfrm>
            <a:off x="7964423" y="2496312"/>
            <a:ext cx="3657600"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01583" y="2578608"/>
            <a:ext cx="3383280" cy="2194560"/>
          </a:xfrm>
          <a:prstGeom prst="rect">
            <a:avLst/>
          </a:prstGeom>
          <a:noFill/>
        </p:spPr>
        <p:txBody>
          <a:bodyPr wrap="square">
            <a:spAutoFit/>
          </a:bodyPr>
          <a:lstStyle/>
          <a:p>
            <a:r>
              <a:rPr sz="1000" b="0">
                <a:solidFill>
                  <a:srgbClr val="2D2D2D"/>
                </a:solidFill>
              </a:rPr>
              <a:t>MNCs (Abbott, Roche, Siemens) had the</a:t>
            </a:r>
          </a:p>
          <a:p>
            <a:r>
              <a:rPr sz="1000" b="0">
                <a:solidFill>
                  <a:srgbClr val="2D2D2D"/>
                </a:solidFill>
              </a:rPr>
              <a:t>  highest pre-VBP prices → biggest cuts</a:t>
            </a:r>
          </a:p>
          <a:p>
            <a:r>
              <a:rPr sz="1000" b="0">
                <a:solidFill>
                  <a:srgbClr val="2D2D2D"/>
                </a:solidFill>
              </a:rPr>
              <a:t>Domestic companies have lower cost</a:t>
            </a:r>
          </a:p>
          <a:p>
            <a:r>
              <a:rPr sz="1000" b="0">
                <a:solidFill>
                  <a:srgbClr val="2D2D2D"/>
                </a:solidFill>
              </a:rPr>
              <a:t>  bases → can win at lower prices</a:t>
            </a:r>
          </a:p>
          <a:p>
            <a:r>
              <a:rPr sz="1000" b="0">
                <a:solidFill>
                  <a:srgbClr val="2D2D2D"/>
                </a:solidFill>
              </a:rPr>
              <a:t>Scoring criteria favor domestic makers</a:t>
            </a:r>
          </a:p>
          <a:p>
            <a:r>
              <a:rPr sz="1000" b="0">
                <a:solidFill>
                  <a:srgbClr val="2D2D2D"/>
                </a:solidFill>
              </a:rPr>
              <a:t>  (implicit government preference)</a:t>
            </a:r>
          </a:p>
          <a:p>
            <a:r>
              <a:rPr sz="1000" b="0">
                <a:solidFill>
                  <a:srgbClr val="2D2D2D"/>
                </a:solidFill>
              </a:rPr>
              <a:t>Double whammy: price cuts AND volumes</a:t>
            </a:r>
          </a:p>
          <a:p>
            <a:r>
              <a:rPr sz="1000" b="0">
                <a:solidFill>
                  <a:srgbClr val="2D2D2D"/>
                </a:solidFill>
              </a:rPr>
              <a:t>  often go to local rivals, not MNCs</a:t>
            </a:r>
          </a:p>
          <a:p>
            <a:r>
              <a:rPr sz="1000" b="0">
                <a:solidFill>
                  <a:srgbClr val="2D2D2D"/>
                </a:solidFill>
              </a:rPr>
              <a:t>Abbott won ZERO of 13 lots it bid in</a:t>
            </a:r>
          </a:p>
          <a:p>
            <a:r>
              <a:rPr sz="1000" b="0">
                <a:solidFill>
                  <a:srgbClr val="2D2D2D"/>
                </a:solidFill>
              </a:rPr>
              <a:t>  the key 23-province chemistry round</a:t>
            </a:r>
          </a:p>
        </p:txBody>
      </p:sp>
      <p:sp>
        <p:nvSpPr>
          <p:cNvPr id="23" name="Rectangle 22"/>
          <p:cNvSpPr/>
          <p:nvPr/>
        </p:nvSpPr>
        <p:spPr>
          <a:xfrm>
            <a:off x="320040" y="4965192"/>
            <a:ext cx="11521440" cy="1280160"/>
          </a:xfrm>
          <a:prstGeom prst="rect">
            <a:avLst/>
          </a:prstGeom>
          <a:solidFill>
            <a:srgbClr val="FF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5020056"/>
            <a:ext cx="5486400" cy="274320"/>
          </a:xfrm>
          <a:prstGeom prst="rect">
            <a:avLst/>
          </a:prstGeom>
          <a:noFill/>
        </p:spPr>
        <p:txBody>
          <a:bodyPr wrap="square">
            <a:spAutoFit/>
          </a:bodyPr>
          <a:lstStyle/>
          <a:p>
            <a:pPr algn="l"/>
            <a:r>
              <a:rPr sz="1200" b="1" i="0">
                <a:solidFill>
                  <a:srgbClr val="E87D1E"/>
                </a:solidFill>
              </a:rPr>
              <a:t>⚠️  The Compound Effect: DRG/DIP Reform</a:t>
            </a:r>
          </a:p>
        </p:txBody>
      </p:sp>
      <p:sp>
        <p:nvSpPr>
          <p:cNvPr id="25" name="TextBox 24"/>
          <p:cNvSpPr txBox="1"/>
          <p:nvPr/>
        </p:nvSpPr>
        <p:spPr>
          <a:xfrm>
            <a:off x="502920" y="5321808"/>
            <a:ext cx="11064240" cy="850392"/>
          </a:xfrm>
          <a:prstGeom prst="rect">
            <a:avLst/>
          </a:prstGeom>
          <a:noFill/>
        </p:spPr>
        <p:txBody>
          <a:bodyPr wrap="square">
            <a:spAutoFit/>
          </a:bodyPr>
          <a:lstStyle/>
          <a:p>
            <a:pPr algn="l"/>
            <a:r>
              <a:rPr sz="1100" b="0" i="0">
                <a:solidFill>
                  <a:srgbClr val="2D2D2D"/>
                </a:solidFill>
              </a:rPr>
              <a:t>At the same time as VBP is cutting per-test prices, China is also rolling out 'DRG/DIP' hospital payment reform. This caps what hospitals get paid per patient admission — so hospitals have an incentive to order fewer (expensive) tests per patient. Result: VBP cuts the price Abbott gets per test, while DRG/DIP cuts the number of tests ordered. Both hit at once — that's why the China Core Lab revenue declined 15–30% per quarter in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How Big Is Abbott's China Diagnostics Business?</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Abbott doesn't disclose China diagnostics separately — here's the best available estimate</a:t>
            </a:r>
          </a:p>
        </p:txBody>
      </p:sp>
      <p:sp>
        <p:nvSpPr>
          <p:cNvPr id="5" name="Rectangle 4"/>
          <p:cNvSpPr/>
          <p:nvPr/>
        </p:nvSpPr>
        <p:spPr>
          <a:xfrm>
            <a:off x="0" y="1005840"/>
            <a:ext cx="12188952" cy="3657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China VBP Analysis</a:t>
            </a:r>
          </a:p>
        </p:txBody>
      </p:sp>
      <p:sp>
        <p:nvSpPr>
          <p:cNvPr id="8" name="Rectangle 7"/>
          <p:cNvSpPr/>
          <p:nvPr/>
        </p:nvSpPr>
        <p:spPr>
          <a:xfrm>
            <a:off x="320040" y="1143000"/>
            <a:ext cx="5623560" cy="53492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07008"/>
            <a:ext cx="5029200" cy="274320"/>
          </a:xfrm>
          <a:prstGeom prst="rect">
            <a:avLst/>
          </a:prstGeom>
          <a:noFill/>
        </p:spPr>
        <p:txBody>
          <a:bodyPr wrap="square">
            <a:spAutoFit/>
          </a:bodyPr>
          <a:lstStyle/>
          <a:p>
            <a:pPr algn="l"/>
            <a:r>
              <a:rPr sz="1300" b="1" i="0">
                <a:solidFill>
                  <a:srgbClr val="00478A"/>
                </a:solidFill>
              </a:rPr>
              <a:t>What Abbott Does Disclose</a:t>
            </a:r>
          </a:p>
        </p:txBody>
      </p:sp>
      <p:sp>
        <p:nvSpPr>
          <p:cNvPr id="10" name="TextBox 9"/>
          <p:cNvSpPr txBox="1"/>
          <p:nvPr/>
        </p:nvSpPr>
        <p:spPr>
          <a:xfrm>
            <a:off x="502920" y="1536192"/>
            <a:ext cx="2743200" cy="228600"/>
          </a:xfrm>
          <a:prstGeom prst="rect">
            <a:avLst/>
          </a:prstGeom>
          <a:noFill/>
        </p:spPr>
        <p:txBody>
          <a:bodyPr wrap="square">
            <a:spAutoFit/>
          </a:bodyPr>
          <a:lstStyle/>
          <a:p>
            <a:pPr algn="l"/>
            <a:r>
              <a:rPr sz="900" b="1" i="0">
                <a:solidFill>
                  <a:srgbClr val="5A5A5A"/>
                </a:solidFill>
              </a:rPr>
              <a:t>Metric</a:t>
            </a:r>
          </a:p>
        </p:txBody>
      </p:sp>
      <p:sp>
        <p:nvSpPr>
          <p:cNvPr id="11" name="TextBox 10"/>
          <p:cNvSpPr txBox="1"/>
          <p:nvPr/>
        </p:nvSpPr>
        <p:spPr>
          <a:xfrm>
            <a:off x="3291840" y="1536192"/>
            <a:ext cx="868680" cy="228600"/>
          </a:xfrm>
          <a:prstGeom prst="rect">
            <a:avLst/>
          </a:prstGeom>
          <a:noFill/>
        </p:spPr>
        <p:txBody>
          <a:bodyPr wrap="square">
            <a:spAutoFit/>
          </a:bodyPr>
          <a:lstStyle/>
          <a:p>
            <a:pPr algn="ctr"/>
            <a:r>
              <a:rPr sz="900" b="1" i="0">
                <a:solidFill>
                  <a:srgbClr val="5A5A5A"/>
                </a:solidFill>
              </a:rPr>
              <a:t>2023</a:t>
            </a:r>
          </a:p>
        </p:txBody>
      </p:sp>
      <p:sp>
        <p:nvSpPr>
          <p:cNvPr id="12" name="TextBox 11"/>
          <p:cNvSpPr txBox="1"/>
          <p:nvPr/>
        </p:nvSpPr>
        <p:spPr>
          <a:xfrm>
            <a:off x="4160520" y="1536192"/>
            <a:ext cx="868680" cy="228600"/>
          </a:xfrm>
          <a:prstGeom prst="rect">
            <a:avLst/>
          </a:prstGeom>
          <a:noFill/>
        </p:spPr>
        <p:txBody>
          <a:bodyPr wrap="square">
            <a:spAutoFit/>
          </a:bodyPr>
          <a:lstStyle/>
          <a:p>
            <a:pPr algn="ctr"/>
            <a:r>
              <a:rPr sz="900" b="1" i="0">
                <a:solidFill>
                  <a:srgbClr val="5A5A5A"/>
                </a:solidFill>
              </a:rPr>
              <a:t>2024</a:t>
            </a:r>
          </a:p>
        </p:txBody>
      </p:sp>
      <p:sp>
        <p:nvSpPr>
          <p:cNvPr id="13" name="TextBox 12"/>
          <p:cNvSpPr txBox="1"/>
          <p:nvPr/>
        </p:nvSpPr>
        <p:spPr>
          <a:xfrm>
            <a:off x="5029200" y="1536192"/>
            <a:ext cx="822960" cy="228600"/>
          </a:xfrm>
          <a:prstGeom prst="rect">
            <a:avLst/>
          </a:prstGeom>
          <a:noFill/>
        </p:spPr>
        <p:txBody>
          <a:bodyPr wrap="square">
            <a:spAutoFit/>
          </a:bodyPr>
          <a:lstStyle/>
          <a:p>
            <a:pPr algn="ctr"/>
            <a:r>
              <a:rPr sz="900" b="1" i="0">
                <a:solidFill>
                  <a:srgbClr val="5A5A5A"/>
                </a:solidFill>
              </a:rPr>
              <a:t>2025</a:t>
            </a:r>
          </a:p>
        </p:txBody>
      </p:sp>
      <p:sp>
        <p:nvSpPr>
          <p:cNvPr id="14" name="Rectangle 13"/>
          <p:cNvSpPr/>
          <p:nvPr/>
        </p:nvSpPr>
        <p:spPr>
          <a:xfrm>
            <a:off x="411480" y="1764792"/>
            <a:ext cx="544068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1828800"/>
            <a:ext cx="54406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1901952"/>
            <a:ext cx="2743200" cy="256032"/>
          </a:xfrm>
          <a:prstGeom prst="rect">
            <a:avLst/>
          </a:prstGeom>
          <a:noFill/>
        </p:spPr>
        <p:txBody>
          <a:bodyPr wrap="square">
            <a:spAutoFit/>
          </a:bodyPr>
          <a:lstStyle/>
          <a:p>
            <a:pPr algn="l"/>
            <a:r>
              <a:rPr sz="1000" b="0" i="0">
                <a:solidFill>
                  <a:srgbClr val="2D2D2D"/>
                </a:solidFill>
              </a:rPr>
              <a:t>Total Abbott China Revenue</a:t>
            </a:r>
          </a:p>
        </p:txBody>
      </p:sp>
      <p:sp>
        <p:nvSpPr>
          <p:cNvPr id="17" name="TextBox 16"/>
          <p:cNvSpPr txBox="1"/>
          <p:nvPr/>
        </p:nvSpPr>
        <p:spPr>
          <a:xfrm>
            <a:off x="3291840" y="1901952"/>
            <a:ext cx="822960" cy="256032"/>
          </a:xfrm>
          <a:prstGeom prst="rect">
            <a:avLst/>
          </a:prstGeom>
          <a:noFill/>
        </p:spPr>
        <p:txBody>
          <a:bodyPr wrap="square">
            <a:spAutoFit/>
          </a:bodyPr>
          <a:lstStyle/>
          <a:p>
            <a:pPr algn="ctr"/>
            <a:r>
              <a:rPr sz="1000" b="0" i="0">
                <a:solidFill>
                  <a:srgbClr val="2D2D2D"/>
                </a:solidFill>
              </a:rPr>
              <a:t>$2.25B</a:t>
            </a:r>
          </a:p>
        </p:txBody>
      </p:sp>
      <p:sp>
        <p:nvSpPr>
          <p:cNvPr id="18" name="TextBox 17"/>
          <p:cNvSpPr txBox="1"/>
          <p:nvPr/>
        </p:nvSpPr>
        <p:spPr>
          <a:xfrm>
            <a:off x="4160520" y="1901952"/>
            <a:ext cx="822960" cy="256032"/>
          </a:xfrm>
          <a:prstGeom prst="rect">
            <a:avLst/>
          </a:prstGeom>
          <a:noFill/>
        </p:spPr>
        <p:txBody>
          <a:bodyPr wrap="square">
            <a:spAutoFit/>
          </a:bodyPr>
          <a:lstStyle/>
          <a:p>
            <a:pPr algn="ctr"/>
            <a:r>
              <a:rPr sz="1000" b="0" i="0">
                <a:solidFill>
                  <a:srgbClr val="2D2D2D"/>
                </a:solidFill>
              </a:rPr>
              <a:t>$2.11B</a:t>
            </a:r>
          </a:p>
        </p:txBody>
      </p:sp>
      <p:sp>
        <p:nvSpPr>
          <p:cNvPr id="19" name="TextBox 18"/>
          <p:cNvSpPr txBox="1"/>
          <p:nvPr/>
        </p:nvSpPr>
        <p:spPr>
          <a:xfrm>
            <a:off x="5029200" y="1901952"/>
            <a:ext cx="822960" cy="256032"/>
          </a:xfrm>
          <a:prstGeom prst="rect">
            <a:avLst/>
          </a:prstGeom>
          <a:noFill/>
        </p:spPr>
        <p:txBody>
          <a:bodyPr wrap="square">
            <a:spAutoFit/>
          </a:bodyPr>
          <a:lstStyle/>
          <a:p>
            <a:pPr algn="ctr"/>
            <a:r>
              <a:rPr sz="1000" b="0" i="0">
                <a:solidFill>
                  <a:srgbClr val="2D2D2D"/>
                </a:solidFill>
              </a:rPr>
              <a:t>$1.87B</a:t>
            </a:r>
          </a:p>
        </p:txBody>
      </p:sp>
      <p:sp>
        <p:nvSpPr>
          <p:cNvPr id="20" name="Rectangle 19"/>
          <p:cNvSpPr/>
          <p:nvPr/>
        </p:nvSpPr>
        <p:spPr>
          <a:xfrm>
            <a:off x="411480" y="2212848"/>
            <a:ext cx="5440680" cy="36576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286000"/>
            <a:ext cx="2743200" cy="256032"/>
          </a:xfrm>
          <a:prstGeom prst="rect">
            <a:avLst/>
          </a:prstGeom>
          <a:noFill/>
        </p:spPr>
        <p:txBody>
          <a:bodyPr wrap="square">
            <a:spAutoFit/>
          </a:bodyPr>
          <a:lstStyle/>
          <a:p>
            <a:pPr algn="l"/>
            <a:r>
              <a:rPr sz="1000" b="1" i="0">
                <a:solidFill>
                  <a:srgbClr val="2D2D2D"/>
                </a:solidFill>
              </a:rPr>
              <a:t>  of Total Company Sales</a:t>
            </a:r>
          </a:p>
        </p:txBody>
      </p:sp>
      <p:sp>
        <p:nvSpPr>
          <p:cNvPr id="22" name="TextBox 21"/>
          <p:cNvSpPr txBox="1"/>
          <p:nvPr/>
        </p:nvSpPr>
        <p:spPr>
          <a:xfrm>
            <a:off x="3291840" y="2286000"/>
            <a:ext cx="822960" cy="256032"/>
          </a:xfrm>
          <a:prstGeom prst="rect">
            <a:avLst/>
          </a:prstGeom>
          <a:noFill/>
        </p:spPr>
        <p:txBody>
          <a:bodyPr wrap="square">
            <a:spAutoFit/>
          </a:bodyPr>
          <a:lstStyle/>
          <a:p>
            <a:pPr algn="ctr"/>
            <a:r>
              <a:rPr sz="1000" b="0" i="0">
                <a:solidFill>
                  <a:srgbClr val="2D2D2D"/>
                </a:solidFill>
              </a:rPr>
              <a:t>5.5%</a:t>
            </a:r>
          </a:p>
        </p:txBody>
      </p:sp>
      <p:sp>
        <p:nvSpPr>
          <p:cNvPr id="23" name="TextBox 22"/>
          <p:cNvSpPr txBox="1"/>
          <p:nvPr/>
        </p:nvSpPr>
        <p:spPr>
          <a:xfrm>
            <a:off x="4160520" y="2286000"/>
            <a:ext cx="822960" cy="256032"/>
          </a:xfrm>
          <a:prstGeom prst="rect">
            <a:avLst/>
          </a:prstGeom>
          <a:noFill/>
        </p:spPr>
        <p:txBody>
          <a:bodyPr wrap="square">
            <a:spAutoFit/>
          </a:bodyPr>
          <a:lstStyle/>
          <a:p>
            <a:pPr algn="ctr"/>
            <a:r>
              <a:rPr sz="1000" b="0" i="0">
                <a:solidFill>
                  <a:srgbClr val="2D2D2D"/>
                </a:solidFill>
              </a:rPr>
              <a:t>5.0%</a:t>
            </a:r>
          </a:p>
        </p:txBody>
      </p:sp>
      <p:sp>
        <p:nvSpPr>
          <p:cNvPr id="24" name="TextBox 23"/>
          <p:cNvSpPr txBox="1"/>
          <p:nvPr/>
        </p:nvSpPr>
        <p:spPr>
          <a:xfrm>
            <a:off x="5029200" y="2286000"/>
            <a:ext cx="822960" cy="256032"/>
          </a:xfrm>
          <a:prstGeom prst="rect">
            <a:avLst/>
          </a:prstGeom>
          <a:noFill/>
        </p:spPr>
        <p:txBody>
          <a:bodyPr wrap="square">
            <a:spAutoFit/>
          </a:bodyPr>
          <a:lstStyle/>
          <a:p>
            <a:pPr algn="ctr"/>
            <a:r>
              <a:rPr sz="1000" b="0" i="0">
                <a:solidFill>
                  <a:srgbClr val="2D2D2D"/>
                </a:solidFill>
              </a:rPr>
              <a:t>4.3%</a:t>
            </a:r>
          </a:p>
        </p:txBody>
      </p:sp>
      <p:sp>
        <p:nvSpPr>
          <p:cNvPr id="25" name="Rectangle 24"/>
          <p:cNvSpPr/>
          <p:nvPr/>
        </p:nvSpPr>
        <p:spPr>
          <a:xfrm>
            <a:off x="411480" y="2596896"/>
            <a:ext cx="54406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2670048"/>
            <a:ext cx="2743200" cy="256032"/>
          </a:xfrm>
          <a:prstGeom prst="rect">
            <a:avLst/>
          </a:prstGeom>
          <a:noFill/>
        </p:spPr>
        <p:txBody>
          <a:bodyPr wrap="square">
            <a:spAutoFit/>
          </a:bodyPr>
          <a:lstStyle/>
          <a:p>
            <a:pPr algn="l"/>
            <a:r>
              <a:rPr sz="1000" b="0" i="0">
                <a:solidFill>
                  <a:srgbClr val="2D2D2D"/>
                </a:solidFill>
              </a:rPr>
              <a:t>China VBP headwind</a:t>
            </a:r>
          </a:p>
        </p:txBody>
      </p:sp>
      <p:sp>
        <p:nvSpPr>
          <p:cNvPr id="27" name="TextBox 26"/>
          <p:cNvSpPr txBox="1"/>
          <p:nvPr/>
        </p:nvSpPr>
        <p:spPr>
          <a:xfrm>
            <a:off x="3291840" y="2670048"/>
            <a:ext cx="822960" cy="256032"/>
          </a:xfrm>
          <a:prstGeom prst="rect">
            <a:avLst/>
          </a:prstGeom>
          <a:noFill/>
        </p:spPr>
        <p:txBody>
          <a:bodyPr wrap="square">
            <a:spAutoFit/>
          </a:bodyPr>
          <a:lstStyle/>
          <a:p>
            <a:pPr algn="ctr"/>
            <a:r>
              <a:rPr sz="1000" b="0" i="0">
                <a:solidFill>
                  <a:srgbClr val="2D2D2D"/>
                </a:solidFill>
              </a:rPr>
              <a:t>—</a:t>
            </a:r>
          </a:p>
        </p:txBody>
      </p:sp>
      <p:sp>
        <p:nvSpPr>
          <p:cNvPr id="28" name="TextBox 27"/>
          <p:cNvSpPr txBox="1"/>
          <p:nvPr/>
        </p:nvSpPr>
        <p:spPr>
          <a:xfrm>
            <a:off x="4160520" y="2670048"/>
            <a:ext cx="822960" cy="256032"/>
          </a:xfrm>
          <a:prstGeom prst="rect">
            <a:avLst/>
          </a:prstGeom>
          <a:noFill/>
        </p:spPr>
        <p:txBody>
          <a:bodyPr wrap="square">
            <a:spAutoFit/>
          </a:bodyPr>
          <a:lstStyle/>
          <a:p>
            <a:pPr algn="ctr"/>
            <a:r>
              <a:rPr sz="1000" b="0" i="0">
                <a:solidFill>
                  <a:srgbClr val="2D2D2D"/>
                </a:solidFill>
              </a:rPr>
              <a:t>~$200M</a:t>
            </a:r>
          </a:p>
        </p:txBody>
      </p:sp>
      <p:sp>
        <p:nvSpPr>
          <p:cNvPr id="29" name="TextBox 28"/>
          <p:cNvSpPr txBox="1"/>
          <p:nvPr/>
        </p:nvSpPr>
        <p:spPr>
          <a:xfrm>
            <a:off x="5029200" y="2670048"/>
            <a:ext cx="822960" cy="256032"/>
          </a:xfrm>
          <a:prstGeom prst="rect">
            <a:avLst/>
          </a:prstGeom>
          <a:noFill/>
        </p:spPr>
        <p:txBody>
          <a:bodyPr wrap="square">
            <a:spAutoFit/>
          </a:bodyPr>
          <a:lstStyle/>
          <a:p>
            <a:pPr algn="ctr"/>
            <a:r>
              <a:rPr sz="1000" b="0" i="0">
                <a:solidFill>
                  <a:srgbClr val="2D2D2D"/>
                </a:solidFill>
              </a:rPr>
              <a:t>~$400–500M</a:t>
            </a:r>
          </a:p>
        </p:txBody>
      </p:sp>
      <p:sp>
        <p:nvSpPr>
          <p:cNvPr id="30" name="Rectangle 29"/>
          <p:cNvSpPr/>
          <p:nvPr/>
        </p:nvSpPr>
        <p:spPr>
          <a:xfrm>
            <a:off x="411480" y="2980944"/>
            <a:ext cx="5440680" cy="36576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054096"/>
            <a:ext cx="2743200" cy="256032"/>
          </a:xfrm>
          <a:prstGeom prst="rect">
            <a:avLst/>
          </a:prstGeom>
          <a:noFill/>
        </p:spPr>
        <p:txBody>
          <a:bodyPr wrap="square">
            <a:spAutoFit/>
          </a:bodyPr>
          <a:lstStyle/>
          <a:p>
            <a:pPr algn="l"/>
            <a:r>
              <a:rPr sz="1000" b="1" i="0">
                <a:solidFill>
                  <a:srgbClr val="2D2D2D"/>
                </a:solidFill>
              </a:rPr>
              <a:t>VBP as % organic Dx growth</a:t>
            </a:r>
          </a:p>
        </p:txBody>
      </p:sp>
      <p:sp>
        <p:nvSpPr>
          <p:cNvPr id="32" name="TextBox 31"/>
          <p:cNvSpPr txBox="1"/>
          <p:nvPr/>
        </p:nvSpPr>
        <p:spPr>
          <a:xfrm>
            <a:off x="3291840" y="3054096"/>
            <a:ext cx="822960" cy="256032"/>
          </a:xfrm>
          <a:prstGeom prst="rect">
            <a:avLst/>
          </a:prstGeom>
          <a:noFill/>
        </p:spPr>
        <p:txBody>
          <a:bodyPr wrap="square">
            <a:spAutoFit/>
          </a:bodyPr>
          <a:lstStyle/>
          <a:p>
            <a:pPr algn="ctr"/>
            <a:r>
              <a:rPr sz="1000" b="0" i="0">
                <a:solidFill>
                  <a:srgbClr val="2D2D2D"/>
                </a:solidFill>
              </a:rPr>
              <a:t>—</a:t>
            </a:r>
          </a:p>
        </p:txBody>
      </p:sp>
      <p:sp>
        <p:nvSpPr>
          <p:cNvPr id="33" name="TextBox 32"/>
          <p:cNvSpPr txBox="1"/>
          <p:nvPr/>
        </p:nvSpPr>
        <p:spPr>
          <a:xfrm>
            <a:off x="4160520" y="3054096"/>
            <a:ext cx="822960" cy="256032"/>
          </a:xfrm>
          <a:prstGeom prst="rect">
            <a:avLst/>
          </a:prstGeom>
          <a:noFill/>
        </p:spPr>
        <p:txBody>
          <a:bodyPr wrap="square">
            <a:spAutoFit/>
          </a:bodyPr>
          <a:lstStyle/>
          <a:p>
            <a:pPr algn="ctr"/>
            <a:r>
              <a:rPr sz="1000" b="0" i="0">
                <a:solidFill>
                  <a:srgbClr val="2D2D2D"/>
                </a:solidFill>
              </a:rPr>
              <a:t>—</a:t>
            </a:r>
          </a:p>
        </p:txBody>
      </p:sp>
      <p:sp>
        <p:nvSpPr>
          <p:cNvPr id="34" name="TextBox 33"/>
          <p:cNvSpPr txBox="1"/>
          <p:nvPr/>
        </p:nvSpPr>
        <p:spPr>
          <a:xfrm>
            <a:off x="5029200" y="3054096"/>
            <a:ext cx="822960" cy="256032"/>
          </a:xfrm>
          <a:prstGeom prst="rect">
            <a:avLst/>
          </a:prstGeom>
          <a:noFill/>
        </p:spPr>
        <p:txBody>
          <a:bodyPr wrap="square">
            <a:spAutoFit/>
          </a:bodyPr>
          <a:lstStyle/>
          <a:p>
            <a:pPr algn="ctr"/>
            <a:r>
              <a:rPr sz="1000" b="0" i="0">
                <a:solidFill>
                  <a:srgbClr val="2D2D2D"/>
                </a:solidFill>
              </a:rPr>
              <a:t>~750 bps drag</a:t>
            </a:r>
          </a:p>
        </p:txBody>
      </p:sp>
      <p:sp>
        <p:nvSpPr>
          <p:cNvPr id="35" name="TextBox 34"/>
          <p:cNvSpPr txBox="1"/>
          <p:nvPr/>
        </p:nvSpPr>
        <p:spPr>
          <a:xfrm>
            <a:off x="502920" y="3401568"/>
            <a:ext cx="5212080" cy="228600"/>
          </a:xfrm>
          <a:prstGeom prst="rect">
            <a:avLst/>
          </a:prstGeom>
          <a:noFill/>
        </p:spPr>
        <p:txBody>
          <a:bodyPr wrap="square">
            <a:spAutoFit/>
          </a:bodyPr>
          <a:lstStyle/>
          <a:p>
            <a:pPr algn="l"/>
            <a:r>
              <a:rPr sz="900" b="0" i="1">
                <a:solidFill>
                  <a:srgbClr val="E87D1E"/>
                </a:solidFill>
              </a:rPr>
              <a:t>China diagnostics revenue is NOT disclosed separately.</a:t>
            </a:r>
          </a:p>
        </p:txBody>
      </p:sp>
      <p:sp>
        <p:nvSpPr>
          <p:cNvPr id="36" name="TextBox 35"/>
          <p:cNvSpPr txBox="1"/>
          <p:nvPr/>
        </p:nvSpPr>
        <p:spPr>
          <a:xfrm>
            <a:off x="502920" y="3703320"/>
            <a:ext cx="5212080" cy="256032"/>
          </a:xfrm>
          <a:prstGeom prst="rect">
            <a:avLst/>
          </a:prstGeom>
          <a:noFill/>
        </p:spPr>
        <p:txBody>
          <a:bodyPr wrap="square">
            <a:spAutoFit/>
          </a:bodyPr>
          <a:lstStyle/>
          <a:p>
            <a:pPr algn="l"/>
            <a:r>
              <a:rPr sz="1100" b="1" i="0">
                <a:solidFill>
                  <a:srgbClr val="00478A"/>
                </a:solidFill>
              </a:rPr>
              <a:t>China Diagnostics Revenue — Triangulated Estimate</a:t>
            </a:r>
          </a:p>
        </p:txBody>
      </p:sp>
      <p:sp>
        <p:nvSpPr>
          <p:cNvPr id="37" name="TextBox 36"/>
          <p:cNvSpPr txBox="1"/>
          <p:nvPr/>
        </p:nvSpPr>
        <p:spPr>
          <a:xfrm>
            <a:off x="502920" y="4005072"/>
            <a:ext cx="5166360" cy="1463040"/>
          </a:xfrm>
          <a:prstGeom prst="rect">
            <a:avLst/>
          </a:prstGeom>
          <a:noFill/>
        </p:spPr>
        <p:txBody>
          <a:bodyPr wrap="square">
            <a:spAutoFit/>
          </a:bodyPr>
          <a:lstStyle/>
          <a:p>
            <a:pPr algn="l"/>
            <a:r>
              <a:rPr sz="1000" b="0" i="0">
                <a:solidFill>
                  <a:srgbClr val="2D2D2D"/>
                </a:solidFill>
              </a:rPr>
              <a:t>Abbott disclosed a '$400–500M annual VBP headwind.' If that represents a ~50–70% price cut (consistent with disclosed price reductions), the pre-VBP China Core Lab reagent base was approximately $600M–$1B. The post-VBP steady-state base is estimated at $350–500M — permanently reset, will not recover to prior levels.</a:t>
            </a:r>
          </a:p>
        </p:txBody>
      </p:sp>
      <p:sp>
        <p:nvSpPr>
          <p:cNvPr id="38" name="TextBox 37"/>
          <p:cNvSpPr txBox="1"/>
          <p:nvPr/>
        </p:nvSpPr>
        <p:spPr>
          <a:xfrm>
            <a:off x="6080760" y="1207008"/>
            <a:ext cx="5852160" cy="274320"/>
          </a:xfrm>
          <a:prstGeom prst="rect">
            <a:avLst/>
          </a:prstGeom>
          <a:noFill/>
        </p:spPr>
        <p:txBody>
          <a:bodyPr wrap="square">
            <a:spAutoFit/>
          </a:bodyPr>
          <a:lstStyle/>
          <a:p>
            <a:pPr algn="l"/>
            <a:r>
              <a:rPr sz="1300" b="1" i="0">
                <a:solidFill>
                  <a:srgbClr val="00478A"/>
                </a:solidFill>
              </a:rPr>
              <a:t>What Abbott Sells in China — &amp; VBP Exposure</a:t>
            </a:r>
          </a:p>
        </p:txBody>
      </p:sp>
      <p:sp>
        <p:nvSpPr>
          <p:cNvPr id="39" name="Rectangle 38"/>
          <p:cNvSpPr/>
          <p:nvPr/>
        </p:nvSpPr>
        <p:spPr>
          <a:xfrm>
            <a:off x="6035040" y="1536192"/>
            <a:ext cx="685800" cy="5669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53328" y="1700784"/>
            <a:ext cx="658368" cy="256032"/>
          </a:xfrm>
          <a:prstGeom prst="rect">
            <a:avLst/>
          </a:prstGeom>
          <a:noFill/>
        </p:spPr>
        <p:txBody>
          <a:bodyPr wrap="square">
            <a:spAutoFit/>
          </a:bodyPr>
          <a:lstStyle/>
          <a:p>
            <a:pPr algn="ctr"/>
            <a:r>
              <a:rPr sz="1200" b="0" i="0">
                <a:solidFill>
                  <a:srgbClr val="FFFFFF"/>
                </a:solidFill>
              </a:rPr>
              <a:t>🔴</a:t>
            </a:r>
          </a:p>
        </p:txBody>
      </p:sp>
      <p:sp>
        <p:nvSpPr>
          <p:cNvPr id="41" name="Rectangle 40"/>
          <p:cNvSpPr/>
          <p:nvPr/>
        </p:nvSpPr>
        <p:spPr>
          <a:xfrm>
            <a:off x="6720840" y="1536192"/>
            <a:ext cx="544068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0" y="1563624"/>
            <a:ext cx="5212080" cy="201168"/>
          </a:xfrm>
          <a:prstGeom prst="rect">
            <a:avLst/>
          </a:prstGeom>
          <a:noFill/>
        </p:spPr>
        <p:txBody>
          <a:bodyPr wrap="square">
            <a:spAutoFit/>
          </a:bodyPr>
          <a:lstStyle/>
          <a:p>
            <a:pPr algn="l"/>
            <a:r>
              <a:rPr sz="1000" b="1" i="0">
                <a:solidFill>
                  <a:srgbClr val="2D2D2D"/>
                </a:solidFill>
              </a:rPr>
              <a:t>Core Lab (Immunoassay)</a:t>
            </a:r>
          </a:p>
        </p:txBody>
      </p:sp>
      <p:sp>
        <p:nvSpPr>
          <p:cNvPr id="43" name="TextBox 42"/>
          <p:cNvSpPr txBox="1"/>
          <p:nvPr/>
        </p:nvSpPr>
        <p:spPr>
          <a:xfrm>
            <a:off x="6858000" y="1783080"/>
            <a:ext cx="5166360" cy="292608"/>
          </a:xfrm>
          <a:prstGeom prst="rect">
            <a:avLst/>
          </a:prstGeom>
          <a:noFill/>
        </p:spPr>
        <p:txBody>
          <a:bodyPr wrap="square">
            <a:spAutoFit/>
          </a:bodyPr>
          <a:lstStyle/>
          <a:p>
            <a:pPr algn="l"/>
            <a:r>
              <a:rPr sz="850" b="0" i="0">
                <a:solidFill>
                  <a:srgbClr val="5A5A5A"/>
                </a:solidFill>
              </a:rPr>
              <a:t>Alinity i / ARCHITECT  ·  Tumor markers, thyroid, hormones, infection serology — all went through VBP</a:t>
            </a:r>
          </a:p>
        </p:txBody>
      </p:sp>
      <p:sp>
        <p:nvSpPr>
          <p:cNvPr id="44" name="Rectangle 43"/>
          <p:cNvSpPr/>
          <p:nvPr/>
        </p:nvSpPr>
        <p:spPr>
          <a:xfrm>
            <a:off x="6035040" y="2130552"/>
            <a:ext cx="685800" cy="5669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53328" y="2295144"/>
            <a:ext cx="658368" cy="256032"/>
          </a:xfrm>
          <a:prstGeom prst="rect">
            <a:avLst/>
          </a:prstGeom>
          <a:noFill/>
        </p:spPr>
        <p:txBody>
          <a:bodyPr wrap="square">
            <a:spAutoFit/>
          </a:bodyPr>
          <a:lstStyle/>
          <a:p>
            <a:pPr algn="ctr"/>
            <a:r>
              <a:rPr sz="1200" b="0" i="0">
                <a:solidFill>
                  <a:srgbClr val="FFFFFF"/>
                </a:solidFill>
              </a:rPr>
              <a:t>🔴</a:t>
            </a:r>
          </a:p>
        </p:txBody>
      </p:sp>
      <p:sp>
        <p:nvSpPr>
          <p:cNvPr id="46" name="Rectangle 45"/>
          <p:cNvSpPr/>
          <p:nvPr/>
        </p:nvSpPr>
        <p:spPr>
          <a:xfrm>
            <a:off x="6720840" y="2130552"/>
            <a:ext cx="544068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0" y="2157984"/>
            <a:ext cx="5212080" cy="201168"/>
          </a:xfrm>
          <a:prstGeom prst="rect">
            <a:avLst/>
          </a:prstGeom>
          <a:noFill/>
        </p:spPr>
        <p:txBody>
          <a:bodyPr wrap="square">
            <a:spAutoFit/>
          </a:bodyPr>
          <a:lstStyle/>
          <a:p>
            <a:pPr algn="l"/>
            <a:r>
              <a:rPr sz="1000" b="1" i="0">
                <a:solidFill>
                  <a:srgbClr val="2D2D2D"/>
                </a:solidFill>
              </a:rPr>
              <a:t>Core Lab (Chemistry)</a:t>
            </a:r>
          </a:p>
        </p:txBody>
      </p:sp>
      <p:sp>
        <p:nvSpPr>
          <p:cNvPr id="48" name="TextBox 47"/>
          <p:cNvSpPr txBox="1"/>
          <p:nvPr/>
        </p:nvSpPr>
        <p:spPr>
          <a:xfrm>
            <a:off x="6858000" y="2377440"/>
            <a:ext cx="5166360" cy="292608"/>
          </a:xfrm>
          <a:prstGeom prst="rect">
            <a:avLst/>
          </a:prstGeom>
          <a:noFill/>
        </p:spPr>
        <p:txBody>
          <a:bodyPr wrap="square">
            <a:spAutoFit/>
          </a:bodyPr>
          <a:lstStyle/>
          <a:p>
            <a:pPr algn="l"/>
            <a:r>
              <a:rPr sz="850" b="0" i="0">
                <a:solidFill>
                  <a:srgbClr val="5A5A5A"/>
                </a:solidFill>
              </a:rPr>
              <a:t>Alinity c / ARCHITECT  ·  Liver, kidney, lipids, glucose — 23-province round; Abbott won 0 of 13 lots</a:t>
            </a:r>
          </a:p>
        </p:txBody>
      </p:sp>
      <p:sp>
        <p:nvSpPr>
          <p:cNvPr id="49" name="Rectangle 48"/>
          <p:cNvSpPr/>
          <p:nvPr/>
        </p:nvSpPr>
        <p:spPr>
          <a:xfrm>
            <a:off x="6035040" y="2724912"/>
            <a:ext cx="685800" cy="566928"/>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53328" y="2889504"/>
            <a:ext cx="658368" cy="256032"/>
          </a:xfrm>
          <a:prstGeom prst="rect">
            <a:avLst/>
          </a:prstGeom>
          <a:noFill/>
        </p:spPr>
        <p:txBody>
          <a:bodyPr wrap="square">
            <a:spAutoFit/>
          </a:bodyPr>
          <a:lstStyle/>
          <a:p>
            <a:pPr algn="ctr"/>
            <a:r>
              <a:rPr sz="1200" b="0" i="0">
                <a:solidFill>
                  <a:srgbClr val="FFFFFF"/>
                </a:solidFill>
              </a:rPr>
              <a:t>🟡</a:t>
            </a:r>
          </a:p>
        </p:txBody>
      </p:sp>
      <p:sp>
        <p:nvSpPr>
          <p:cNvPr id="51" name="Rectangle 50"/>
          <p:cNvSpPr/>
          <p:nvPr/>
        </p:nvSpPr>
        <p:spPr>
          <a:xfrm>
            <a:off x="6720840" y="2724912"/>
            <a:ext cx="544068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58000" y="2752344"/>
            <a:ext cx="5212080" cy="201168"/>
          </a:xfrm>
          <a:prstGeom prst="rect">
            <a:avLst/>
          </a:prstGeom>
          <a:noFill/>
        </p:spPr>
        <p:txBody>
          <a:bodyPr wrap="square">
            <a:spAutoFit/>
          </a:bodyPr>
          <a:lstStyle/>
          <a:p>
            <a:pPr algn="l"/>
            <a:r>
              <a:rPr sz="1000" b="1" i="0">
                <a:solidFill>
                  <a:srgbClr val="2D2D2D"/>
                </a:solidFill>
              </a:rPr>
              <a:t>Molecular Diagnostics</a:t>
            </a:r>
          </a:p>
        </p:txBody>
      </p:sp>
      <p:sp>
        <p:nvSpPr>
          <p:cNvPr id="53" name="TextBox 52"/>
          <p:cNvSpPr txBox="1"/>
          <p:nvPr/>
        </p:nvSpPr>
        <p:spPr>
          <a:xfrm>
            <a:off x="6858000" y="2971800"/>
            <a:ext cx="5166360" cy="292608"/>
          </a:xfrm>
          <a:prstGeom prst="rect">
            <a:avLst/>
          </a:prstGeom>
          <a:noFill/>
        </p:spPr>
        <p:txBody>
          <a:bodyPr wrap="square">
            <a:spAutoFit/>
          </a:bodyPr>
          <a:lstStyle/>
          <a:p>
            <a:pPr algn="l"/>
            <a:r>
              <a:rPr sz="850" b="0" i="0">
                <a:solidFill>
                  <a:srgbClr val="5A5A5A"/>
                </a:solidFill>
              </a:rPr>
              <a:t>m2000 / Alinity m  ·  HPV went through Dec 2023 round; HIV/HCV smaller share in China</a:t>
            </a:r>
          </a:p>
        </p:txBody>
      </p:sp>
      <p:sp>
        <p:nvSpPr>
          <p:cNvPr id="54" name="Rectangle 53"/>
          <p:cNvSpPr/>
          <p:nvPr/>
        </p:nvSpPr>
        <p:spPr>
          <a:xfrm>
            <a:off x="6035040" y="3319272"/>
            <a:ext cx="685800" cy="566928"/>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053328" y="3483864"/>
            <a:ext cx="658368" cy="256032"/>
          </a:xfrm>
          <a:prstGeom prst="rect">
            <a:avLst/>
          </a:prstGeom>
          <a:noFill/>
        </p:spPr>
        <p:txBody>
          <a:bodyPr wrap="square">
            <a:spAutoFit/>
          </a:bodyPr>
          <a:lstStyle/>
          <a:p>
            <a:pPr algn="ctr"/>
            <a:r>
              <a:rPr sz="1200" b="0" i="0">
                <a:solidFill>
                  <a:srgbClr val="FFFFFF"/>
                </a:solidFill>
              </a:rPr>
              <a:t>🟢</a:t>
            </a:r>
          </a:p>
        </p:txBody>
      </p:sp>
      <p:sp>
        <p:nvSpPr>
          <p:cNvPr id="56" name="Rectangle 55"/>
          <p:cNvSpPr/>
          <p:nvPr/>
        </p:nvSpPr>
        <p:spPr>
          <a:xfrm>
            <a:off x="6720840" y="3319272"/>
            <a:ext cx="544068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58000" y="3346703"/>
            <a:ext cx="5212080" cy="201168"/>
          </a:xfrm>
          <a:prstGeom prst="rect">
            <a:avLst/>
          </a:prstGeom>
          <a:noFill/>
        </p:spPr>
        <p:txBody>
          <a:bodyPr wrap="square">
            <a:spAutoFit/>
          </a:bodyPr>
          <a:lstStyle/>
          <a:p>
            <a:pPr algn="l"/>
            <a:r>
              <a:rPr sz="1000" b="1" i="0">
                <a:solidFill>
                  <a:srgbClr val="2D2D2D"/>
                </a:solidFill>
              </a:rPr>
              <a:t>Rapid Diagnostics</a:t>
            </a:r>
          </a:p>
        </p:txBody>
      </p:sp>
      <p:sp>
        <p:nvSpPr>
          <p:cNvPr id="58" name="TextBox 57"/>
          <p:cNvSpPr txBox="1"/>
          <p:nvPr/>
        </p:nvSpPr>
        <p:spPr>
          <a:xfrm>
            <a:off x="6858000" y="3566160"/>
            <a:ext cx="5166360" cy="292608"/>
          </a:xfrm>
          <a:prstGeom prst="rect">
            <a:avLst/>
          </a:prstGeom>
          <a:noFill/>
        </p:spPr>
        <p:txBody>
          <a:bodyPr wrap="square">
            <a:spAutoFit/>
          </a:bodyPr>
          <a:lstStyle/>
          <a:p>
            <a:pPr algn="l"/>
            <a:r>
              <a:rPr sz="850" b="0" i="0">
                <a:solidFill>
                  <a:srgbClr val="5A5A5A"/>
                </a:solidFill>
              </a:rPr>
              <a:t>BinaxNOW / Panbio  ·  Different channel (consumer/POC) — less VBP exposure; Q1 2026 down 10% on weak flu season</a:t>
            </a:r>
          </a:p>
        </p:txBody>
      </p:sp>
      <p:sp>
        <p:nvSpPr>
          <p:cNvPr id="59" name="Rectangle 58"/>
          <p:cNvSpPr/>
          <p:nvPr/>
        </p:nvSpPr>
        <p:spPr>
          <a:xfrm>
            <a:off x="6035040" y="3913632"/>
            <a:ext cx="685800" cy="566928"/>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053328" y="4078224"/>
            <a:ext cx="658368" cy="256032"/>
          </a:xfrm>
          <a:prstGeom prst="rect">
            <a:avLst/>
          </a:prstGeom>
          <a:noFill/>
        </p:spPr>
        <p:txBody>
          <a:bodyPr wrap="square">
            <a:spAutoFit/>
          </a:bodyPr>
          <a:lstStyle/>
          <a:p>
            <a:pPr algn="ctr"/>
            <a:r>
              <a:rPr sz="1200" b="0" i="0">
                <a:solidFill>
                  <a:srgbClr val="FFFFFF"/>
                </a:solidFill>
              </a:rPr>
              <a:t>🟢</a:t>
            </a:r>
          </a:p>
        </p:txBody>
      </p:sp>
      <p:sp>
        <p:nvSpPr>
          <p:cNvPr id="61" name="Rectangle 60"/>
          <p:cNvSpPr/>
          <p:nvPr/>
        </p:nvSpPr>
        <p:spPr>
          <a:xfrm>
            <a:off x="6720840" y="3913632"/>
            <a:ext cx="544068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58000" y="3941064"/>
            <a:ext cx="5212080" cy="201168"/>
          </a:xfrm>
          <a:prstGeom prst="rect">
            <a:avLst/>
          </a:prstGeom>
          <a:noFill/>
        </p:spPr>
        <p:txBody>
          <a:bodyPr wrap="square">
            <a:spAutoFit/>
          </a:bodyPr>
          <a:lstStyle/>
          <a:p>
            <a:pPr algn="l"/>
            <a:r>
              <a:rPr sz="1000" b="1" i="0">
                <a:solidFill>
                  <a:srgbClr val="2D2D2D"/>
                </a:solidFill>
              </a:rPr>
              <a:t>Point of Care</a:t>
            </a:r>
          </a:p>
        </p:txBody>
      </p:sp>
      <p:sp>
        <p:nvSpPr>
          <p:cNvPr id="63" name="TextBox 62"/>
          <p:cNvSpPr txBox="1"/>
          <p:nvPr/>
        </p:nvSpPr>
        <p:spPr>
          <a:xfrm>
            <a:off x="6858000" y="4160520"/>
            <a:ext cx="5166360" cy="292608"/>
          </a:xfrm>
          <a:prstGeom prst="rect">
            <a:avLst/>
          </a:prstGeom>
          <a:noFill/>
        </p:spPr>
        <p:txBody>
          <a:bodyPr wrap="square">
            <a:spAutoFit/>
          </a:bodyPr>
          <a:lstStyle/>
          <a:p>
            <a:pPr algn="l"/>
            <a:r>
              <a:rPr sz="850" b="0" i="0">
                <a:solidFill>
                  <a:srgbClr val="5A5A5A"/>
                </a:solidFill>
              </a:rPr>
              <a:t>i-STAT  ·  Hospital bedside; smaller China revenue base; POCT not yet in alliance-scale VBP</a:t>
            </a:r>
          </a:p>
        </p:txBody>
      </p:sp>
      <p:sp>
        <p:nvSpPr>
          <p:cNvPr id="64" name="Rectangle 63"/>
          <p:cNvSpPr/>
          <p:nvPr/>
        </p:nvSpPr>
        <p:spPr>
          <a:xfrm>
            <a:off x="6035040" y="4507992"/>
            <a:ext cx="685800" cy="566928"/>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053328" y="4672584"/>
            <a:ext cx="658368" cy="256032"/>
          </a:xfrm>
          <a:prstGeom prst="rect">
            <a:avLst/>
          </a:prstGeom>
          <a:noFill/>
        </p:spPr>
        <p:txBody>
          <a:bodyPr wrap="square">
            <a:spAutoFit/>
          </a:bodyPr>
          <a:lstStyle/>
          <a:p>
            <a:pPr algn="ctr"/>
            <a:r>
              <a:rPr sz="1200" b="0" i="0">
                <a:solidFill>
                  <a:srgbClr val="FFFFFF"/>
                </a:solidFill>
              </a:rPr>
              <a:t>🟡</a:t>
            </a:r>
          </a:p>
        </p:txBody>
      </p:sp>
      <p:sp>
        <p:nvSpPr>
          <p:cNvPr id="66" name="Rectangle 65"/>
          <p:cNvSpPr/>
          <p:nvPr/>
        </p:nvSpPr>
        <p:spPr>
          <a:xfrm>
            <a:off x="6720840" y="4507992"/>
            <a:ext cx="544068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858000" y="4535424"/>
            <a:ext cx="5212080" cy="201168"/>
          </a:xfrm>
          <a:prstGeom prst="rect">
            <a:avLst/>
          </a:prstGeom>
          <a:noFill/>
        </p:spPr>
        <p:txBody>
          <a:bodyPr wrap="square">
            <a:spAutoFit/>
          </a:bodyPr>
          <a:lstStyle/>
          <a:p>
            <a:pPr algn="l"/>
            <a:r>
              <a:rPr sz="1000" b="1" i="0">
                <a:solidFill>
                  <a:srgbClr val="2D2D2D"/>
                </a:solidFill>
              </a:rPr>
              <a:t>Fertility / Cancer markers</a:t>
            </a:r>
          </a:p>
        </p:txBody>
      </p:sp>
      <p:sp>
        <p:nvSpPr>
          <p:cNvPr id="68" name="TextBox 67"/>
          <p:cNvSpPr txBox="1"/>
          <p:nvPr/>
        </p:nvSpPr>
        <p:spPr>
          <a:xfrm>
            <a:off x="6858000" y="4754880"/>
            <a:ext cx="5166360" cy="292608"/>
          </a:xfrm>
          <a:prstGeom prst="rect">
            <a:avLst/>
          </a:prstGeom>
          <a:noFill/>
        </p:spPr>
        <p:txBody>
          <a:bodyPr wrap="square">
            <a:spAutoFit/>
          </a:bodyPr>
          <a:lstStyle/>
          <a:p>
            <a:pPr algn="l"/>
            <a:r>
              <a:rPr sz="850" b="0" i="0">
                <a:solidFill>
                  <a:srgbClr val="5A5A5A"/>
                </a:solidFill>
              </a:rPr>
              <a:t>ARCHITECT / Alinity i  ·  Pending — but Abbott has SMALL market share here. Management: 'not significant'</a:t>
            </a:r>
          </a:p>
        </p:txBody>
      </p:sp>
      <p:sp>
        <p:nvSpPr>
          <p:cNvPr id="69" name="Rectangle 68"/>
          <p:cNvSpPr/>
          <p:nvPr/>
        </p:nvSpPr>
        <p:spPr>
          <a:xfrm>
            <a:off x="6035040" y="5148072"/>
            <a:ext cx="6126480" cy="56692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199632" y="5193792"/>
            <a:ext cx="5029200" cy="201168"/>
          </a:xfrm>
          <a:prstGeom prst="rect">
            <a:avLst/>
          </a:prstGeom>
          <a:noFill/>
        </p:spPr>
        <p:txBody>
          <a:bodyPr wrap="square">
            <a:spAutoFit/>
          </a:bodyPr>
          <a:lstStyle/>
          <a:p>
            <a:pPr algn="l"/>
            <a:r>
              <a:rPr sz="1000" b="1" i="0">
                <a:solidFill>
                  <a:srgbClr val="00478A"/>
                </a:solidFill>
              </a:rPr>
              <a:t>💡  Abbott's own statement (Q1 2026):</a:t>
            </a:r>
          </a:p>
        </p:txBody>
      </p:sp>
      <p:sp>
        <p:nvSpPr>
          <p:cNvPr id="71" name="TextBox 70"/>
          <p:cNvSpPr txBox="1"/>
          <p:nvPr/>
        </p:nvSpPr>
        <p:spPr>
          <a:xfrm>
            <a:off x="6199632" y="5394960"/>
            <a:ext cx="5760720" cy="256032"/>
          </a:xfrm>
          <a:prstGeom prst="rect">
            <a:avLst/>
          </a:prstGeom>
          <a:noFill/>
        </p:spPr>
        <p:txBody>
          <a:bodyPr wrap="square">
            <a:spAutoFit/>
          </a:bodyPr>
          <a:lstStyle/>
          <a:p>
            <a:pPr algn="l"/>
            <a:r>
              <a:rPr sz="1000" b="0" i="1">
                <a:solidFill>
                  <a:srgbClr val="2D2D2D"/>
                </a:solidFill>
              </a:rPr>
              <a:t>"About 80% of our portfolio has gone through VBP in China."  — CEO Robert Ford, April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How We Got Here — Abbott's VBP Disclosure Timeline</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From a quiet miss in Q3 2024 to a &gt;$1B headwind admission by Q3 2025</a:t>
            </a:r>
          </a:p>
        </p:txBody>
      </p:sp>
      <p:sp>
        <p:nvSpPr>
          <p:cNvPr id="5" name="Rectangle 4"/>
          <p:cNvSpPr/>
          <p:nvPr/>
        </p:nvSpPr>
        <p:spPr>
          <a:xfrm>
            <a:off x="0" y="1005840"/>
            <a:ext cx="12188952" cy="3657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China VBP Analysis</a:t>
            </a:r>
          </a:p>
        </p:txBody>
      </p:sp>
      <p:sp>
        <p:nvSpPr>
          <p:cNvPr id="8" name="Rectangle 7"/>
          <p:cNvSpPr/>
          <p:nvPr/>
        </p:nvSpPr>
        <p:spPr>
          <a:xfrm>
            <a:off x="457200" y="3246120"/>
            <a:ext cx="11247120" cy="5486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3127248"/>
            <a:ext cx="228600" cy="228600"/>
          </a:xfrm>
          <a:prstGeom prst="ellipse">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606040"/>
            <a:ext cx="2011680" cy="457200"/>
          </a:xfrm>
          <a:prstGeom prst="rect">
            <a:avLst/>
          </a:prstGeom>
          <a:noFill/>
        </p:spPr>
        <p:txBody>
          <a:bodyPr wrap="square">
            <a:spAutoFit/>
          </a:bodyPr>
          <a:lstStyle/>
          <a:p>
            <a:pPr algn="ctr"/>
            <a:r>
              <a:rPr sz="900" b="1" i="0">
                <a:solidFill>
                  <a:srgbClr val="00478A"/>
                </a:solidFill>
              </a:rPr>
              <a:t>Q3 2024
Oct 2024</a:t>
            </a:r>
          </a:p>
        </p:txBody>
      </p:sp>
      <p:sp>
        <p:nvSpPr>
          <p:cNvPr id="11" name="TextBox 10"/>
          <p:cNvSpPr txBox="1"/>
          <p:nvPr/>
        </p:nvSpPr>
        <p:spPr>
          <a:xfrm>
            <a:off x="1143000" y="3401568"/>
            <a:ext cx="2011680" cy="320040"/>
          </a:xfrm>
          <a:prstGeom prst="rect">
            <a:avLst/>
          </a:prstGeom>
          <a:noFill/>
        </p:spPr>
        <p:txBody>
          <a:bodyPr wrap="square">
            <a:spAutoFit/>
          </a:bodyPr>
          <a:lstStyle/>
          <a:p>
            <a:pPr algn="ctr"/>
            <a:r>
              <a:rPr sz="1000" b="1" i="0">
                <a:solidFill>
                  <a:srgbClr val="E87D1E"/>
                </a:solidFill>
              </a:rPr>
              <a:t>First mention</a:t>
            </a:r>
          </a:p>
        </p:txBody>
      </p:sp>
      <p:sp>
        <p:nvSpPr>
          <p:cNvPr id="12" name="TextBox 11"/>
          <p:cNvSpPr txBox="1"/>
          <p:nvPr/>
        </p:nvSpPr>
        <p:spPr>
          <a:xfrm>
            <a:off x="1143000" y="3749039"/>
            <a:ext cx="2011680" cy="1097280"/>
          </a:xfrm>
          <a:prstGeom prst="rect">
            <a:avLst/>
          </a:prstGeom>
          <a:noFill/>
        </p:spPr>
        <p:txBody>
          <a:bodyPr wrap="square">
            <a:spAutoFit/>
          </a:bodyPr>
          <a:lstStyle/>
          <a:p>
            <a:pPr algn="ctr"/>
            <a:r>
              <a:rPr sz="850" b="0" i="0">
                <a:solidFill>
                  <a:srgbClr val="5A5A5A"/>
                </a:solidFill>
              </a:rPr>
              <a:t>Core Lab missed expectations. 'VBP in China' blamed. Had expected impact in Q1 2024 — it arrived later.</a:t>
            </a:r>
          </a:p>
        </p:txBody>
      </p:sp>
      <p:sp>
        <p:nvSpPr>
          <p:cNvPr id="13" name="Oval 12"/>
          <p:cNvSpPr/>
          <p:nvPr/>
        </p:nvSpPr>
        <p:spPr>
          <a:xfrm>
            <a:off x="3547872" y="3127248"/>
            <a:ext cx="228600" cy="228600"/>
          </a:xfrm>
          <a:prstGeom prst="ellipse">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606040"/>
            <a:ext cx="2011680" cy="457200"/>
          </a:xfrm>
          <a:prstGeom prst="rect">
            <a:avLst/>
          </a:prstGeom>
          <a:noFill/>
        </p:spPr>
        <p:txBody>
          <a:bodyPr wrap="square">
            <a:spAutoFit/>
          </a:bodyPr>
          <a:lstStyle/>
          <a:p>
            <a:pPr algn="ctr"/>
            <a:r>
              <a:rPr sz="900" b="1" i="0">
                <a:solidFill>
                  <a:srgbClr val="00478A"/>
                </a:solidFill>
              </a:rPr>
              <a:t>Q4 2024
Jan 2025</a:t>
            </a:r>
          </a:p>
        </p:txBody>
      </p:sp>
      <p:sp>
        <p:nvSpPr>
          <p:cNvPr id="15" name="TextBox 14"/>
          <p:cNvSpPr txBox="1"/>
          <p:nvPr/>
        </p:nvSpPr>
        <p:spPr>
          <a:xfrm>
            <a:off x="3337560" y="3401568"/>
            <a:ext cx="2011680" cy="320040"/>
          </a:xfrm>
          <a:prstGeom prst="rect">
            <a:avLst/>
          </a:prstGeom>
          <a:noFill/>
        </p:spPr>
        <p:txBody>
          <a:bodyPr wrap="square">
            <a:spAutoFit/>
          </a:bodyPr>
          <a:lstStyle/>
          <a:p>
            <a:pPr algn="ctr"/>
            <a:r>
              <a:rPr sz="1000" b="1" i="0">
                <a:solidFill>
                  <a:srgbClr val="E87D1E"/>
                </a:solidFill>
              </a:rPr>
              <a:t>First dollar figure</a:t>
            </a:r>
          </a:p>
        </p:txBody>
      </p:sp>
      <p:sp>
        <p:nvSpPr>
          <p:cNvPr id="16" name="TextBox 15"/>
          <p:cNvSpPr txBox="1"/>
          <p:nvPr/>
        </p:nvSpPr>
        <p:spPr>
          <a:xfrm>
            <a:off x="3337560" y="3749039"/>
            <a:ext cx="2011680" cy="1097280"/>
          </a:xfrm>
          <a:prstGeom prst="rect">
            <a:avLst/>
          </a:prstGeom>
          <a:noFill/>
        </p:spPr>
        <p:txBody>
          <a:bodyPr wrap="square">
            <a:spAutoFit/>
          </a:bodyPr>
          <a:lstStyle/>
          <a:p>
            <a:pPr algn="ctr"/>
            <a:r>
              <a:rPr sz="850" b="0" i="0">
                <a:solidFill>
                  <a:srgbClr val="5A5A5A"/>
                </a:solidFill>
              </a:rPr>
              <a:t>FIRST TIME Abbott puts a number on it: '$400–500M annual headwind from China VBP.' Stock fell.</a:t>
            </a:r>
          </a:p>
        </p:txBody>
      </p:sp>
      <p:sp>
        <p:nvSpPr>
          <p:cNvPr id="17" name="Oval 16"/>
          <p:cNvSpPr/>
          <p:nvPr/>
        </p:nvSpPr>
        <p:spPr>
          <a:xfrm>
            <a:off x="5742431" y="3127248"/>
            <a:ext cx="228600" cy="2286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2120" y="2606040"/>
            <a:ext cx="2011680" cy="457200"/>
          </a:xfrm>
          <a:prstGeom prst="rect">
            <a:avLst/>
          </a:prstGeom>
          <a:noFill/>
        </p:spPr>
        <p:txBody>
          <a:bodyPr wrap="square">
            <a:spAutoFit/>
          </a:bodyPr>
          <a:lstStyle/>
          <a:p>
            <a:pPr algn="ctr"/>
            <a:r>
              <a:rPr sz="900" b="1" i="0">
                <a:solidFill>
                  <a:srgbClr val="00478A"/>
                </a:solidFill>
              </a:rPr>
              <a:t>Q2 2025
Jul 2025</a:t>
            </a:r>
          </a:p>
        </p:txBody>
      </p:sp>
      <p:sp>
        <p:nvSpPr>
          <p:cNvPr id="19" name="TextBox 18"/>
          <p:cNvSpPr txBox="1"/>
          <p:nvPr/>
        </p:nvSpPr>
        <p:spPr>
          <a:xfrm>
            <a:off x="5532120" y="3401568"/>
            <a:ext cx="2011680" cy="320040"/>
          </a:xfrm>
          <a:prstGeom prst="rect">
            <a:avLst/>
          </a:prstGeom>
          <a:noFill/>
        </p:spPr>
        <p:txBody>
          <a:bodyPr wrap="square">
            <a:spAutoFit/>
          </a:bodyPr>
          <a:lstStyle/>
          <a:p>
            <a:pPr algn="ctr"/>
            <a:r>
              <a:rPr sz="1000" b="1" i="0">
                <a:solidFill>
                  <a:srgbClr val="C0392B"/>
                </a:solidFill>
              </a:rPr>
              <a:t>Guidance cut
Stock –8%</a:t>
            </a:r>
          </a:p>
        </p:txBody>
      </p:sp>
      <p:sp>
        <p:nvSpPr>
          <p:cNvPr id="20" name="TextBox 19"/>
          <p:cNvSpPr txBox="1"/>
          <p:nvPr/>
        </p:nvSpPr>
        <p:spPr>
          <a:xfrm>
            <a:off x="5532120" y="3749039"/>
            <a:ext cx="2011680" cy="1097280"/>
          </a:xfrm>
          <a:prstGeom prst="rect">
            <a:avLst/>
          </a:prstGeom>
          <a:noFill/>
        </p:spPr>
        <p:txBody>
          <a:bodyPr wrap="square">
            <a:spAutoFit/>
          </a:bodyPr>
          <a:lstStyle/>
          <a:p>
            <a:pPr algn="ctr"/>
            <a:r>
              <a:rPr sz="850" b="0" i="0">
                <a:solidFill>
                  <a:srgbClr val="5A5A5A"/>
                </a:solidFill>
              </a:rPr>
              <a:t>Full-year 2025 diagnostic headwind = ~$700M (VBP + COVID decline). VBP = 750 bps drag on organic growth. Analysts cut targets.</a:t>
            </a:r>
          </a:p>
        </p:txBody>
      </p:sp>
      <p:sp>
        <p:nvSpPr>
          <p:cNvPr id="21" name="Oval 20"/>
          <p:cNvSpPr/>
          <p:nvPr/>
        </p:nvSpPr>
        <p:spPr>
          <a:xfrm>
            <a:off x="7936992" y="3127248"/>
            <a:ext cx="228600" cy="2286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26679" y="2606040"/>
            <a:ext cx="2011680" cy="457200"/>
          </a:xfrm>
          <a:prstGeom prst="rect">
            <a:avLst/>
          </a:prstGeom>
          <a:noFill/>
        </p:spPr>
        <p:txBody>
          <a:bodyPr wrap="square">
            <a:spAutoFit/>
          </a:bodyPr>
          <a:lstStyle/>
          <a:p>
            <a:pPr algn="ctr"/>
            <a:r>
              <a:rPr sz="900" b="1" i="0">
                <a:solidFill>
                  <a:srgbClr val="00478A"/>
                </a:solidFill>
              </a:rPr>
              <a:t>Q3 2025
Oct 2025</a:t>
            </a:r>
          </a:p>
        </p:txBody>
      </p:sp>
      <p:sp>
        <p:nvSpPr>
          <p:cNvPr id="23" name="TextBox 22"/>
          <p:cNvSpPr txBox="1"/>
          <p:nvPr/>
        </p:nvSpPr>
        <p:spPr>
          <a:xfrm>
            <a:off x="7726679" y="3401568"/>
            <a:ext cx="2011680" cy="320040"/>
          </a:xfrm>
          <a:prstGeom prst="rect">
            <a:avLst/>
          </a:prstGeom>
          <a:noFill/>
        </p:spPr>
        <p:txBody>
          <a:bodyPr wrap="square">
            <a:spAutoFit/>
          </a:bodyPr>
          <a:lstStyle/>
          <a:p>
            <a:pPr algn="ctr"/>
            <a:r>
              <a:rPr sz="1000" b="1" i="0">
                <a:solidFill>
                  <a:srgbClr val="C0392B"/>
                </a:solidFill>
              </a:rPr>
              <a:t>Escalation
'&gt;$1B headwind'</a:t>
            </a:r>
          </a:p>
        </p:txBody>
      </p:sp>
      <p:sp>
        <p:nvSpPr>
          <p:cNvPr id="24" name="TextBox 23"/>
          <p:cNvSpPr txBox="1"/>
          <p:nvPr/>
        </p:nvSpPr>
        <p:spPr>
          <a:xfrm>
            <a:off x="7726679" y="3749039"/>
            <a:ext cx="2011680" cy="1097280"/>
          </a:xfrm>
          <a:prstGeom prst="rect">
            <a:avLst/>
          </a:prstGeom>
          <a:noFill/>
        </p:spPr>
        <p:txBody>
          <a:bodyPr wrap="square">
            <a:spAutoFit/>
          </a:bodyPr>
          <a:lstStyle/>
          <a:p>
            <a:pPr algn="ctr"/>
            <a:r>
              <a:rPr sz="850" b="0" i="0">
                <a:solidFill>
                  <a:srgbClr val="5A5A5A"/>
                </a:solidFill>
              </a:rPr>
              <a:t>'Over $1 billion' combined headwind (VBP + COVID) for full-year 2025. 'Full lapping expected in 2026.' Dx segment –7.8% organic.</a:t>
            </a:r>
          </a:p>
        </p:txBody>
      </p:sp>
      <p:sp>
        <p:nvSpPr>
          <p:cNvPr id="25" name="Oval 24"/>
          <p:cNvSpPr/>
          <p:nvPr/>
        </p:nvSpPr>
        <p:spPr>
          <a:xfrm>
            <a:off x="10131552" y="3127248"/>
            <a:ext cx="228600" cy="228600"/>
          </a:xfrm>
          <a:prstGeom prst="ellipse">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21240" y="2606040"/>
            <a:ext cx="2011680" cy="457200"/>
          </a:xfrm>
          <a:prstGeom prst="rect">
            <a:avLst/>
          </a:prstGeom>
          <a:noFill/>
        </p:spPr>
        <p:txBody>
          <a:bodyPr wrap="square">
            <a:spAutoFit/>
          </a:bodyPr>
          <a:lstStyle/>
          <a:p>
            <a:pPr algn="ctr"/>
            <a:r>
              <a:rPr sz="900" b="1" i="0">
                <a:solidFill>
                  <a:srgbClr val="00478A"/>
                </a:solidFill>
              </a:rPr>
              <a:t>Q4 2025
Jan 2026</a:t>
            </a:r>
          </a:p>
        </p:txBody>
      </p:sp>
      <p:sp>
        <p:nvSpPr>
          <p:cNvPr id="27" name="TextBox 26"/>
          <p:cNvSpPr txBox="1"/>
          <p:nvPr/>
        </p:nvSpPr>
        <p:spPr>
          <a:xfrm>
            <a:off x="9921240" y="3401568"/>
            <a:ext cx="2011680" cy="320040"/>
          </a:xfrm>
          <a:prstGeom prst="rect">
            <a:avLst/>
          </a:prstGeom>
          <a:noFill/>
        </p:spPr>
        <p:txBody>
          <a:bodyPr wrap="square">
            <a:spAutoFit/>
          </a:bodyPr>
          <a:lstStyle/>
          <a:p>
            <a:pPr algn="ctr"/>
            <a:r>
              <a:rPr sz="1000" b="1" i="0">
                <a:solidFill>
                  <a:srgbClr val="008A4B"/>
                </a:solidFill>
              </a:rPr>
              <a:t>'Bulk of impact
behind us'</a:t>
            </a:r>
          </a:p>
        </p:txBody>
      </p:sp>
      <p:sp>
        <p:nvSpPr>
          <p:cNvPr id="28" name="TextBox 27"/>
          <p:cNvSpPr txBox="1"/>
          <p:nvPr/>
        </p:nvSpPr>
        <p:spPr>
          <a:xfrm>
            <a:off x="9921240" y="3749039"/>
            <a:ext cx="2011680" cy="1097280"/>
          </a:xfrm>
          <a:prstGeom prst="rect">
            <a:avLst/>
          </a:prstGeom>
          <a:noFill/>
        </p:spPr>
        <p:txBody>
          <a:bodyPr wrap="square">
            <a:spAutoFit/>
          </a:bodyPr>
          <a:lstStyle/>
          <a:p>
            <a:pPr algn="ctr"/>
            <a:r>
              <a:rPr sz="850" b="0" i="0">
                <a:solidFill>
                  <a:srgbClr val="5A5A5A"/>
                </a:solidFill>
              </a:rPr>
              <a:t>Ford: 'We've gone through the bulk of our VBP impact.' China guided to 'single-digit decline' in 2026. No new pricing shock.</a:t>
            </a:r>
          </a:p>
        </p:txBody>
      </p:sp>
      <p:sp>
        <p:nvSpPr>
          <p:cNvPr id="29" name="Rectangle 28"/>
          <p:cNvSpPr/>
          <p:nvPr/>
        </p:nvSpPr>
        <p:spPr>
          <a:xfrm>
            <a:off x="320040" y="4983480"/>
            <a:ext cx="11521440" cy="164592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047488"/>
            <a:ext cx="6400800" cy="274320"/>
          </a:xfrm>
          <a:prstGeom prst="rect">
            <a:avLst/>
          </a:prstGeom>
          <a:noFill/>
        </p:spPr>
        <p:txBody>
          <a:bodyPr wrap="square">
            <a:spAutoFit/>
          </a:bodyPr>
          <a:lstStyle/>
          <a:p>
            <a:pPr algn="l"/>
            <a:r>
              <a:rPr sz="1300" b="1" i="0">
                <a:solidFill>
                  <a:srgbClr val="008A4B"/>
                </a:solidFill>
              </a:rPr>
              <a:t>✅  Q1 2026 (April 2026) — The Inflection Point</a:t>
            </a:r>
          </a:p>
        </p:txBody>
      </p:sp>
      <p:sp>
        <p:nvSpPr>
          <p:cNvPr id="31" name="TextBox 30"/>
          <p:cNvSpPr txBox="1"/>
          <p:nvPr/>
        </p:nvSpPr>
        <p:spPr>
          <a:xfrm>
            <a:off x="502920" y="5376672"/>
            <a:ext cx="11064240" cy="1188720"/>
          </a:xfrm>
          <a:prstGeom prst="rect">
            <a:avLst/>
          </a:prstGeom>
          <a:noFill/>
        </p:spPr>
        <p:txBody>
          <a:bodyPr wrap="square">
            <a:spAutoFit/>
          </a:bodyPr>
          <a:lstStyle/>
          <a:p>
            <a:pPr algn="l"/>
            <a:r>
              <a:rPr sz="1100" b="0" i="0">
                <a:solidFill>
                  <a:srgbClr val="2D2D2D"/>
                </a:solidFill>
              </a:rPr>
              <a:t>China Core Lab revenue was FLAT year-over-year in Q1 2026 — the first quarter without a double-digit decline after five consecutive quarters of –15% to –30%. CEO Ford confirmed: 'About 80% of our portfolio has gone through VBP.' He said he is 'not expecting big growth — all I need for it is to be pretty stable.' Overall Core Lab grew +3% in Q1 2026; Diagnostics segment +1.8% comparable overall.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VBP Rollout by Category — What Has Cleared vs. What's Next</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The worst categories for Abbott are largely done; remaining waves hit where Abbott has small share</a:t>
            </a:r>
          </a:p>
        </p:txBody>
      </p:sp>
      <p:sp>
        <p:nvSpPr>
          <p:cNvPr id="5" name="Rectangle 4"/>
          <p:cNvSpPr/>
          <p:nvPr/>
        </p:nvSpPr>
        <p:spPr>
          <a:xfrm>
            <a:off x="0" y="1005840"/>
            <a:ext cx="12188952" cy="3657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China VBP Analysis</a:t>
            </a:r>
          </a:p>
        </p:txBody>
      </p:sp>
      <p:sp>
        <p:nvSpPr>
          <p:cNvPr id="8" name="TextBox 7"/>
          <p:cNvSpPr txBox="1"/>
          <p:nvPr/>
        </p:nvSpPr>
        <p:spPr>
          <a:xfrm>
            <a:off x="365760" y="1143000"/>
            <a:ext cx="10972800" cy="274320"/>
          </a:xfrm>
          <a:prstGeom prst="rect">
            <a:avLst/>
          </a:prstGeom>
          <a:noFill/>
        </p:spPr>
        <p:txBody>
          <a:bodyPr wrap="square">
            <a:spAutoFit/>
          </a:bodyPr>
          <a:lstStyle/>
          <a:p>
            <a:pPr algn="l"/>
            <a:r>
              <a:rPr sz="1300" b="1" i="0">
                <a:solidFill>
                  <a:srgbClr val="00478A"/>
                </a:solidFill>
              </a:rPr>
              <a:t>Category-by-Category Status (as of mid-2026)</a:t>
            </a:r>
          </a:p>
        </p:txBody>
      </p:sp>
      <p:sp>
        <p:nvSpPr>
          <p:cNvPr id="9" name="Rectangle 8"/>
          <p:cNvSpPr/>
          <p:nvPr/>
        </p:nvSpPr>
        <p:spPr>
          <a:xfrm>
            <a:off x="320040" y="1481328"/>
            <a:ext cx="2377440" cy="3200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517904"/>
            <a:ext cx="2249424" cy="256032"/>
          </a:xfrm>
          <a:prstGeom prst="rect">
            <a:avLst/>
          </a:prstGeom>
          <a:noFill/>
        </p:spPr>
        <p:txBody>
          <a:bodyPr wrap="square">
            <a:spAutoFit/>
          </a:bodyPr>
          <a:lstStyle/>
          <a:p>
            <a:pPr algn="ctr"/>
            <a:r>
              <a:rPr sz="1000" b="1" i="0">
                <a:solidFill>
                  <a:srgbClr val="FFFFFF"/>
                </a:solidFill>
              </a:rPr>
              <a:t>Test Category</a:t>
            </a:r>
          </a:p>
        </p:txBody>
      </p:sp>
      <p:sp>
        <p:nvSpPr>
          <p:cNvPr id="11" name="Rectangle 10"/>
          <p:cNvSpPr/>
          <p:nvPr/>
        </p:nvSpPr>
        <p:spPr>
          <a:xfrm>
            <a:off x="2697480" y="1481328"/>
            <a:ext cx="1188720" cy="3200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1488" y="1517904"/>
            <a:ext cx="1060704" cy="256032"/>
          </a:xfrm>
          <a:prstGeom prst="rect">
            <a:avLst/>
          </a:prstGeom>
          <a:noFill/>
        </p:spPr>
        <p:txBody>
          <a:bodyPr wrap="square">
            <a:spAutoFit/>
          </a:bodyPr>
          <a:lstStyle/>
          <a:p>
            <a:pPr algn="ctr"/>
            <a:r>
              <a:rPr sz="1000" b="1" i="0">
                <a:solidFill>
                  <a:srgbClr val="FFFFFF"/>
                </a:solidFill>
              </a:rPr>
              <a:t>Status</a:t>
            </a:r>
          </a:p>
        </p:txBody>
      </p:sp>
      <p:sp>
        <p:nvSpPr>
          <p:cNvPr id="13" name="Rectangle 12"/>
          <p:cNvSpPr/>
          <p:nvPr/>
        </p:nvSpPr>
        <p:spPr>
          <a:xfrm>
            <a:off x="3886200" y="1481328"/>
            <a:ext cx="1234440" cy="3200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50208" y="1517904"/>
            <a:ext cx="1106424" cy="256032"/>
          </a:xfrm>
          <a:prstGeom prst="rect">
            <a:avLst/>
          </a:prstGeom>
          <a:noFill/>
        </p:spPr>
        <p:txBody>
          <a:bodyPr wrap="square">
            <a:spAutoFit/>
          </a:bodyPr>
          <a:lstStyle/>
          <a:p>
            <a:pPr algn="ctr"/>
            <a:r>
              <a:rPr sz="1000" b="1" i="0">
                <a:solidFill>
                  <a:srgbClr val="FFFFFF"/>
                </a:solidFill>
              </a:rPr>
              <a:t>Avg. Price Cut</a:t>
            </a:r>
          </a:p>
        </p:txBody>
      </p:sp>
      <p:sp>
        <p:nvSpPr>
          <p:cNvPr id="15" name="Rectangle 14"/>
          <p:cNvSpPr/>
          <p:nvPr/>
        </p:nvSpPr>
        <p:spPr>
          <a:xfrm>
            <a:off x="5120640" y="1481328"/>
            <a:ext cx="2286000" cy="3200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1517904"/>
            <a:ext cx="2157984" cy="256032"/>
          </a:xfrm>
          <a:prstGeom prst="rect">
            <a:avLst/>
          </a:prstGeom>
          <a:noFill/>
        </p:spPr>
        <p:txBody>
          <a:bodyPr wrap="square">
            <a:spAutoFit/>
          </a:bodyPr>
          <a:lstStyle/>
          <a:p>
            <a:pPr algn="ctr"/>
            <a:r>
              <a:rPr sz="1000" b="1" i="0">
                <a:solidFill>
                  <a:srgbClr val="FFFFFF"/>
                </a:solidFill>
              </a:rPr>
              <a:t>Key Round(s)</a:t>
            </a:r>
          </a:p>
        </p:txBody>
      </p:sp>
      <p:sp>
        <p:nvSpPr>
          <p:cNvPr id="17" name="Rectangle 16"/>
          <p:cNvSpPr/>
          <p:nvPr/>
        </p:nvSpPr>
        <p:spPr>
          <a:xfrm>
            <a:off x="7406640" y="1481328"/>
            <a:ext cx="4754880" cy="3200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70648" y="1517904"/>
            <a:ext cx="4626864" cy="256032"/>
          </a:xfrm>
          <a:prstGeom prst="rect">
            <a:avLst/>
          </a:prstGeom>
          <a:noFill/>
        </p:spPr>
        <p:txBody>
          <a:bodyPr wrap="square">
            <a:spAutoFit/>
          </a:bodyPr>
          <a:lstStyle/>
          <a:p>
            <a:pPr algn="ctr"/>
            <a:r>
              <a:rPr sz="1000" b="1" i="0">
                <a:solidFill>
                  <a:srgbClr val="FFFFFF"/>
                </a:solidFill>
              </a:rPr>
              <a:t>Abbott Exposure</a:t>
            </a:r>
          </a:p>
        </p:txBody>
      </p:sp>
      <p:sp>
        <p:nvSpPr>
          <p:cNvPr id="19" name="Rectangle 18"/>
          <p:cNvSpPr/>
          <p:nvPr/>
        </p:nvSpPr>
        <p:spPr>
          <a:xfrm>
            <a:off x="320040" y="1801368"/>
            <a:ext cx="237744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1847088"/>
            <a:ext cx="2249424" cy="402336"/>
          </a:xfrm>
          <a:prstGeom prst="rect">
            <a:avLst/>
          </a:prstGeom>
          <a:noFill/>
        </p:spPr>
        <p:txBody>
          <a:bodyPr wrap="square">
            <a:spAutoFit/>
          </a:bodyPr>
          <a:lstStyle/>
          <a:p>
            <a:pPr algn="l"/>
            <a:r>
              <a:rPr sz="850" b="0" i="0">
                <a:solidFill>
                  <a:srgbClr val="2D2D2D"/>
                </a:solidFill>
              </a:rPr>
              <a:t>Clinical Chemistry
(Biochemistry)</a:t>
            </a:r>
          </a:p>
        </p:txBody>
      </p:sp>
      <p:sp>
        <p:nvSpPr>
          <p:cNvPr id="21" name="Rectangle 20"/>
          <p:cNvSpPr/>
          <p:nvPr/>
        </p:nvSpPr>
        <p:spPr>
          <a:xfrm>
            <a:off x="2697480" y="1801368"/>
            <a:ext cx="1188720" cy="484632"/>
          </a:xfrm>
          <a:prstGeom prst="rect">
            <a:avLst/>
          </a:prstGeom>
          <a:solidFill>
            <a:srgbClr val="B4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1488" y="1847088"/>
            <a:ext cx="1060704" cy="402336"/>
          </a:xfrm>
          <a:prstGeom prst="rect">
            <a:avLst/>
          </a:prstGeom>
          <a:noFill/>
        </p:spPr>
        <p:txBody>
          <a:bodyPr wrap="square">
            <a:spAutoFit/>
          </a:bodyPr>
          <a:lstStyle/>
          <a:p>
            <a:pPr algn="l"/>
            <a:r>
              <a:rPr sz="850" b="1" i="0">
                <a:solidFill>
                  <a:srgbClr val="008A4B"/>
                </a:solidFill>
              </a:rPr>
              <a:t>✅ DONE</a:t>
            </a:r>
          </a:p>
        </p:txBody>
      </p:sp>
      <p:sp>
        <p:nvSpPr>
          <p:cNvPr id="23" name="Rectangle 22"/>
          <p:cNvSpPr/>
          <p:nvPr/>
        </p:nvSpPr>
        <p:spPr>
          <a:xfrm>
            <a:off x="3886200" y="1801368"/>
            <a:ext cx="123444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50208" y="1847088"/>
            <a:ext cx="1106424" cy="402336"/>
          </a:xfrm>
          <a:prstGeom prst="rect">
            <a:avLst/>
          </a:prstGeom>
          <a:noFill/>
        </p:spPr>
        <p:txBody>
          <a:bodyPr wrap="square">
            <a:spAutoFit/>
          </a:bodyPr>
          <a:lstStyle/>
          <a:p>
            <a:pPr algn="l"/>
            <a:r>
              <a:rPr sz="850" b="0" i="0">
                <a:solidFill>
                  <a:srgbClr val="2D2D2D"/>
                </a:solidFill>
              </a:rPr>
              <a:t>68–95% price cuts</a:t>
            </a:r>
          </a:p>
        </p:txBody>
      </p:sp>
      <p:sp>
        <p:nvSpPr>
          <p:cNvPr id="25" name="Rectangle 24"/>
          <p:cNvSpPr/>
          <p:nvPr/>
        </p:nvSpPr>
        <p:spPr>
          <a:xfrm>
            <a:off x="5120640" y="1801368"/>
            <a:ext cx="228600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84648" y="1847088"/>
            <a:ext cx="2157984" cy="402336"/>
          </a:xfrm>
          <a:prstGeom prst="rect">
            <a:avLst/>
          </a:prstGeom>
          <a:noFill/>
        </p:spPr>
        <p:txBody>
          <a:bodyPr wrap="square">
            <a:spAutoFit/>
          </a:bodyPr>
          <a:lstStyle/>
          <a:p>
            <a:pPr algn="l"/>
            <a:r>
              <a:rPr sz="850" b="0" i="0">
                <a:solidFill>
                  <a:srgbClr val="2D2D2D"/>
                </a:solidFill>
              </a:rPr>
              <a:t>23-prov. Jiangxi 2024 + follow-on 2025</a:t>
            </a:r>
          </a:p>
        </p:txBody>
      </p:sp>
      <p:sp>
        <p:nvSpPr>
          <p:cNvPr id="27" name="Rectangle 26"/>
          <p:cNvSpPr/>
          <p:nvPr/>
        </p:nvSpPr>
        <p:spPr>
          <a:xfrm>
            <a:off x="7406640" y="1801368"/>
            <a:ext cx="475488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0648" y="1847088"/>
            <a:ext cx="4626864" cy="402336"/>
          </a:xfrm>
          <a:prstGeom prst="rect">
            <a:avLst/>
          </a:prstGeom>
          <a:noFill/>
        </p:spPr>
        <p:txBody>
          <a:bodyPr wrap="square">
            <a:spAutoFit/>
          </a:bodyPr>
          <a:lstStyle/>
          <a:p>
            <a:pPr algn="l"/>
            <a:r>
              <a:rPr sz="850" b="0" i="0">
                <a:solidFill>
                  <a:srgbClr val="2D2D2D"/>
                </a:solidFill>
              </a:rPr>
              <a:t>HIGH — Abbott won 0 of 13 lots in key round.
Domestic rivals swept contracts.</a:t>
            </a:r>
          </a:p>
        </p:txBody>
      </p:sp>
      <p:sp>
        <p:nvSpPr>
          <p:cNvPr id="29" name="Rectangle 28"/>
          <p:cNvSpPr/>
          <p:nvPr/>
        </p:nvSpPr>
        <p:spPr>
          <a:xfrm>
            <a:off x="320040" y="2304288"/>
            <a:ext cx="237744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2350008"/>
            <a:ext cx="2249424" cy="402336"/>
          </a:xfrm>
          <a:prstGeom prst="rect">
            <a:avLst/>
          </a:prstGeom>
          <a:noFill/>
        </p:spPr>
        <p:txBody>
          <a:bodyPr wrap="square">
            <a:spAutoFit/>
          </a:bodyPr>
          <a:lstStyle/>
          <a:p>
            <a:pPr algn="l"/>
            <a:r>
              <a:rPr sz="850" b="0" i="0">
                <a:solidFill>
                  <a:srgbClr val="2D2D2D"/>
                </a:solidFill>
              </a:rPr>
              <a:t>Immunoassay / CLIA
(Tumor markers, thyroid,
hormones, infection)</a:t>
            </a:r>
          </a:p>
        </p:txBody>
      </p:sp>
      <p:sp>
        <p:nvSpPr>
          <p:cNvPr id="31" name="Rectangle 30"/>
          <p:cNvSpPr/>
          <p:nvPr/>
        </p:nvSpPr>
        <p:spPr>
          <a:xfrm>
            <a:off x="2697480" y="2304288"/>
            <a:ext cx="1188720" cy="484632"/>
          </a:xfrm>
          <a:prstGeom prst="rect">
            <a:avLst/>
          </a:prstGeom>
          <a:solidFill>
            <a:srgbClr val="B4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61488" y="2350008"/>
            <a:ext cx="1060704" cy="402336"/>
          </a:xfrm>
          <a:prstGeom prst="rect">
            <a:avLst/>
          </a:prstGeom>
          <a:noFill/>
        </p:spPr>
        <p:txBody>
          <a:bodyPr wrap="square">
            <a:spAutoFit/>
          </a:bodyPr>
          <a:lstStyle/>
          <a:p>
            <a:pPr algn="l"/>
            <a:r>
              <a:rPr sz="850" b="1" i="0">
                <a:solidFill>
                  <a:srgbClr val="008A4B"/>
                </a:solidFill>
              </a:rPr>
              <a:t>✅ DONE</a:t>
            </a:r>
          </a:p>
        </p:txBody>
      </p:sp>
      <p:sp>
        <p:nvSpPr>
          <p:cNvPr id="33" name="Rectangle 32"/>
          <p:cNvSpPr/>
          <p:nvPr/>
        </p:nvSpPr>
        <p:spPr>
          <a:xfrm>
            <a:off x="3886200" y="2304288"/>
            <a:ext cx="123444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50208" y="2350008"/>
            <a:ext cx="1106424" cy="402336"/>
          </a:xfrm>
          <a:prstGeom prst="rect">
            <a:avLst/>
          </a:prstGeom>
          <a:noFill/>
        </p:spPr>
        <p:txBody>
          <a:bodyPr wrap="square">
            <a:spAutoFit/>
          </a:bodyPr>
          <a:lstStyle/>
          <a:p>
            <a:pPr algn="l"/>
            <a:r>
              <a:rPr sz="850" b="0" i="0">
                <a:solidFill>
                  <a:srgbClr val="2D2D2D"/>
                </a:solidFill>
              </a:rPr>
              <a:t>75–85% price cuts</a:t>
            </a:r>
          </a:p>
        </p:txBody>
      </p:sp>
      <p:sp>
        <p:nvSpPr>
          <p:cNvPr id="35" name="Rectangle 34"/>
          <p:cNvSpPr/>
          <p:nvPr/>
        </p:nvSpPr>
        <p:spPr>
          <a:xfrm>
            <a:off x="5120640" y="2304288"/>
            <a:ext cx="228600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84648" y="2350008"/>
            <a:ext cx="2157984" cy="402336"/>
          </a:xfrm>
          <a:prstGeom prst="rect">
            <a:avLst/>
          </a:prstGeom>
          <a:noFill/>
        </p:spPr>
        <p:txBody>
          <a:bodyPr wrap="square">
            <a:spAutoFit/>
          </a:bodyPr>
          <a:lstStyle/>
          <a:p>
            <a:pPr algn="l"/>
            <a:r>
              <a:rPr sz="850" b="0" i="0">
                <a:solidFill>
                  <a:srgbClr val="2D2D2D"/>
                </a:solidFill>
              </a:rPr>
              <a:t>Anhui 2021, 25-prov. Dec 2023,
28-prov. Anhui 2024–25</a:t>
            </a:r>
          </a:p>
        </p:txBody>
      </p:sp>
      <p:sp>
        <p:nvSpPr>
          <p:cNvPr id="37" name="Rectangle 36"/>
          <p:cNvSpPr/>
          <p:nvPr/>
        </p:nvSpPr>
        <p:spPr>
          <a:xfrm>
            <a:off x="7406640" y="2304288"/>
            <a:ext cx="475488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70648" y="2350008"/>
            <a:ext cx="4626864" cy="402336"/>
          </a:xfrm>
          <a:prstGeom prst="rect">
            <a:avLst/>
          </a:prstGeom>
          <a:noFill/>
        </p:spPr>
        <p:txBody>
          <a:bodyPr wrap="square">
            <a:spAutoFit/>
          </a:bodyPr>
          <a:lstStyle/>
          <a:p>
            <a:pPr algn="l"/>
            <a:r>
              <a:rPr sz="850" b="0" i="0">
                <a:solidFill>
                  <a:srgbClr val="2D2D2D"/>
                </a:solidFill>
              </a:rPr>
              <a:t>HIGH — Abbott won some lots in 28-province
round (Snibe, Mindray also won).</a:t>
            </a:r>
          </a:p>
        </p:txBody>
      </p:sp>
      <p:sp>
        <p:nvSpPr>
          <p:cNvPr id="39" name="Rectangle 38"/>
          <p:cNvSpPr/>
          <p:nvPr/>
        </p:nvSpPr>
        <p:spPr>
          <a:xfrm>
            <a:off x="320040" y="2807208"/>
            <a:ext cx="237744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4048" y="2852928"/>
            <a:ext cx="2249424" cy="402336"/>
          </a:xfrm>
          <a:prstGeom prst="rect">
            <a:avLst/>
          </a:prstGeom>
          <a:noFill/>
        </p:spPr>
        <p:txBody>
          <a:bodyPr wrap="square">
            <a:spAutoFit/>
          </a:bodyPr>
          <a:lstStyle/>
          <a:p>
            <a:pPr algn="l"/>
            <a:r>
              <a:rPr sz="850" b="0" i="0">
                <a:solidFill>
                  <a:srgbClr val="2D2D2D"/>
                </a:solidFill>
              </a:rPr>
              <a:t>HPV / Molecular
(specific assays)</a:t>
            </a:r>
          </a:p>
        </p:txBody>
      </p:sp>
      <p:sp>
        <p:nvSpPr>
          <p:cNvPr id="41" name="Rectangle 40"/>
          <p:cNvSpPr/>
          <p:nvPr/>
        </p:nvSpPr>
        <p:spPr>
          <a:xfrm>
            <a:off x="2697480" y="2807208"/>
            <a:ext cx="1188720" cy="484632"/>
          </a:xfrm>
          <a:prstGeom prst="rect">
            <a:avLst/>
          </a:prstGeom>
          <a:solidFill>
            <a:srgbClr val="B4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61488" y="2852928"/>
            <a:ext cx="1060704" cy="402336"/>
          </a:xfrm>
          <a:prstGeom prst="rect">
            <a:avLst/>
          </a:prstGeom>
          <a:noFill/>
        </p:spPr>
        <p:txBody>
          <a:bodyPr wrap="square">
            <a:spAutoFit/>
          </a:bodyPr>
          <a:lstStyle/>
          <a:p>
            <a:pPr algn="l"/>
            <a:r>
              <a:rPr sz="850" b="1" i="0">
                <a:solidFill>
                  <a:srgbClr val="008A4B"/>
                </a:solidFill>
              </a:rPr>
              <a:t>✅ DONE</a:t>
            </a:r>
          </a:p>
        </p:txBody>
      </p:sp>
      <p:sp>
        <p:nvSpPr>
          <p:cNvPr id="43" name="Rectangle 42"/>
          <p:cNvSpPr/>
          <p:nvPr/>
        </p:nvSpPr>
        <p:spPr>
          <a:xfrm>
            <a:off x="3886200" y="2807208"/>
            <a:ext cx="123444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50208" y="2852928"/>
            <a:ext cx="1106424" cy="402336"/>
          </a:xfrm>
          <a:prstGeom prst="rect">
            <a:avLst/>
          </a:prstGeom>
          <a:noFill/>
        </p:spPr>
        <p:txBody>
          <a:bodyPr wrap="square">
            <a:spAutoFit/>
          </a:bodyPr>
          <a:lstStyle/>
          <a:p>
            <a:pPr algn="l"/>
            <a:r>
              <a:rPr sz="850" b="0" i="0">
                <a:solidFill>
                  <a:srgbClr val="2D2D2D"/>
                </a:solidFill>
              </a:rPr>
              <a:t>Significant cuts</a:t>
            </a:r>
          </a:p>
        </p:txBody>
      </p:sp>
      <p:sp>
        <p:nvSpPr>
          <p:cNvPr id="45" name="Rectangle 44"/>
          <p:cNvSpPr/>
          <p:nvPr/>
        </p:nvSpPr>
        <p:spPr>
          <a:xfrm>
            <a:off x="5120640" y="2807208"/>
            <a:ext cx="228600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84648" y="2852928"/>
            <a:ext cx="2157984" cy="402336"/>
          </a:xfrm>
          <a:prstGeom prst="rect">
            <a:avLst/>
          </a:prstGeom>
          <a:noFill/>
        </p:spPr>
        <p:txBody>
          <a:bodyPr wrap="square">
            <a:spAutoFit/>
          </a:bodyPr>
          <a:lstStyle/>
          <a:p>
            <a:pPr algn="l"/>
            <a:r>
              <a:rPr sz="850" b="0" i="0">
                <a:solidFill>
                  <a:srgbClr val="2D2D2D"/>
                </a:solidFill>
              </a:rPr>
              <a:t>Dec 2023 national round</a:t>
            </a:r>
          </a:p>
        </p:txBody>
      </p:sp>
      <p:sp>
        <p:nvSpPr>
          <p:cNvPr id="47" name="Rectangle 46"/>
          <p:cNvSpPr/>
          <p:nvPr/>
        </p:nvSpPr>
        <p:spPr>
          <a:xfrm>
            <a:off x="7406640" y="2807208"/>
            <a:ext cx="475488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70648" y="2852928"/>
            <a:ext cx="4626864" cy="402336"/>
          </a:xfrm>
          <a:prstGeom prst="rect">
            <a:avLst/>
          </a:prstGeom>
          <a:noFill/>
        </p:spPr>
        <p:txBody>
          <a:bodyPr wrap="square">
            <a:spAutoFit/>
          </a:bodyPr>
          <a:lstStyle/>
          <a:p>
            <a:pPr algn="l"/>
            <a:r>
              <a:rPr sz="850" b="0" i="0">
                <a:solidFill>
                  <a:srgbClr val="2D2D2D"/>
                </a:solidFill>
              </a:rPr>
              <a:t>MODERATE — smaller revenue base.</a:t>
            </a:r>
          </a:p>
        </p:txBody>
      </p:sp>
      <p:sp>
        <p:nvSpPr>
          <p:cNvPr id="49" name="Rectangle 48"/>
          <p:cNvSpPr/>
          <p:nvPr/>
        </p:nvSpPr>
        <p:spPr>
          <a:xfrm>
            <a:off x="320040" y="3310128"/>
            <a:ext cx="237744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4048" y="3355848"/>
            <a:ext cx="2249424" cy="402336"/>
          </a:xfrm>
          <a:prstGeom prst="rect">
            <a:avLst/>
          </a:prstGeom>
          <a:noFill/>
        </p:spPr>
        <p:txBody>
          <a:bodyPr wrap="square">
            <a:spAutoFit/>
          </a:bodyPr>
          <a:lstStyle/>
          <a:p>
            <a:pPr algn="l"/>
            <a:r>
              <a:rPr sz="850" b="0" i="0">
                <a:solidFill>
                  <a:srgbClr val="2D2D2D"/>
                </a:solidFill>
              </a:rPr>
              <a:t>Coagulation</a:t>
            </a:r>
          </a:p>
        </p:txBody>
      </p:sp>
      <p:sp>
        <p:nvSpPr>
          <p:cNvPr id="51" name="Rectangle 50"/>
          <p:cNvSpPr/>
          <p:nvPr/>
        </p:nvSpPr>
        <p:spPr>
          <a:xfrm>
            <a:off x="2697480" y="3310128"/>
            <a:ext cx="1188720" cy="484632"/>
          </a:xfrm>
          <a:prstGeom prst="rect">
            <a:avLst/>
          </a:prstGeom>
          <a:solidFill>
            <a:srgbClr val="FFFFD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61488" y="3355848"/>
            <a:ext cx="1060704" cy="402336"/>
          </a:xfrm>
          <a:prstGeom prst="rect">
            <a:avLst/>
          </a:prstGeom>
          <a:noFill/>
        </p:spPr>
        <p:txBody>
          <a:bodyPr wrap="square">
            <a:spAutoFit/>
          </a:bodyPr>
          <a:lstStyle/>
          <a:p>
            <a:pPr algn="l"/>
            <a:r>
              <a:rPr sz="850" b="1" i="0">
                <a:solidFill>
                  <a:srgbClr val="E87D1E"/>
                </a:solidFill>
              </a:rPr>
              <a:t>⚠️ PARTIAL</a:t>
            </a:r>
          </a:p>
        </p:txBody>
      </p:sp>
      <p:sp>
        <p:nvSpPr>
          <p:cNvPr id="53" name="Rectangle 52"/>
          <p:cNvSpPr/>
          <p:nvPr/>
        </p:nvSpPr>
        <p:spPr>
          <a:xfrm>
            <a:off x="3886200" y="3310128"/>
            <a:ext cx="123444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950208" y="3355848"/>
            <a:ext cx="1106424" cy="402336"/>
          </a:xfrm>
          <a:prstGeom prst="rect">
            <a:avLst/>
          </a:prstGeom>
          <a:noFill/>
        </p:spPr>
        <p:txBody>
          <a:bodyPr wrap="square">
            <a:spAutoFit/>
          </a:bodyPr>
          <a:lstStyle/>
          <a:p>
            <a:pPr algn="l"/>
            <a:r>
              <a:rPr sz="850" b="0" i="0">
                <a:solidFill>
                  <a:srgbClr val="2D2D2D"/>
                </a:solidFill>
              </a:rPr>
              <a:t>Provincial only so far</a:t>
            </a:r>
          </a:p>
        </p:txBody>
      </p:sp>
      <p:sp>
        <p:nvSpPr>
          <p:cNvPr id="55" name="Rectangle 54"/>
          <p:cNvSpPr/>
          <p:nvPr/>
        </p:nvSpPr>
        <p:spPr>
          <a:xfrm>
            <a:off x="5120640" y="3310128"/>
            <a:ext cx="228600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84648" y="3355848"/>
            <a:ext cx="2157984" cy="402336"/>
          </a:xfrm>
          <a:prstGeom prst="rect">
            <a:avLst/>
          </a:prstGeom>
          <a:noFill/>
        </p:spPr>
        <p:txBody>
          <a:bodyPr wrap="square">
            <a:spAutoFit/>
          </a:bodyPr>
          <a:lstStyle/>
          <a:p>
            <a:pPr algn="l"/>
            <a:r>
              <a:rPr sz="850" b="0" i="0">
                <a:solidFill>
                  <a:srgbClr val="2D2D2D"/>
                </a:solidFill>
              </a:rPr>
              <a:t>Anhui 2023 provincial;
not yet alliance-scale</a:t>
            </a:r>
          </a:p>
        </p:txBody>
      </p:sp>
      <p:sp>
        <p:nvSpPr>
          <p:cNvPr id="57" name="Rectangle 56"/>
          <p:cNvSpPr/>
          <p:nvPr/>
        </p:nvSpPr>
        <p:spPr>
          <a:xfrm>
            <a:off x="7406640" y="3310128"/>
            <a:ext cx="475488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0648" y="3355848"/>
            <a:ext cx="4626864" cy="402336"/>
          </a:xfrm>
          <a:prstGeom prst="rect">
            <a:avLst/>
          </a:prstGeom>
          <a:noFill/>
        </p:spPr>
        <p:txBody>
          <a:bodyPr wrap="square">
            <a:spAutoFit/>
          </a:bodyPr>
          <a:lstStyle/>
          <a:p>
            <a:pPr algn="l"/>
            <a:r>
              <a:rPr sz="850" b="0" i="0">
                <a:solidFill>
                  <a:srgbClr val="2D2D2D"/>
                </a:solidFill>
              </a:rPr>
              <a:t>MODERATE — not yet at multi-province scale.</a:t>
            </a:r>
          </a:p>
        </p:txBody>
      </p:sp>
      <p:sp>
        <p:nvSpPr>
          <p:cNvPr id="59" name="Rectangle 58"/>
          <p:cNvSpPr/>
          <p:nvPr/>
        </p:nvSpPr>
        <p:spPr>
          <a:xfrm>
            <a:off x="320040" y="3813048"/>
            <a:ext cx="237744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4048" y="3858768"/>
            <a:ext cx="2249424" cy="402336"/>
          </a:xfrm>
          <a:prstGeom prst="rect">
            <a:avLst/>
          </a:prstGeom>
          <a:noFill/>
        </p:spPr>
        <p:txBody>
          <a:bodyPr wrap="square">
            <a:spAutoFit/>
          </a:bodyPr>
          <a:lstStyle/>
          <a:p>
            <a:pPr algn="l"/>
            <a:r>
              <a:rPr sz="850" b="0" i="0">
                <a:solidFill>
                  <a:srgbClr val="2D2D2D"/>
                </a:solidFill>
              </a:rPr>
              <a:t>Hematology</a:t>
            </a:r>
          </a:p>
        </p:txBody>
      </p:sp>
      <p:sp>
        <p:nvSpPr>
          <p:cNvPr id="61" name="Rectangle 60"/>
          <p:cNvSpPr/>
          <p:nvPr/>
        </p:nvSpPr>
        <p:spPr>
          <a:xfrm>
            <a:off x="2697480" y="3813048"/>
            <a:ext cx="1188720" cy="484632"/>
          </a:xfrm>
          <a:prstGeom prst="rect">
            <a:avLst/>
          </a:prstGeom>
          <a:solidFill>
            <a:srgbClr val="FFFFD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61488" y="3858768"/>
            <a:ext cx="1060704" cy="402336"/>
          </a:xfrm>
          <a:prstGeom prst="rect">
            <a:avLst/>
          </a:prstGeom>
          <a:noFill/>
        </p:spPr>
        <p:txBody>
          <a:bodyPr wrap="square">
            <a:spAutoFit/>
          </a:bodyPr>
          <a:lstStyle/>
          <a:p>
            <a:pPr algn="l"/>
            <a:r>
              <a:rPr sz="850" b="1" i="0">
                <a:solidFill>
                  <a:srgbClr val="E87D1E"/>
                </a:solidFill>
              </a:rPr>
              <a:t>⚠️ ONGOING</a:t>
            </a:r>
          </a:p>
        </p:txBody>
      </p:sp>
      <p:sp>
        <p:nvSpPr>
          <p:cNvPr id="63" name="Rectangle 62"/>
          <p:cNvSpPr/>
          <p:nvPr/>
        </p:nvSpPr>
        <p:spPr>
          <a:xfrm>
            <a:off x="3886200" y="3813048"/>
            <a:ext cx="123444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950208" y="3858768"/>
            <a:ext cx="1106424" cy="402336"/>
          </a:xfrm>
          <a:prstGeom prst="rect">
            <a:avLst/>
          </a:prstGeom>
          <a:noFill/>
        </p:spPr>
        <p:txBody>
          <a:bodyPr wrap="square">
            <a:spAutoFit/>
          </a:bodyPr>
          <a:lstStyle/>
          <a:p>
            <a:pPr algn="l"/>
            <a:r>
              <a:rPr sz="850" b="0" i="0">
                <a:solidFill>
                  <a:srgbClr val="2D2D2D"/>
                </a:solidFill>
              </a:rPr>
              <a:t>Selective provinces</a:t>
            </a:r>
          </a:p>
        </p:txBody>
      </p:sp>
      <p:sp>
        <p:nvSpPr>
          <p:cNvPr id="65" name="Rectangle 64"/>
          <p:cNvSpPr/>
          <p:nvPr/>
        </p:nvSpPr>
        <p:spPr>
          <a:xfrm>
            <a:off x="5120640" y="3813048"/>
            <a:ext cx="228600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84648" y="3858768"/>
            <a:ext cx="2157984" cy="402336"/>
          </a:xfrm>
          <a:prstGeom prst="rect">
            <a:avLst/>
          </a:prstGeom>
          <a:noFill/>
        </p:spPr>
        <p:txBody>
          <a:bodyPr wrap="square">
            <a:spAutoFit/>
          </a:bodyPr>
          <a:lstStyle/>
          <a:p>
            <a:pPr algn="l"/>
            <a:r>
              <a:rPr sz="850" b="0" i="0">
                <a:solidFill>
                  <a:srgbClr val="2D2D2D"/>
                </a:solidFill>
              </a:rPr>
              <a:t>No full alliance round</a:t>
            </a:r>
          </a:p>
        </p:txBody>
      </p:sp>
      <p:sp>
        <p:nvSpPr>
          <p:cNvPr id="67" name="Rectangle 66"/>
          <p:cNvSpPr/>
          <p:nvPr/>
        </p:nvSpPr>
        <p:spPr>
          <a:xfrm>
            <a:off x="7406640" y="3813048"/>
            <a:ext cx="475488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470648" y="3858768"/>
            <a:ext cx="4626864" cy="402336"/>
          </a:xfrm>
          <a:prstGeom prst="rect">
            <a:avLst/>
          </a:prstGeom>
          <a:noFill/>
        </p:spPr>
        <p:txBody>
          <a:bodyPr wrap="square">
            <a:spAutoFit/>
          </a:bodyPr>
          <a:lstStyle/>
          <a:p>
            <a:pPr algn="l"/>
            <a:r>
              <a:rPr sz="850" b="0" i="0">
                <a:solidFill>
                  <a:srgbClr val="2D2D2D"/>
                </a:solidFill>
              </a:rPr>
              <a:t>LOW — Sysmex/Mindray dominate.
Abbott Alinity h is new.</a:t>
            </a:r>
          </a:p>
        </p:txBody>
      </p:sp>
      <p:sp>
        <p:nvSpPr>
          <p:cNvPr id="69" name="Rectangle 68"/>
          <p:cNvSpPr/>
          <p:nvPr/>
        </p:nvSpPr>
        <p:spPr>
          <a:xfrm>
            <a:off x="320040" y="4315968"/>
            <a:ext cx="237744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84048" y="4361688"/>
            <a:ext cx="2249424" cy="402336"/>
          </a:xfrm>
          <a:prstGeom prst="rect">
            <a:avLst/>
          </a:prstGeom>
          <a:noFill/>
        </p:spPr>
        <p:txBody>
          <a:bodyPr wrap="square">
            <a:spAutoFit/>
          </a:bodyPr>
          <a:lstStyle/>
          <a:p>
            <a:pPr algn="l"/>
            <a:r>
              <a:rPr sz="850" b="0" i="0">
                <a:solidFill>
                  <a:srgbClr val="2D2D2D"/>
                </a:solidFill>
              </a:rPr>
              <a:t>Fertility / Sex Hormones
&amp; Cancer Markers</a:t>
            </a:r>
          </a:p>
        </p:txBody>
      </p:sp>
      <p:sp>
        <p:nvSpPr>
          <p:cNvPr id="71" name="Rectangle 70"/>
          <p:cNvSpPr/>
          <p:nvPr/>
        </p:nvSpPr>
        <p:spPr>
          <a:xfrm>
            <a:off x="2697480" y="4315968"/>
            <a:ext cx="1188720" cy="484632"/>
          </a:xfrm>
          <a:prstGeom prst="rect">
            <a:avLst/>
          </a:prstGeom>
          <a:solidFill>
            <a:srgbClr val="FE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761488" y="4361688"/>
            <a:ext cx="1060704" cy="402336"/>
          </a:xfrm>
          <a:prstGeom prst="rect">
            <a:avLst/>
          </a:prstGeom>
          <a:noFill/>
        </p:spPr>
        <p:txBody>
          <a:bodyPr wrap="square">
            <a:spAutoFit/>
          </a:bodyPr>
          <a:lstStyle/>
          <a:p>
            <a:pPr algn="l"/>
            <a:r>
              <a:rPr sz="850" b="1" i="0">
                <a:solidFill>
                  <a:srgbClr val="4A90C4"/>
                </a:solidFill>
              </a:rPr>
              <a:t>🔜 NEXT</a:t>
            </a:r>
          </a:p>
        </p:txBody>
      </p:sp>
      <p:sp>
        <p:nvSpPr>
          <p:cNvPr id="73" name="Rectangle 72"/>
          <p:cNvSpPr/>
          <p:nvPr/>
        </p:nvSpPr>
        <p:spPr>
          <a:xfrm>
            <a:off x="3886200" y="4315968"/>
            <a:ext cx="123444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950208" y="4361688"/>
            <a:ext cx="1106424" cy="402336"/>
          </a:xfrm>
          <a:prstGeom prst="rect">
            <a:avLst/>
          </a:prstGeom>
          <a:noFill/>
        </p:spPr>
        <p:txBody>
          <a:bodyPr wrap="square">
            <a:spAutoFit/>
          </a:bodyPr>
          <a:lstStyle/>
          <a:p>
            <a:pPr algn="l"/>
            <a:r>
              <a:rPr sz="850" b="0" i="0">
                <a:solidFill>
                  <a:srgbClr val="2D2D2D"/>
                </a:solidFill>
              </a:rPr>
              <a:t>TBD</a:t>
            </a:r>
          </a:p>
        </p:txBody>
      </p:sp>
      <p:sp>
        <p:nvSpPr>
          <p:cNvPr id="75" name="Rectangle 74"/>
          <p:cNvSpPr/>
          <p:nvPr/>
        </p:nvSpPr>
        <p:spPr>
          <a:xfrm>
            <a:off x="5120640" y="4315968"/>
            <a:ext cx="228600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184648" y="4361688"/>
            <a:ext cx="2157984" cy="402336"/>
          </a:xfrm>
          <a:prstGeom prst="rect">
            <a:avLst/>
          </a:prstGeom>
          <a:noFill/>
        </p:spPr>
        <p:txBody>
          <a:bodyPr wrap="square">
            <a:spAutoFit/>
          </a:bodyPr>
          <a:lstStyle/>
          <a:p>
            <a:pPr algn="l"/>
            <a:r>
              <a:rPr sz="850" b="0" i="0">
                <a:solidFill>
                  <a:srgbClr val="2D2D2D"/>
                </a:solidFill>
              </a:rPr>
              <a:t>Anticipated but not announced</a:t>
            </a:r>
          </a:p>
        </p:txBody>
      </p:sp>
      <p:sp>
        <p:nvSpPr>
          <p:cNvPr id="77" name="Rectangle 76"/>
          <p:cNvSpPr/>
          <p:nvPr/>
        </p:nvSpPr>
        <p:spPr>
          <a:xfrm>
            <a:off x="7406640" y="4315968"/>
            <a:ext cx="475488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470648" y="4361688"/>
            <a:ext cx="4626864" cy="402336"/>
          </a:xfrm>
          <a:prstGeom prst="rect">
            <a:avLst/>
          </a:prstGeom>
          <a:noFill/>
        </p:spPr>
        <p:txBody>
          <a:bodyPr wrap="square">
            <a:spAutoFit/>
          </a:bodyPr>
          <a:lstStyle/>
          <a:p>
            <a:pPr algn="l"/>
            <a:r>
              <a:rPr sz="850" b="0" i="0">
                <a:solidFill>
                  <a:srgbClr val="2D2D2D"/>
                </a:solidFill>
              </a:rPr>
              <a:t>SMALL — Abbott has low market share here.
Management: 'not significant for us.'</a:t>
            </a:r>
          </a:p>
        </p:txBody>
      </p:sp>
      <p:sp>
        <p:nvSpPr>
          <p:cNvPr id="79" name="Rectangle 78"/>
          <p:cNvSpPr/>
          <p:nvPr/>
        </p:nvSpPr>
        <p:spPr>
          <a:xfrm>
            <a:off x="320040" y="4818888"/>
            <a:ext cx="237744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84048" y="4864608"/>
            <a:ext cx="2249424" cy="402336"/>
          </a:xfrm>
          <a:prstGeom prst="rect">
            <a:avLst/>
          </a:prstGeom>
          <a:noFill/>
        </p:spPr>
        <p:txBody>
          <a:bodyPr wrap="square">
            <a:spAutoFit/>
          </a:bodyPr>
          <a:lstStyle/>
          <a:p>
            <a:pPr algn="l"/>
            <a:r>
              <a:rPr sz="850" b="0" i="0">
                <a:solidFill>
                  <a:srgbClr val="2D2D2D"/>
                </a:solidFill>
              </a:rPr>
              <a:t>POCT / Point of Care</a:t>
            </a:r>
          </a:p>
        </p:txBody>
      </p:sp>
      <p:sp>
        <p:nvSpPr>
          <p:cNvPr id="81" name="Rectangle 80"/>
          <p:cNvSpPr/>
          <p:nvPr/>
        </p:nvSpPr>
        <p:spPr>
          <a:xfrm>
            <a:off x="2697480" y="4818888"/>
            <a:ext cx="118872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761488" y="4864608"/>
            <a:ext cx="1060704" cy="402336"/>
          </a:xfrm>
          <a:prstGeom prst="rect">
            <a:avLst/>
          </a:prstGeom>
          <a:noFill/>
        </p:spPr>
        <p:txBody>
          <a:bodyPr wrap="square">
            <a:spAutoFit/>
          </a:bodyPr>
          <a:lstStyle/>
          <a:p>
            <a:pPr algn="l"/>
            <a:r>
              <a:rPr sz="850" b="1" i="0">
                <a:solidFill>
                  <a:srgbClr val="5A5A5A"/>
                </a:solidFill>
              </a:rPr>
              <a:t>⏳ PENDING</a:t>
            </a:r>
          </a:p>
        </p:txBody>
      </p:sp>
      <p:sp>
        <p:nvSpPr>
          <p:cNvPr id="83" name="Rectangle 82"/>
          <p:cNvSpPr/>
          <p:nvPr/>
        </p:nvSpPr>
        <p:spPr>
          <a:xfrm>
            <a:off x="3886200" y="4818888"/>
            <a:ext cx="123444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950208" y="4864608"/>
            <a:ext cx="1106424" cy="402336"/>
          </a:xfrm>
          <a:prstGeom prst="rect">
            <a:avLst/>
          </a:prstGeom>
          <a:noFill/>
        </p:spPr>
        <p:txBody>
          <a:bodyPr wrap="square">
            <a:spAutoFit/>
          </a:bodyPr>
          <a:lstStyle/>
          <a:p>
            <a:pPr algn="l"/>
            <a:r>
              <a:rPr sz="850" b="0" i="0">
                <a:solidFill>
                  <a:srgbClr val="2D2D2D"/>
                </a:solidFill>
              </a:rPr>
              <a:t>Not yet</a:t>
            </a:r>
          </a:p>
        </p:txBody>
      </p:sp>
      <p:sp>
        <p:nvSpPr>
          <p:cNvPr id="85" name="Rectangle 84"/>
          <p:cNvSpPr/>
          <p:nvPr/>
        </p:nvSpPr>
        <p:spPr>
          <a:xfrm>
            <a:off x="5120640" y="4818888"/>
            <a:ext cx="228600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184648" y="4864608"/>
            <a:ext cx="2157984" cy="402336"/>
          </a:xfrm>
          <a:prstGeom prst="rect">
            <a:avLst/>
          </a:prstGeom>
          <a:noFill/>
        </p:spPr>
        <p:txBody>
          <a:bodyPr wrap="square">
            <a:spAutoFit/>
          </a:bodyPr>
          <a:lstStyle/>
          <a:p>
            <a:pPr algn="l"/>
            <a:r>
              <a:rPr sz="850" b="0" i="0">
                <a:solidFill>
                  <a:srgbClr val="2D2D2D"/>
                </a:solidFill>
              </a:rPr>
              <a:t>No multi-province alliance</a:t>
            </a:r>
          </a:p>
        </p:txBody>
      </p:sp>
      <p:sp>
        <p:nvSpPr>
          <p:cNvPr id="87" name="Rectangle 86"/>
          <p:cNvSpPr/>
          <p:nvPr/>
        </p:nvSpPr>
        <p:spPr>
          <a:xfrm>
            <a:off x="7406640" y="4818888"/>
            <a:ext cx="4754880" cy="48463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470648" y="4864608"/>
            <a:ext cx="4626864" cy="402336"/>
          </a:xfrm>
          <a:prstGeom prst="rect">
            <a:avLst/>
          </a:prstGeom>
          <a:noFill/>
        </p:spPr>
        <p:txBody>
          <a:bodyPr wrap="square">
            <a:spAutoFit/>
          </a:bodyPr>
          <a:lstStyle/>
          <a:p>
            <a:pPr algn="l"/>
            <a:r>
              <a:rPr sz="850" b="0" i="0">
                <a:solidFill>
                  <a:srgbClr val="2D2D2D"/>
                </a:solidFill>
              </a:rPr>
              <a:t>MODERATE — but POCT format is different
from hospital core lab.</a:t>
            </a:r>
          </a:p>
        </p:txBody>
      </p:sp>
      <p:sp>
        <p:nvSpPr>
          <p:cNvPr id="89" name="Rectangle 88"/>
          <p:cNvSpPr/>
          <p:nvPr/>
        </p:nvSpPr>
        <p:spPr>
          <a:xfrm>
            <a:off x="320040" y="5321808"/>
            <a:ext cx="237744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84048" y="5367528"/>
            <a:ext cx="2249424" cy="402336"/>
          </a:xfrm>
          <a:prstGeom prst="rect">
            <a:avLst/>
          </a:prstGeom>
          <a:noFill/>
        </p:spPr>
        <p:txBody>
          <a:bodyPr wrap="square">
            <a:spAutoFit/>
          </a:bodyPr>
          <a:lstStyle/>
          <a:p>
            <a:pPr algn="l"/>
            <a:r>
              <a:rPr sz="850" b="0" i="0">
                <a:solidFill>
                  <a:srgbClr val="2D2D2D"/>
                </a:solidFill>
              </a:rPr>
              <a:t>High-complexity Molecular
(NGS, liquid biopsy)</a:t>
            </a:r>
          </a:p>
        </p:txBody>
      </p:sp>
      <p:sp>
        <p:nvSpPr>
          <p:cNvPr id="91" name="Rectangle 90"/>
          <p:cNvSpPr/>
          <p:nvPr/>
        </p:nvSpPr>
        <p:spPr>
          <a:xfrm>
            <a:off x="2697480" y="5321808"/>
            <a:ext cx="1188720" cy="484632"/>
          </a:xfrm>
          <a:prstGeom prst="rect">
            <a:avLst/>
          </a:prstGeom>
          <a:solidFill>
            <a:srgbClr val="B4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761488" y="5367528"/>
            <a:ext cx="1060704" cy="402336"/>
          </a:xfrm>
          <a:prstGeom prst="rect">
            <a:avLst/>
          </a:prstGeom>
          <a:noFill/>
        </p:spPr>
        <p:txBody>
          <a:bodyPr wrap="square">
            <a:spAutoFit/>
          </a:bodyPr>
          <a:lstStyle/>
          <a:p>
            <a:pPr algn="l"/>
            <a:r>
              <a:rPr sz="850" b="1" i="0">
                <a:solidFill>
                  <a:srgbClr val="008A4B"/>
                </a:solidFill>
              </a:rPr>
              <a:t>🚫 EXCLUDED</a:t>
            </a:r>
          </a:p>
        </p:txBody>
      </p:sp>
      <p:sp>
        <p:nvSpPr>
          <p:cNvPr id="93" name="Rectangle 92"/>
          <p:cNvSpPr/>
          <p:nvPr/>
        </p:nvSpPr>
        <p:spPr>
          <a:xfrm>
            <a:off x="3886200" y="5321808"/>
            <a:ext cx="123444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950208" y="5367528"/>
            <a:ext cx="1106424" cy="402336"/>
          </a:xfrm>
          <a:prstGeom prst="rect">
            <a:avLst/>
          </a:prstGeom>
          <a:noFill/>
        </p:spPr>
        <p:txBody>
          <a:bodyPr wrap="square">
            <a:spAutoFit/>
          </a:bodyPr>
          <a:lstStyle/>
          <a:p>
            <a:pPr algn="l"/>
            <a:r>
              <a:rPr sz="850" b="0" i="0">
                <a:solidFill>
                  <a:srgbClr val="2D2D2D"/>
                </a:solidFill>
              </a:rPr>
              <a:t>Excluded from
reimbursement 2025</a:t>
            </a:r>
          </a:p>
        </p:txBody>
      </p:sp>
      <p:sp>
        <p:nvSpPr>
          <p:cNvPr id="95" name="Rectangle 94"/>
          <p:cNvSpPr/>
          <p:nvPr/>
        </p:nvSpPr>
        <p:spPr>
          <a:xfrm>
            <a:off x="5120640" y="5321808"/>
            <a:ext cx="228600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184648" y="5367528"/>
            <a:ext cx="2157984" cy="402336"/>
          </a:xfrm>
          <a:prstGeom prst="rect">
            <a:avLst/>
          </a:prstGeom>
          <a:noFill/>
        </p:spPr>
        <p:txBody>
          <a:bodyPr wrap="square">
            <a:spAutoFit/>
          </a:bodyPr>
          <a:lstStyle/>
          <a:p>
            <a:pPr algn="l"/>
            <a:r>
              <a:rPr sz="850" b="0" i="0">
                <a:solidFill>
                  <a:srgbClr val="2D2D2D"/>
                </a:solidFill>
              </a:rPr>
              <a:t>12 liquid biopsy assays excluded</a:t>
            </a:r>
          </a:p>
        </p:txBody>
      </p:sp>
      <p:sp>
        <p:nvSpPr>
          <p:cNvPr id="97" name="Rectangle 96"/>
          <p:cNvSpPr/>
          <p:nvPr/>
        </p:nvSpPr>
        <p:spPr>
          <a:xfrm>
            <a:off x="7406640" y="5321808"/>
            <a:ext cx="4754880" cy="484632"/>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470648" y="5367528"/>
            <a:ext cx="4626864" cy="402336"/>
          </a:xfrm>
          <a:prstGeom prst="rect">
            <a:avLst/>
          </a:prstGeom>
          <a:noFill/>
        </p:spPr>
        <p:txBody>
          <a:bodyPr wrap="square">
            <a:spAutoFit/>
          </a:bodyPr>
          <a:lstStyle/>
          <a:p>
            <a:pPr algn="l"/>
            <a:r>
              <a:rPr sz="850" b="0" i="0">
                <a:solidFill>
                  <a:srgbClr val="2D2D2D"/>
                </a:solidFill>
              </a:rPr>
              <a:t>N/A — these are excluded from VBP scope.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Abbott vs. Peers — China VBP Headwind Comparison</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All major lab diagnostics companies were hit — Abbott's was the biggest in absolute dollars</a:t>
            </a:r>
          </a:p>
        </p:txBody>
      </p:sp>
      <p:sp>
        <p:nvSpPr>
          <p:cNvPr id="5" name="Rectangle 4"/>
          <p:cNvSpPr/>
          <p:nvPr/>
        </p:nvSpPr>
        <p:spPr>
          <a:xfrm>
            <a:off x="0" y="1005840"/>
            <a:ext cx="12188952" cy="3657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China VBP Analysis</a:t>
            </a:r>
          </a:p>
        </p:txBody>
      </p:sp>
      <p:sp>
        <p:nvSpPr>
          <p:cNvPr id="8" name="TextBox 7"/>
          <p:cNvSpPr txBox="1"/>
          <p:nvPr/>
        </p:nvSpPr>
        <p:spPr>
          <a:xfrm>
            <a:off x="365760" y="1143000"/>
            <a:ext cx="10972800" cy="274320"/>
          </a:xfrm>
          <a:prstGeom prst="rect">
            <a:avLst/>
          </a:prstGeom>
          <a:noFill/>
        </p:spPr>
        <p:txBody>
          <a:bodyPr wrap="square">
            <a:spAutoFit/>
          </a:bodyPr>
          <a:lstStyle/>
          <a:p>
            <a:pPr algn="l"/>
            <a:r>
              <a:rPr sz="1300" b="1" i="0">
                <a:solidFill>
                  <a:srgbClr val="00478A"/>
                </a:solidFill>
              </a:rPr>
              <a:t>Confirmed Peer Disclosures</a:t>
            </a:r>
          </a:p>
        </p:txBody>
      </p:sp>
      <p:sp>
        <p:nvSpPr>
          <p:cNvPr id="9" name="Rectangle 8"/>
          <p:cNvSpPr/>
          <p:nvPr/>
        </p:nvSpPr>
        <p:spPr>
          <a:xfrm>
            <a:off x="320040" y="1481328"/>
            <a:ext cx="1371600" cy="41148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508760"/>
            <a:ext cx="1243584" cy="365760"/>
          </a:xfrm>
          <a:prstGeom prst="rect">
            <a:avLst/>
          </a:prstGeom>
          <a:noFill/>
        </p:spPr>
        <p:txBody>
          <a:bodyPr wrap="square">
            <a:spAutoFit/>
          </a:bodyPr>
          <a:lstStyle/>
          <a:p>
            <a:pPr algn="ctr"/>
            <a:r>
              <a:rPr sz="900" b="1" i="0">
                <a:solidFill>
                  <a:srgbClr val="FFFFFF"/>
                </a:solidFill>
              </a:rPr>
              <a:t>Company</a:t>
            </a:r>
          </a:p>
        </p:txBody>
      </p:sp>
      <p:sp>
        <p:nvSpPr>
          <p:cNvPr id="11" name="Rectangle 10"/>
          <p:cNvSpPr/>
          <p:nvPr/>
        </p:nvSpPr>
        <p:spPr>
          <a:xfrm>
            <a:off x="1691640" y="1481328"/>
            <a:ext cx="1554480" cy="41148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55648" y="1508760"/>
            <a:ext cx="1426464" cy="365760"/>
          </a:xfrm>
          <a:prstGeom prst="rect">
            <a:avLst/>
          </a:prstGeom>
          <a:noFill/>
        </p:spPr>
        <p:txBody>
          <a:bodyPr wrap="square">
            <a:spAutoFit/>
          </a:bodyPr>
          <a:lstStyle/>
          <a:p>
            <a:pPr algn="ctr"/>
            <a:r>
              <a:rPr sz="900" b="1" i="0">
                <a:solidFill>
                  <a:srgbClr val="FFFFFF"/>
                </a:solidFill>
              </a:rPr>
              <a:t>Peak Annual
Headwind</a:t>
            </a:r>
          </a:p>
        </p:txBody>
      </p:sp>
      <p:sp>
        <p:nvSpPr>
          <p:cNvPr id="13" name="Rectangle 12"/>
          <p:cNvSpPr/>
          <p:nvPr/>
        </p:nvSpPr>
        <p:spPr>
          <a:xfrm>
            <a:off x="3246120" y="1481328"/>
            <a:ext cx="1188720" cy="41148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10127" y="1508760"/>
            <a:ext cx="1060704" cy="365760"/>
          </a:xfrm>
          <a:prstGeom prst="rect">
            <a:avLst/>
          </a:prstGeom>
          <a:noFill/>
        </p:spPr>
        <p:txBody>
          <a:bodyPr wrap="square">
            <a:spAutoFit/>
          </a:bodyPr>
          <a:lstStyle/>
          <a:p>
            <a:pPr algn="ctr"/>
            <a:r>
              <a:rPr sz="900" b="1" i="0">
                <a:solidFill>
                  <a:srgbClr val="FFFFFF"/>
                </a:solidFill>
              </a:rPr>
              <a:t>Headwind Year</a:t>
            </a:r>
          </a:p>
        </p:txBody>
      </p:sp>
      <p:sp>
        <p:nvSpPr>
          <p:cNvPr id="15" name="Rectangle 14"/>
          <p:cNvSpPr/>
          <p:nvPr/>
        </p:nvSpPr>
        <p:spPr>
          <a:xfrm>
            <a:off x="4434840" y="1481328"/>
            <a:ext cx="2194560" cy="41148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98848" y="1508760"/>
            <a:ext cx="2066543" cy="365760"/>
          </a:xfrm>
          <a:prstGeom prst="rect">
            <a:avLst/>
          </a:prstGeom>
          <a:noFill/>
        </p:spPr>
        <p:txBody>
          <a:bodyPr wrap="square">
            <a:spAutoFit/>
          </a:bodyPr>
          <a:lstStyle/>
          <a:p>
            <a:pPr algn="ctr"/>
            <a:r>
              <a:rPr sz="900" b="1" i="0">
                <a:solidFill>
                  <a:srgbClr val="FFFFFF"/>
                </a:solidFill>
              </a:rPr>
              <a:t>What Happened</a:t>
            </a:r>
          </a:p>
        </p:txBody>
      </p:sp>
      <p:sp>
        <p:nvSpPr>
          <p:cNvPr id="17" name="Rectangle 16"/>
          <p:cNvSpPr/>
          <p:nvPr/>
        </p:nvSpPr>
        <p:spPr>
          <a:xfrm>
            <a:off x="6629400" y="1481328"/>
            <a:ext cx="1737360" cy="41148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3408" y="1508760"/>
            <a:ext cx="1609343" cy="365760"/>
          </a:xfrm>
          <a:prstGeom prst="rect">
            <a:avLst/>
          </a:prstGeom>
          <a:noFill/>
        </p:spPr>
        <p:txBody>
          <a:bodyPr wrap="square">
            <a:spAutoFit/>
          </a:bodyPr>
          <a:lstStyle/>
          <a:p>
            <a:pPr algn="ctr"/>
            <a:r>
              <a:rPr sz="900" b="1" i="0">
                <a:solidFill>
                  <a:srgbClr val="FFFFFF"/>
                </a:solidFill>
              </a:rPr>
              <a:t>2026 Guidance</a:t>
            </a:r>
          </a:p>
        </p:txBody>
      </p:sp>
      <p:sp>
        <p:nvSpPr>
          <p:cNvPr id="19" name="Rectangle 18"/>
          <p:cNvSpPr/>
          <p:nvPr/>
        </p:nvSpPr>
        <p:spPr>
          <a:xfrm>
            <a:off x="8366760" y="1481328"/>
            <a:ext cx="1920240" cy="41148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30768" y="1508760"/>
            <a:ext cx="1792224" cy="365760"/>
          </a:xfrm>
          <a:prstGeom prst="rect">
            <a:avLst/>
          </a:prstGeom>
          <a:noFill/>
        </p:spPr>
        <p:txBody>
          <a:bodyPr wrap="square">
            <a:spAutoFit/>
          </a:bodyPr>
          <a:lstStyle/>
          <a:p>
            <a:pPr algn="ctr"/>
            <a:r>
              <a:rPr sz="900" b="1" i="0">
                <a:solidFill>
                  <a:srgbClr val="FFFFFF"/>
                </a:solidFill>
              </a:rPr>
              <a:t>Current Status</a:t>
            </a:r>
          </a:p>
        </p:txBody>
      </p:sp>
      <p:sp>
        <p:nvSpPr>
          <p:cNvPr id="21" name="Rectangle 20"/>
          <p:cNvSpPr/>
          <p:nvPr/>
        </p:nvSpPr>
        <p:spPr>
          <a:xfrm>
            <a:off x="10287000" y="1481328"/>
            <a:ext cx="1645920" cy="41148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51008" y="1508760"/>
            <a:ext cx="1517904" cy="365760"/>
          </a:xfrm>
          <a:prstGeom prst="rect">
            <a:avLst/>
          </a:prstGeom>
          <a:noFill/>
        </p:spPr>
        <p:txBody>
          <a:bodyPr wrap="square">
            <a:spAutoFit/>
          </a:bodyPr>
          <a:lstStyle/>
          <a:p>
            <a:pPr algn="ctr"/>
            <a:r>
              <a:rPr sz="900" b="1" i="0">
                <a:solidFill>
                  <a:srgbClr val="FFFFFF"/>
                </a:solidFill>
              </a:rPr>
              <a:t>Base Effect
Relief Expected</a:t>
            </a:r>
          </a:p>
        </p:txBody>
      </p:sp>
      <p:sp>
        <p:nvSpPr>
          <p:cNvPr id="23" name="Rectangle 22"/>
          <p:cNvSpPr/>
          <p:nvPr/>
        </p:nvSpPr>
        <p:spPr>
          <a:xfrm>
            <a:off x="320040" y="1892807"/>
            <a:ext cx="1371600" cy="969264"/>
          </a:xfrm>
          <a:prstGeom prst="rect">
            <a:avLst/>
          </a:prstGeom>
          <a:solidFill>
            <a:srgbClr val="B9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1965960"/>
            <a:ext cx="1243584" cy="841248"/>
          </a:xfrm>
          <a:prstGeom prst="rect">
            <a:avLst/>
          </a:prstGeom>
          <a:noFill/>
        </p:spPr>
        <p:txBody>
          <a:bodyPr wrap="square">
            <a:spAutoFit/>
          </a:bodyPr>
          <a:lstStyle/>
          <a:p>
            <a:pPr algn="l"/>
            <a:r>
              <a:rPr sz="900" b="1" i="0">
                <a:solidFill>
                  <a:srgbClr val="FFFFFF"/>
                </a:solidFill>
              </a:rPr>
              <a:t>Abbott
Diagnostics</a:t>
            </a:r>
          </a:p>
        </p:txBody>
      </p:sp>
      <p:sp>
        <p:nvSpPr>
          <p:cNvPr id="25" name="Rectangle 24"/>
          <p:cNvSpPr/>
          <p:nvPr/>
        </p:nvSpPr>
        <p:spPr>
          <a:xfrm>
            <a:off x="1691640" y="1892807"/>
            <a:ext cx="155448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55648" y="1965960"/>
            <a:ext cx="1426464" cy="841248"/>
          </a:xfrm>
          <a:prstGeom prst="rect">
            <a:avLst/>
          </a:prstGeom>
          <a:noFill/>
        </p:spPr>
        <p:txBody>
          <a:bodyPr wrap="square">
            <a:spAutoFit/>
          </a:bodyPr>
          <a:lstStyle/>
          <a:p>
            <a:pPr algn="l"/>
            <a:r>
              <a:rPr sz="900" b="0" i="0">
                <a:solidFill>
                  <a:srgbClr val="2D2D2D"/>
                </a:solidFill>
              </a:rPr>
              <a:t>$400–500M</a:t>
            </a:r>
          </a:p>
        </p:txBody>
      </p:sp>
      <p:sp>
        <p:nvSpPr>
          <p:cNvPr id="27" name="Rectangle 26"/>
          <p:cNvSpPr/>
          <p:nvPr/>
        </p:nvSpPr>
        <p:spPr>
          <a:xfrm>
            <a:off x="3246120" y="1892807"/>
            <a:ext cx="118872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10127" y="1965960"/>
            <a:ext cx="1060704" cy="841248"/>
          </a:xfrm>
          <a:prstGeom prst="rect">
            <a:avLst/>
          </a:prstGeom>
          <a:noFill/>
        </p:spPr>
        <p:txBody>
          <a:bodyPr wrap="square">
            <a:spAutoFit/>
          </a:bodyPr>
          <a:lstStyle/>
          <a:p>
            <a:pPr algn="l"/>
            <a:r>
              <a:rPr sz="900" b="0" i="0">
                <a:solidFill>
                  <a:srgbClr val="2D2D2D"/>
                </a:solidFill>
              </a:rPr>
              <a:t>FY2025</a:t>
            </a:r>
          </a:p>
        </p:txBody>
      </p:sp>
      <p:sp>
        <p:nvSpPr>
          <p:cNvPr id="29" name="Rectangle 28"/>
          <p:cNvSpPr/>
          <p:nvPr/>
        </p:nvSpPr>
        <p:spPr>
          <a:xfrm>
            <a:off x="4434840" y="1892807"/>
            <a:ext cx="219456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98848" y="1965960"/>
            <a:ext cx="2066543" cy="841248"/>
          </a:xfrm>
          <a:prstGeom prst="rect">
            <a:avLst/>
          </a:prstGeom>
          <a:noFill/>
        </p:spPr>
        <p:txBody>
          <a:bodyPr wrap="square">
            <a:spAutoFit/>
          </a:bodyPr>
          <a:lstStyle/>
          <a:p>
            <a:pPr algn="l"/>
            <a:r>
              <a:rPr sz="900" b="0" i="0">
                <a:solidFill>
                  <a:srgbClr val="2D2D2D"/>
                </a:solidFill>
              </a:rPr>
              <a:t>China Core Lab: –15% to –30% each quarter of 2025</a:t>
            </a:r>
          </a:p>
        </p:txBody>
      </p:sp>
      <p:sp>
        <p:nvSpPr>
          <p:cNvPr id="31" name="Rectangle 30"/>
          <p:cNvSpPr/>
          <p:nvPr/>
        </p:nvSpPr>
        <p:spPr>
          <a:xfrm>
            <a:off x="6629400" y="1892807"/>
            <a:ext cx="173736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93408" y="1965960"/>
            <a:ext cx="1609343" cy="841248"/>
          </a:xfrm>
          <a:prstGeom prst="rect">
            <a:avLst/>
          </a:prstGeom>
          <a:noFill/>
        </p:spPr>
        <p:txBody>
          <a:bodyPr wrap="square">
            <a:spAutoFit/>
          </a:bodyPr>
          <a:lstStyle/>
          <a:p>
            <a:pPr algn="l"/>
            <a:r>
              <a:rPr sz="900" b="0" i="0">
                <a:solidFill>
                  <a:srgbClr val="2D2D2D"/>
                </a:solidFill>
              </a:rPr>
              <a:t>~Single-digit decline
(flat to slightly down)</a:t>
            </a:r>
          </a:p>
        </p:txBody>
      </p:sp>
      <p:sp>
        <p:nvSpPr>
          <p:cNvPr id="33" name="Rectangle 32"/>
          <p:cNvSpPr/>
          <p:nvPr/>
        </p:nvSpPr>
        <p:spPr>
          <a:xfrm>
            <a:off x="8366760" y="1892807"/>
            <a:ext cx="192024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30768" y="1965960"/>
            <a:ext cx="1792224" cy="841248"/>
          </a:xfrm>
          <a:prstGeom prst="rect">
            <a:avLst/>
          </a:prstGeom>
          <a:noFill/>
        </p:spPr>
        <p:txBody>
          <a:bodyPr wrap="square">
            <a:spAutoFit/>
          </a:bodyPr>
          <a:lstStyle/>
          <a:p>
            <a:pPr algn="l"/>
            <a:r>
              <a:rPr sz="900" b="0" i="0">
                <a:solidFill>
                  <a:srgbClr val="2D2D2D"/>
                </a:solidFill>
              </a:rPr>
              <a:t>Q1 2026 = FLAT ✅
'Bulk of impact behind us'</a:t>
            </a:r>
          </a:p>
        </p:txBody>
      </p:sp>
      <p:sp>
        <p:nvSpPr>
          <p:cNvPr id="35" name="Rectangle 34"/>
          <p:cNvSpPr/>
          <p:nvPr/>
        </p:nvSpPr>
        <p:spPr>
          <a:xfrm>
            <a:off x="10287000" y="1892807"/>
            <a:ext cx="164592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51008" y="1965960"/>
            <a:ext cx="1517904" cy="841248"/>
          </a:xfrm>
          <a:prstGeom prst="rect">
            <a:avLst/>
          </a:prstGeom>
          <a:noFill/>
        </p:spPr>
        <p:txBody>
          <a:bodyPr wrap="square">
            <a:spAutoFit/>
          </a:bodyPr>
          <a:lstStyle/>
          <a:p>
            <a:pPr algn="l"/>
            <a:r>
              <a:rPr sz="900" b="0" i="0">
                <a:solidFill>
                  <a:srgbClr val="2D2D2D"/>
                </a:solidFill>
              </a:rPr>
              <a:t>H1–H2 2026</a:t>
            </a:r>
          </a:p>
        </p:txBody>
      </p:sp>
      <p:sp>
        <p:nvSpPr>
          <p:cNvPr id="37" name="Rectangle 36"/>
          <p:cNvSpPr/>
          <p:nvPr/>
        </p:nvSpPr>
        <p:spPr>
          <a:xfrm>
            <a:off x="320040" y="2898648"/>
            <a:ext cx="137160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2971800"/>
            <a:ext cx="1243584" cy="841248"/>
          </a:xfrm>
          <a:prstGeom prst="rect">
            <a:avLst/>
          </a:prstGeom>
          <a:noFill/>
        </p:spPr>
        <p:txBody>
          <a:bodyPr wrap="square">
            <a:spAutoFit/>
          </a:bodyPr>
          <a:lstStyle/>
          <a:p>
            <a:pPr algn="l"/>
            <a:r>
              <a:rPr sz="900" b="1" i="0">
                <a:solidFill>
                  <a:srgbClr val="FFFFFF"/>
                </a:solidFill>
              </a:rPr>
              <a:t>Roche
Diagnostics</a:t>
            </a:r>
          </a:p>
        </p:txBody>
      </p:sp>
      <p:sp>
        <p:nvSpPr>
          <p:cNvPr id="39" name="Rectangle 38"/>
          <p:cNvSpPr/>
          <p:nvPr/>
        </p:nvSpPr>
        <p:spPr>
          <a:xfrm>
            <a:off x="1691640" y="2898648"/>
            <a:ext cx="1554480" cy="969264"/>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755648" y="2971800"/>
            <a:ext cx="1426464" cy="841248"/>
          </a:xfrm>
          <a:prstGeom prst="rect">
            <a:avLst/>
          </a:prstGeom>
          <a:noFill/>
        </p:spPr>
        <p:txBody>
          <a:bodyPr wrap="square">
            <a:spAutoFit/>
          </a:bodyPr>
          <a:lstStyle/>
          <a:p>
            <a:pPr algn="l"/>
            <a:r>
              <a:rPr sz="900" b="0" i="0">
                <a:solidFill>
                  <a:srgbClr val="2D2D2D"/>
                </a:solidFill>
              </a:rPr>
              <a:t>~CHF 500M+
(CHF 136M/quarter
at peak Q1 2025)</a:t>
            </a:r>
          </a:p>
        </p:txBody>
      </p:sp>
      <p:sp>
        <p:nvSpPr>
          <p:cNvPr id="41" name="Rectangle 40"/>
          <p:cNvSpPr/>
          <p:nvPr/>
        </p:nvSpPr>
        <p:spPr>
          <a:xfrm>
            <a:off x="3246120" y="2898648"/>
            <a:ext cx="1188720" cy="969264"/>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10127" y="2971800"/>
            <a:ext cx="1060704" cy="841248"/>
          </a:xfrm>
          <a:prstGeom prst="rect">
            <a:avLst/>
          </a:prstGeom>
          <a:noFill/>
        </p:spPr>
        <p:txBody>
          <a:bodyPr wrap="square">
            <a:spAutoFit/>
          </a:bodyPr>
          <a:lstStyle/>
          <a:p>
            <a:pPr algn="l"/>
            <a:r>
              <a:rPr sz="900" b="0" i="0">
                <a:solidFill>
                  <a:srgbClr val="2D2D2D"/>
                </a:solidFill>
              </a:rPr>
              <a:t>FY2025</a:t>
            </a:r>
          </a:p>
        </p:txBody>
      </p:sp>
      <p:sp>
        <p:nvSpPr>
          <p:cNvPr id="43" name="Rectangle 42"/>
          <p:cNvSpPr/>
          <p:nvPr/>
        </p:nvSpPr>
        <p:spPr>
          <a:xfrm>
            <a:off x="4434840" y="2898648"/>
            <a:ext cx="2194560" cy="969264"/>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98848" y="2971800"/>
            <a:ext cx="2066543" cy="841248"/>
          </a:xfrm>
          <a:prstGeom prst="rect">
            <a:avLst/>
          </a:prstGeom>
          <a:noFill/>
        </p:spPr>
        <p:txBody>
          <a:bodyPr wrap="square">
            <a:spAutoFit/>
          </a:bodyPr>
          <a:lstStyle/>
          <a:p>
            <a:pPr algn="l"/>
            <a:r>
              <a:rPr sz="900" b="0" i="0">
                <a:solidFill>
                  <a:srgbClr val="2D2D2D"/>
                </a:solidFill>
              </a:rPr>
              <a:t>Asia-Pacific –15%; China –23% in FY2025</a:t>
            </a:r>
          </a:p>
        </p:txBody>
      </p:sp>
      <p:sp>
        <p:nvSpPr>
          <p:cNvPr id="45" name="Rectangle 44"/>
          <p:cNvSpPr/>
          <p:nvPr/>
        </p:nvSpPr>
        <p:spPr>
          <a:xfrm>
            <a:off x="6629400" y="2898648"/>
            <a:ext cx="1737360" cy="969264"/>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93408" y="2971800"/>
            <a:ext cx="1609343" cy="841248"/>
          </a:xfrm>
          <a:prstGeom prst="rect">
            <a:avLst/>
          </a:prstGeom>
          <a:noFill/>
        </p:spPr>
        <p:txBody>
          <a:bodyPr wrap="square">
            <a:spAutoFit/>
          </a:bodyPr>
          <a:lstStyle/>
          <a:p>
            <a:pPr algn="l"/>
            <a:r>
              <a:rPr sz="900" b="0" i="0">
                <a:solidFill>
                  <a:srgbClr val="2D2D2D"/>
                </a:solidFill>
              </a:rPr>
              <a:t>'Diminished but
continuing headwinds'</a:t>
            </a:r>
          </a:p>
        </p:txBody>
      </p:sp>
      <p:sp>
        <p:nvSpPr>
          <p:cNvPr id="47" name="Rectangle 46"/>
          <p:cNvSpPr/>
          <p:nvPr/>
        </p:nvSpPr>
        <p:spPr>
          <a:xfrm>
            <a:off x="8366760" y="2898648"/>
            <a:ext cx="1920240" cy="969264"/>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30768" y="2971800"/>
            <a:ext cx="1792224" cy="841248"/>
          </a:xfrm>
          <a:prstGeom prst="rect">
            <a:avLst/>
          </a:prstGeom>
          <a:noFill/>
        </p:spPr>
        <p:txBody>
          <a:bodyPr wrap="square">
            <a:spAutoFit/>
          </a:bodyPr>
          <a:lstStyle/>
          <a:p>
            <a:pPr algn="l"/>
            <a:r>
              <a:rPr sz="900" b="0" i="0">
                <a:solidFill>
                  <a:srgbClr val="2D2D2D"/>
                </a:solidFill>
              </a:rPr>
              <a:t>Q1 2026 CHF ~60M/quarter
(down from CHF 136M peak)</a:t>
            </a:r>
          </a:p>
        </p:txBody>
      </p:sp>
      <p:sp>
        <p:nvSpPr>
          <p:cNvPr id="49" name="Rectangle 48"/>
          <p:cNvSpPr/>
          <p:nvPr/>
        </p:nvSpPr>
        <p:spPr>
          <a:xfrm>
            <a:off x="10287000" y="2898648"/>
            <a:ext cx="1645920" cy="969264"/>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51008" y="2971800"/>
            <a:ext cx="1517904" cy="841248"/>
          </a:xfrm>
          <a:prstGeom prst="rect">
            <a:avLst/>
          </a:prstGeom>
          <a:noFill/>
        </p:spPr>
        <p:txBody>
          <a:bodyPr wrap="square">
            <a:spAutoFit/>
          </a:bodyPr>
          <a:lstStyle/>
          <a:p>
            <a:pPr algn="l"/>
            <a:r>
              <a:rPr sz="900" b="0" i="0">
                <a:solidFill>
                  <a:srgbClr val="2D2D2D"/>
                </a:solidFill>
              </a:rPr>
              <a:t>H2 2026 into 2027</a:t>
            </a:r>
          </a:p>
        </p:txBody>
      </p:sp>
      <p:sp>
        <p:nvSpPr>
          <p:cNvPr id="51" name="Rectangle 50"/>
          <p:cNvSpPr/>
          <p:nvPr/>
        </p:nvSpPr>
        <p:spPr>
          <a:xfrm>
            <a:off x="320040" y="3904487"/>
            <a:ext cx="137160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4048" y="3977639"/>
            <a:ext cx="1243584" cy="841248"/>
          </a:xfrm>
          <a:prstGeom prst="rect">
            <a:avLst/>
          </a:prstGeom>
          <a:noFill/>
        </p:spPr>
        <p:txBody>
          <a:bodyPr wrap="square">
            <a:spAutoFit/>
          </a:bodyPr>
          <a:lstStyle/>
          <a:p>
            <a:pPr algn="l"/>
            <a:r>
              <a:rPr sz="900" b="1" i="0">
                <a:solidFill>
                  <a:srgbClr val="FFFFFF"/>
                </a:solidFill>
              </a:rPr>
              <a:t>Danaher /
Beckman Coulter</a:t>
            </a:r>
          </a:p>
        </p:txBody>
      </p:sp>
      <p:sp>
        <p:nvSpPr>
          <p:cNvPr id="53" name="Rectangle 52"/>
          <p:cNvSpPr/>
          <p:nvPr/>
        </p:nvSpPr>
        <p:spPr>
          <a:xfrm>
            <a:off x="1691640" y="3904487"/>
            <a:ext cx="155448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755648" y="3977639"/>
            <a:ext cx="1426464" cy="841248"/>
          </a:xfrm>
          <a:prstGeom prst="rect">
            <a:avLst/>
          </a:prstGeom>
          <a:noFill/>
        </p:spPr>
        <p:txBody>
          <a:bodyPr wrap="square">
            <a:spAutoFit/>
          </a:bodyPr>
          <a:lstStyle/>
          <a:p>
            <a:pPr algn="l"/>
            <a:r>
              <a:rPr sz="900" b="0" i="0">
                <a:solidFill>
                  <a:srgbClr val="2D2D2D"/>
                </a:solidFill>
              </a:rPr>
              <a:t>$150M</a:t>
            </a:r>
          </a:p>
        </p:txBody>
      </p:sp>
      <p:sp>
        <p:nvSpPr>
          <p:cNvPr id="55" name="Rectangle 54"/>
          <p:cNvSpPr/>
          <p:nvPr/>
        </p:nvSpPr>
        <p:spPr>
          <a:xfrm>
            <a:off x="3246120" y="3904487"/>
            <a:ext cx="118872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10127" y="3977639"/>
            <a:ext cx="1060704" cy="841248"/>
          </a:xfrm>
          <a:prstGeom prst="rect">
            <a:avLst/>
          </a:prstGeom>
          <a:noFill/>
        </p:spPr>
        <p:txBody>
          <a:bodyPr wrap="square">
            <a:spAutoFit/>
          </a:bodyPr>
          <a:lstStyle/>
          <a:p>
            <a:pPr algn="l"/>
            <a:r>
              <a:rPr sz="900" b="0" i="0">
                <a:solidFill>
                  <a:srgbClr val="2D2D2D"/>
                </a:solidFill>
              </a:rPr>
              <a:t>FY2025</a:t>
            </a:r>
          </a:p>
        </p:txBody>
      </p:sp>
      <p:sp>
        <p:nvSpPr>
          <p:cNvPr id="57" name="Rectangle 56"/>
          <p:cNvSpPr/>
          <p:nvPr/>
        </p:nvSpPr>
        <p:spPr>
          <a:xfrm>
            <a:off x="4434840" y="3904487"/>
            <a:ext cx="219456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498848" y="3977639"/>
            <a:ext cx="2066543" cy="841248"/>
          </a:xfrm>
          <a:prstGeom prst="rect">
            <a:avLst/>
          </a:prstGeom>
          <a:noFill/>
        </p:spPr>
        <p:txBody>
          <a:bodyPr wrap="square">
            <a:spAutoFit/>
          </a:bodyPr>
          <a:lstStyle/>
          <a:p>
            <a:pPr algn="l"/>
            <a:r>
              <a:rPr sz="900" b="0" i="0">
                <a:solidFill>
                  <a:srgbClr val="2D2D2D"/>
                </a:solidFill>
              </a:rPr>
              <a:t>Most quantified disclosure; $50M/yr initially then accelerated</a:t>
            </a:r>
          </a:p>
        </p:txBody>
      </p:sp>
      <p:sp>
        <p:nvSpPr>
          <p:cNvPr id="59" name="Rectangle 58"/>
          <p:cNvSpPr/>
          <p:nvPr/>
        </p:nvSpPr>
        <p:spPr>
          <a:xfrm>
            <a:off x="6629400" y="3904487"/>
            <a:ext cx="173736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93408" y="3977639"/>
            <a:ext cx="1609343" cy="841248"/>
          </a:xfrm>
          <a:prstGeom prst="rect">
            <a:avLst/>
          </a:prstGeom>
          <a:noFill/>
        </p:spPr>
        <p:txBody>
          <a:bodyPr wrap="square">
            <a:spAutoFit/>
          </a:bodyPr>
          <a:lstStyle/>
          <a:p>
            <a:pPr algn="l"/>
            <a:r>
              <a:rPr sz="900" b="0" i="0">
                <a:solidFill>
                  <a:srgbClr val="2D2D2D"/>
                </a:solidFill>
              </a:rPr>
              <a:t>$75–100M
(~50% reduction)</a:t>
            </a:r>
          </a:p>
        </p:txBody>
      </p:sp>
      <p:sp>
        <p:nvSpPr>
          <p:cNvPr id="61" name="Rectangle 60"/>
          <p:cNvSpPr/>
          <p:nvPr/>
        </p:nvSpPr>
        <p:spPr>
          <a:xfrm>
            <a:off x="8366760" y="3904487"/>
            <a:ext cx="192024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30768" y="3977639"/>
            <a:ext cx="1792224" cy="841248"/>
          </a:xfrm>
          <a:prstGeom prst="rect">
            <a:avLst/>
          </a:prstGeom>
          <a:noFill/>
        </p:spPr>
        <p:txBody>
          <a:bodyPr wrap="square">
            <a:spAutoFit/>
          </a:bodyPr>
          <a:lstStyle/>
          <a:p>
            <a:pPr algn="l"/>
            <a:r>
              <a:rPr sz="900" b="0" i="0">
                <a:solidFill>
                  <a:srgbClr val="2D2D2D"/>
                </a:solidFill>
              </a:rPr>
              <a:t>Most advanced in
the base-effect cycle</a:t>
            </a:r>
          </a:p>
        </p:txBody>
      </p:sp>
      <p:sp>
        <p:nvSpPr>
          <p:cNvPr id="63" name="Rectangle 62"/>
          <p:cNvSpPr/>
          <p:nvPr/>
        </p:nvSpPr>
        <p:spPr>
          <a:xfrm>
            <a:off x="10287000" y="3904487"/>
            <a:ext cx="1645920" cy="96926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351008" y="3977639"/>
            <a:ext cx="1517904" cy="841248"/>
          </a:xfrm>
          <a:prstGeom prst="rect">
            <a:avLst/>
          </a:prstGeom>
          <a:noFill/>
        </p:spPr>
        <p:txBody>
          <a:bodyPr wrap="square">
            <a:spAutoFit/>
          </a:bodyPr>
          <a:lstStyle/>
          <a:p>
            <a:pPr algn="l"/>
            <a:r>
              <a:rPr sz="900" b="0" i="0">
                <a:solidFill>
                  <a:srgbClr val="2D2D2D"/>
                </a:solidFill>
              </a:rPr>
              <a:t>H1 2026 (mostly done)</a:t>
            </a:r>
          </a:p>
        </p:txBody>
      </p:sp>
      <p:sp>
        <p:nvSpPr>
          <p:cNvPr id="65" name="Rectangle 64"/>
          <p:cNvSpPr/>
          <p:nvPr/>
        </p:nvSpPr>
        <p:spPr>
          <a:xfrm>
            <a:off x="320040" y="4910328"/>
            <a:ext cx="1371600" cy="969264"/>
          </a:xfrm>
          <a:prstGeom prst="rect">
            <a:avLst/>
          </a:prstGeom>
          <a:solidFill>
            <a:srgbClr val="FFFFD7"/>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4048" y="4983480"/>
            <a:ext cx="1243584" cy="841248"/>
          </a:xfrm>
          <a:prstGeom prst="rect">
            <a:avLst/>
          </a:prstGeom>
          <a:noFill/>
        </p:spPr>
        <p:txBody>
          <a:bodyPr wrap="square">
            <a:spAutoFit/>
          </a:bodyPr>
          <a:lstStyle/>
          <a:p>
            <a:pPr algn="l"/>
            <a:r>
              <a:rPr sz="900" b="1" i="0">
                <a:solidFill>
                  <a:srgbClr val="FFFFFF"/>
                </a:solidFill>
              </a:rPr>
              <a:t>Siemens
Healthineers</a:t>
            </a:r>
          </a:p>
        </p:txBody>
      </p:sp>
      <p:sp>
        <p:nvSpPr>
          <p:cNvPr id="67" name="Rectangle 66"/>
          <p:cNvSpPr/>
          <p:nvPr/>
        </p:nvSpPr>
        <p:spPr>
          <a:xfrm>
            <a:off x="1691640" y="4910328"/>
            <a:ext cx="1554480" cy="969264"/>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755648" y="4983480"/>
            <a:ext cx="1426464" cy="841248"/>
          </a:xfrm>
          <a:prstGeom prst="rect">
            <a:avLst/>
          </a:prstGeom>
          <a:noFill/>
        </p:spPr>
        <p:txBody>
          <a:bodyPr wrap="square">
            <a:spAutoFit/>
          </a:bodyPr>
          <a:lstStyle/>
          <a:p>
            <a:pPr algn="l"/>
            <a:r>
              <a:rPr sz="900" b="0" i="0">
                <a:solidFill>
                  <a:srgbClr val="2D2D2D"/>
                </a:solidFill>
              </a:rPr>
              <a:t>~€100–120M
(estimated)</a:t>
            </a:r>
          </a:p>
        </p:txBody>
      </p:sp>
      <p:sp>
        <p:nvSpPr>
          <p:cNvPr id="69" name="Rectangle 68"/>
          <p:cNvSpPr/>
          <p:nvPr/>
        </p:nvSpPr>
        <p:spPr>
          <a:xfrm>
            <a:off x="3246120" y="4910328"/>
            <a:ext cx="1188720" cy="969264"/>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310127" y="4983480"/>
            <a:ext cx="1060704" cy="841248"/>
          </a:xfrm>
          <a:prstGeom prst="rect">
            <a:avLst/>
          </a:prstGeom>
          <a:noFill/>
        </p:spPr>
        <p:txBody>
          <a:bodyPr wrap="square">
            <a:spAutoFit/>
          </a:bodyPr>
          <a:lstStyle/>
          <a:p>
            <a:pPr algn="l"/>
            <a:r>
              <a:rPr sz="900" b="0" i="0">
                <a:solidFill>
                  <a:srgbClr val="2D2D2D"/>
                </a:solidFill>
              </a:rPr>
              <a:t>FY2025 (Sep yr-end)</a:t>
            </a:r>
          </a:p>
        </p:txBody>
      </p:sp>
      <p:sp>
        <p:nvSpPr>
          <p:cNvPr id="71" name="Rectangle 70"/>
          <p:cNvSpPr/>
          <p:nvPr/>
        </p:nvSpPr>
        <p:spPr>
          <a:xfrm>
            <a:off x="4434840" y="4910328"/>
            <a:ext cx="2194560" cy="969264"/>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498848" y="4983480"/>
            <a:ext cx="2066543" cy="841248"/>
          </a:xfrm>
          <a:prstGeom prst="rect">
            <a:avLst/>
          </a:prstGeom>
          <a:noFill/>
        </p:spPr>
        <p:txBody>
          <a:bodyPr wrap="square">
            <a:spAutoFit/>
          </a:bodyPr>
          <a:lstStyle/>
          <a:p>
            <a:pPr algn="l"/>
            <a:r>
              <a:rPr sz="900" b="0" i="0">
                <a:solidFill>
                  <a:srgbClr val="2D2D2D"/>
                </a:solidFill>
              </a:rPr>
              <a:t>China Dx 'low double-digit' decline</a:t>
            </a:r>
          </a:p>
        </p:txBody>
      </p:sp>
      <p:sp>
        <p:nvSpPr>
          <p:cNvPr id="73" name="Rectangle 72"/>
          <p:cNvSpPr/>
          <p:nvPr/>
        </p:nvSpPr>
        <p:spPr>
          <a:xfrm>
            <a:off x="6629400" y="4910328"/>
            <a:ext cx="1737360" cy="969264"/>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693408" y="4983480"/>
            <a:ext cx="1609343" cy="841248"/>
          </a:xfrm>
          <a:prstGeom prst="rect">
            <a:avLst/>
          </a:prstGeom>
          <a:noFill/>
        </p:spPr>
        <p:txBody>
          <a:bodyPr wrap="square">
            <a:spAutoFit/>
          </a:bodyPr>
          <a:lstStyle/>
          <a:p>
            <a:pPr algn="l"/>
            <a:r>
              <a:rPr sz="900" b="0" i="0">
                <a:solidFill>
                  <a:srgbClr val="2D2D2D"/>
                </a:solidFill>
              </a:rPr>
              <a:t>'Especially pronounced
H1 FY2026'</a:t>
            </a:r>
          </a:p>
        </p:txBody>
      </p:sp>
      <p:sp>
        <p:nvSpPr>
          <p:cNvPr id="75" name="Rectangle 74"/>
          <p:cNvSpPr/>
          <p:nvPr/>
        </p:nvSpPr>
        <p:spPr>
          <a:xfrm>
            <a:off x="8366760" y="4910328"/>
            <a:ext cx="1920240" cy="969264"/>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30768" y="4983480"/>
            <a:ext cx="1792224" cy="841248"/>
          </a:xfrm>
          <a:prstGeom prst="rect">
            <a:avLst/>
          </a:prstGeom>
          <a:noFill/>
        </p:spPr>
        <p:txBody>
          <a:bodyPr wrap="square">
            <a:spAutoFit/>
          </a:bodyPr>
          <a:lstStyle/>
          <a:p>
            <a:pPr algn="l"/>
            <a:r>
              <a:rPr sz="900" b="0" i="0">
                <a:solidFill>
                  <a:srgbClr val="2D2D2D"/>
                </a:solidFill>
              </a:rPr>
              <a:t>Behind Abbott &amp;
Danaher in the cycle</a:t>
            </a:r>
          </a:p>
        </p:txBody>
      </p:sp>
      <p:sp>
        <p:nvSpPr>
          <p:cNvPr id="77" name="Rectangle 76"/>
          <p:cNvSpPr/>
          <p:nvPr/>
        </p:nvSpPr>
        <p:spPr>
          <a:xfrm>
            <a:off x="10287000" y="4910328"/>
            <a:ext cx="1645920" cy="969264"/>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351008" y="4983480"/>
            <a:ext cx="1517904" cy="841248"/>
          </a:xfrm>
          <a:prstGeom prst="rect">
            <a:avLst/>
          </a:prstGeom>
          <a:noFill/>
        </p:spPr>
        <p:txBody>
          <a:bodyPr wrap="square">
            <a:spAutoFit/>
          </a:bodyPr>
          <a:lstStyle/>
          <a:p>
            <a:pPr algn="l"/>
            <a:r>
              <a:rPr sz="900" b="0" i="0">
                <a:solidFill>
                  <a:srgbClr val="2D2D2D"/>
                </a:solidFill>
              </a:rPr>
              <a:t>H2 FY2026 (Apr–Sep)</a:t>
            </a:r>
          </a:p>
        </p:txBody>
      </p:sp>
      <p:sp>
        <p:nvSpPr>
          <p:cNvPr id="79" name="Rectangle 78"/>
          <p:cNvSpPr/>
          <p:nvPr/>
        </p:nvSpPr>
        <p:spPr>
          <a:xfrm>
            <a:off x="320040" y="5943600"/>
            <a:ext cx="11521440" cy="621792"/>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02920" y="5980176"/>
            <a:ext cx="3657600" cy="256032"/>
          </a:xfrm>
          <a:prstGeom prst="rect">
            <a:avLst/>
          </a:prstGeom>
          <a:noFill/>
        </p:spPr>
        <p:txBody>
          <a:bodyPr wrap="square">
            <a:spAutoFit/>
          </a:bodyPr>
          <a:lstStyle/>
          <a:p>
            <a:pPr algn="l"/>
            <a:r>
              <a:rPr sz="1100" b="1" i="0">
                <a:solidFill>
                  <a:srgbClr val="00478A"/>
                </a:solidFill>
              </a:rPr>
              <a:t>Key Takeaway from Peer Comparison:</a:t>
            </a:r>
          </a:p>
        </p:txBody>
      </p:sp>
      <p:sp>
        <p:nvSpPr>
          <p:cNvPr id="81" name="TextBox 80"/>
          <p:cNvSpPr txBox="1"/>
          <p:nvPr/>
        </p:nvSpPr>
        <p:spPr>
          <a:xfrm>
            <a:off x="502920" y="6236208"/>
            <a:ext cx="11064240" cy="301752"/>
          </a:xfrm>
          <a:prstGeom prst="rect">
            <a:avLst/>
          </a:prstGeom>
          <a:noFill/>
        </p:spPr>
        <p:txBody>
          <a:bodyPr wrap="square">
            <a:spAutoFit/>
          </a:bodyPr>
          <a:lstStyle/>
          <a:p>
            <a:pPr algn="l"/>
            <a:r>
              <a:rPr sz="1000" b="0" i="0">
                <a:solidFill>
                  <a:srgbClr val="2D2D2D"/>
                </a:solidFill>
              </a:rPr>
              <a:t>Abbott's headwind ($400–500M) is the largest in absolute dollars — consistent with having had a larger China Core Lab share. Danaher is furthest through the cycle. Roche and Siemens are still absorbing. The industry-wide pattern is clear: 2025 = peak pain, 2026 = transition, 2027 = clean comps (if no new VBP waves).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Breaking Down the Remaining Headwind — Three Buckets</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Not all of the China pain is the same — some is over, some is structural, some is still incoming</a:t>
            </a:r>
          </a:p>
        </p:txBody>
      </p:sp>
      <p:sp>
        <p:nvSpPr>
          <p:cNvPr id="5" name="Rectangle 4"/>
          <p:cNvSpPr/>
          <p:nvPr/>
        </p:nvSpPr>
        <p:spPr>
          <a:xfrm>
            <a:off x="0" y="1005840"/>
            <a:ext cx="12188952" cy="3657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China VBP Analysis</a:t>
            </a:r>
          </a:p>
        </p:txBody>
      </p:sp>
      <p:sp>
        <p:nvSpPr>
          <p:cNvPr id="8" name="TextBox 7"/>
          <p:cNvSpPr txBox="1"/>
          <p:nvPr/>
        </p:nvSpPr>
        <p:spPr>
          <a:xfrm>
            <a:off x="365760" y="1143000"/>
            <a:ext cx="11430000" cy="411480"/>
          </a:xfrm>
          <a:prstGeom prst="rect">
            <a:avLst/>
          </a:prstGeom>
          <a:noFill/>
        </p:spPr>
        <p:txBody>
          <a:bodyPr wrap="square">
            <a:spAutoFit/>
          </a:bodyPr>
          <a:lstStyle/>
          <a:p>
            <a:pPr algn="l"/>
            <a:r>
              <a:rPr sz="1150" b="0" i="0">
                <a:solidFill>
                  <a:srgbClr val="2D2D2D"/>
                </a:solidFill>
              </a:rPr>
              <a:t>To assess remaining risk, split the China headwind into three separate components. They have different timelines and different magnitudes.</a:t>
            </a:r>
          </a:p>
        </p:txBody>
      </p:sp>
      <p:sp>
        <p:nvSpPr>
          <p:cNvPr id="9" name="Rectangle 8"/>
          <p:cNvSpPr/>
          <p:nvPr/>
        </p:nvSpPr>
        <p:spPr>
          <a:xfrm>
            <a:off x="320040" y="1627632"/>
            <a:ext cx="3657600"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1664208"/>
            <a:ext cx="3474720" cy="256032"/>
          </a:xfrm>
          <a:prstGeom prst="rect">
            <a:avLst/>
          </a:prstGeom>
          <a:noFill/>
        </p:spPr>
        <p:txBody>
          <a:bodyPr wrap="square">
            <a:spAutoFit/>
          </a:bodyPr>
          <a:lstStyle/>
          <a:p>
            <a:pPr algn="l"/>
            <a:r>
              <a:rPr sz="1100" b="1" i="0">
                <a:solidFill>
                  <a:srgbClr val="FFFFFF"/>
                </a:solidFill>
              </a:rPr>
              <a:t>BUCKET 1: Price Reset Shock</a:t>
            </a:r>
          </a:p>
        </p:txBody>
      </p:sp>
      <p:sp>
        <p:nvSpPr>
          <p:cNvPr id="11" name="Rectangle 10"/>
          <p:cNvSpPr/>
          <p:nvPr/>
        </p:nvSpPr>
        <p:spPr>
          <a:xfrm>
            <a:off x="320040" y="1947672"/>
            <a:ext cx="3657600" cy="228600"/>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1965960"/>
            <a:ext cx="3474720" cy="201168"/>
          </a:xfrm>
          <a:prstGeom prst="rect">
            <a:avLst/>
          </a:prstGeom>
          <a:noFill/>
        </p:spPr>
        <p:txBody>
          <a:bodyPr wrap="square">
            <a:spAutoFit/>
          </a:bodyPr>
          <a:lstStyle/>
          <a:p>
            <a:pPr algn="l"/>
            <a:r>
              <a:rPr sz="900" b="1" i="0">
                <a:solidFill>
                  <a:srgbClr val="FFFFFF"/>
                </a:solidFill>
              </a:rPr>
              <a:t>✅ LARGELY COMPLETE</a:t>
            </a:r>
          </a:p>
        </p:txBody>
      </p:sp>
      <p:sp>
        <p:nvSpPr>
          <p:cNvPr id="13" name="Rectangle 12"/>
          <p:cNvSpPr/>
          <p:nvPr/>
        </p:nvSpPr>
        <p:spPr>
          <a:xfrm>
            <a:off x="320040" y="2176272"/>
            <a:ext cx="3657600" cy="26060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240280"/>
            <a:ext cx="3383280" cy="2377440"/>
          </a:xfrm>
          <a:prstGeom prst="rect">
            <a:avLst/>
          </a:prstGeom>
          <a:noFill/>
        </p:spPr>
        <p:txBody>
          <a:bodyPr wrap="square">
            <a:spAutoFit/>
          </a:bodyPr>
          <a:lstStyle/>
          <a:p>
            <a:r>
              <a:rPr sz="950" b="0">
                <a:solidFill>
                  <a:srgbClr val="2D2D2D"/>
                </a:solidFill>
              </a:rPr>
              <a:t>This is the initial 60–85% price cut on reagents when VBP hits</a:t>
            </a:r>
          </a:p>
          <a:p>
            <a:r>
              <a:rPr sz="950" b="0">
                <a:solidFill>
                  <a:srgbClr val="2D2D2D"/>
                </a:solidFill>
              </a:rPr>
              <a:t>~80% of Abbott's China Core Lab portfolio has been repriced</a:t>
            </a:r>
          </a:p>
          <a:p>
            <a:r>
              <a:rPr sz="950" b="0">
                <a:solidFill>
                  <a:srgbClr val="2D2D2D"/>
                </a:solidFill>
              </a:rPr>
              <a:t>Remaining ~20% (fertility, cancer markers) = Abbott has small</a:t>
            </a:r>
          </a:p>
          <a:p>
            <a:r>
              <a:rPr sz="950" b="0">
                <a:solidFill>
                  <a:srgbClr val="2D2D2D"/>
                </a:solidFill>
              </a:rPr>
              <a:t>  share → management says 'not significant'</a:t>
            </a:r>
          </a:p>
          <a:p>
            <a:r>
              <a:rPr sz="950" b="0">
                <a:solidFill>
                  <a:srgbClr val="2D2D2D"/>
                </a:solidFill>
              </a:rPr>
              <a:t>The prices WON'T recover — this is permanent</a:t>
            </a:r>
          </a:p>
          <a:p>
            <a:r>
              <a:rPr sz="950" b="0">
                <a:solidFill>
                  <a:srgbClr val="2D2D2D"/>
                </a:solidFill>
              </a:rPr>
              <a:t>But it stops being a YoY headwind once lapped</a:t>
            </a:r>
          </a:p>
        </p:txBody>
      </p:sp>
      <p:sp>
        <p:nvSpPr>
          <p:cNvPr id="15" name="Rectangle 14"/>
          <p:cNvSpPr/>
          <p:nvPr/>
        </p:nvSpPr>
        <p:spPr>
          <a:xfrm>
            <a:off x="320040" y="4782312"/>
            <a:ext cx="3657600" cy="2560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4800600"/>
            <a:ext cx="3474720" cy="228600"/>
          </a:xfrm>
          <a:prstGeom prst="rect">
            <a:avLst/>
          </a:prstGeom>
          <a:noFill/>
        </p:spPr>
        <p:txBody>
          <a:bodyPr wrap="square">
            <a:spAutoFit/>
          </a:bodyPr>
          <a:lstStyle/>
          <a:p>
            <a:pPr algn="l"/>
            <a:r>
              <a:rPr sz="850" b="1" i="0">
                <a:solidFill>
                  <a:srgbClr val="2D2D2D"/>
                </a:solidFill>
              </a:rPr>
              <a:t>Impact: $400–500M at peak;
estimated $50–100M
residual from remaining
20% of portfolio</a:t>
            </a:r>
          </a:p>
        </p:txBody>
      </p:sp>
      <p:sp>
        <p:nvSpPr>
          <p:cNvPr id="17" name="Rectangle 16"/>
          <p:cNvSpPr/>
          <p:nvPr/>
        </p:nvSpPr>
        <p:spPr>
          <a:xfrm>
            <a:off x="320040" y="5038344"/>
            <a:ext cx="3657600" cy="2286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 y="5056632"/>
            <a:ext cx="3474720" cy="201168"/>
          </a:xfrm>
          <a:prstGeom prst="rect">
            <a:avLst/>
          </a:prstGeom>
          <a:noFill/>
        </p:spPr>
        <p:txBody>
          <a:bodyPr wrap="square">
            <a:spAutoFit/>
          </a:bodyPr>
          <a:lstStyle/>
          <a:p>
            <a:pPr algn="l"/>
            <a:r>
              <a:rPr sz="850" b="1" i="0">
                <a:solidFill>
                  <a:srgbClr val="FFFFFF"/>
                </a:solidFill>
              </a:rPr>
              <a:t>Timeline: Largely done</a:t>
            </a:r>
          </a:p>
        </p:txBody>
      </p:sp>
      <p:sp>
        <p:nvSpPr>
          <p:cNvPr id="19" name="Rectangle 18"/>
          <p:cNvSpPr/>
          <p:nvPr/>
        </p:nvSpPr>
        <p:spPr>
          <a:xfrm>
            <a:off x="4197096" y="1627632"/>
            <a:ext cx="3657600" cy="320040"/>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06824" y="1664208"/>
            <a:ext cx="3474720" cy="256032"/>
          </a:xfrm>
          <a:prstGeom prst="rect">
            <a:avLst/>
          </a:prstGeom>
          <a:noFill/>
        </p:spPr>
        <p:txBody>
          <a:bodyPr wrap="square">
            <a:spAutoFit/>
          </a:bodyPr>
          <a:lstStyle/>
          <a:p>
            <a:pPr algn="l"/>
            <a:r>
              <a:rPr sz="1100" b="1" i="0">
                <a:solidFill>
                  <a:srgbClr val="FFFFFF"/>
                </a:solidFill>
              </a:rPr>
              <a:t>BUCKET 2: Base Effect (Comp Normalization)</a:t>
            </a:r>
          </a:p>
        </p:txBody>
      </p:sp>
      <p:sp>
        <p:nvSpPr>
          <p:cNvPr id="21" name="Rectangle 20"/>
          <p:cNvSpPr/>
          <p:nvPr/>
        </p:nvSpPr>
        <p:spPr>
          <a:xfrm>
            <a:off x="4197096" y="1947672"/>
            <a:ext cx="3657600" cy="228600"/>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06824" y="1965960"/>
            <a:ext cx="3474720" cy="201168"/>
          </a:xfrm>
          <a:prstGeom prst="rect">
            <a:avLst/>
          </a:prstGeom>
          <a:noFill/>
        </p:spPr>
        <p:txBody>
          <a:bodyPr wrap="square">
            <a:spAutoFit/>
          </a:bodyPr>
          <a:lstStyle/>
          <a:p>
            <a:pPr algn="l"/>
            <a:r>
              <a:rPr sz="900" b="1" i="0">
                <a:solidFill>
                  <a:srgbClr val="FFFFFF"/>
                </a:solidFill>
              </a:rPr>
              <a:t>🔄 IN PROGRESS — resolves through 2026</a:t>
            </a:r>
          </a:p>
        </p:txBody>
      </p:sp>
      <p:sp>
        <p:nvSpPr>
          <p:cNvPr id="23" name="Rectangle 22"/>
          <p:cNvSpPr/>
          <p:nvPr/>
        </p:nvSpPr>
        <p:spPr>
          <a:xfrm>
            <a:off x="4197096" y="2176272"/>
            <a:ext cx="3657600" cy="26060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34256" y="2240280"/>
            <a:ext cx="3383280" cy="2377440"/>
          </a:xfrm>
          <a:prstGeom prst="rect">
            <a:avLst/>
          </a:prstGeom>
          <a:noFill/>
        </p:spPr>
        <p:txBody>
          <a:bodyPr wrap="square">
            <a:spAutoFit/>
          </a:bodyPr>
          <a:lstStyle/>
          <a:p>
            <a:r>
              <a:rPr sz="950" b="0">
                <a:solidFill>
                  <a:srgbClr val="2D2D2D"/>
                </a:solidFill>
              </a:rPr>
              <a:t>Even after prices reset, the YoY comparison stays negative</a:t>
            </a:r>
          </a:p>
          <a:p>
            <a:r>
              <a:rPr sz="950" b="0">
                <a:solidFill>
                  <a:srgbClr val="2D2D2D"/>
                </a:solidFill>
              </a:rPr>
              <a:t>  until you're comparing against a period that ALREADY had the</a:t>
            </a:r>
          </a:p>
          <a:p>
            <a:r>
              <a:rPr sz="950" b="0">
                <a:solidFill>
                  <a:srgbClr val="2D2D2D"/>
                </a:solidFill>
              </a:rPr>
              <a:t>  new low prices in the base</a:t>
            </a:r>
          </a:p>
          <a:p>
            <a:r>
              <a:rPr sz="950" b="0">
                <a:solidFill>
                  <a:srgbClr val="2D2D2D"/>
                </a:solidFill>
              </a:rPr>
              <a:t>2025 = every quarter was –15% to –30% China Core Lab</a:t>
            </a:r>
          </a:p>
          <a:p>
            <a:r>
              <a:rPr sz="950" b="0">
                <a:solidFill>
                  <a:srgbClr val="2D2D2D"/>
                </a:solidFill>
              </a:rPr>
              <a:t>Q1 2026 = first flat quarter (lapping Q1 2025's bad numbers)</a:t>
            </a:r>
          </a:p>
          <a:p>
            <a:r>
              <a:rPr sz="950" b="0">
                <a:solidFill>
                  <a:srgbClr val="2D2D2D"/>
                </a:solidFill>
              </a:rPr>
              <a:t>H2 2026 = best comp relief (lapping worst quarters of 2025)</a:t>
            </a:r>
          </a:p>
          <a:p>
            <a:r>
              <a:rPr sz="950" b="0">
                <a:solidFill>
                  <a:srgbClr val="2D2D2D"/>
                </a:solidFill>
              </a:rPr>
              <a:t>This is a mathematical effect — requires no business recovery</a:t>
            </a:r>
          </a:p>
        </p:txBody>
      </p:sp>
      <p:sp>
        <p:nvSpPr>
          <p:cNvPr id="25" name="Rectangle 24"/>
          <p:cNvSpPr/>
          <p:nvPr/>
        </p:nvSpPr>
        <p:spPr>
          <a:xfrm>
            <a:off x="4197096" y="4782312"/>
            <a:ext cx="3657600" cy="2560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06824" y="4800600"/>
            <a:ext cx="3474720" cy="228600"/>
          </a:xfrm>
          <a:prstGeom prst="rect">
            <a:avLst/>
          </a:prstGeom>
          <a:noFill/>
        </p:spPr>
        <p:txBody>
          <a:bodyPr wrap="square">
            <a:spAutoFit/>
          </a:bodyPr>
          <a:lstStyle/>
          <a:p>
            <a:pPr algn="l"/>
            <a:r>
              <a:rPr sz="850" b="1" i="0">
                <a:solidFill>
                  <a:srgbClr val="2D2D2D"/>
                </a:solidFill>
              </a:rPr>
              <a:t>Impact: Turns from headwind
to neutral/tailwind
as 2026 progresses</a:t>
            </a:r>
          </a:p>
        </p:txBody>
      </p:sp>
      <p:sp>
        <p:nvSpPr>
          <p:cNvPr id="27" name="Rectangle 26"/>
          <p:cNvSpPr/>
          <p:nvPr/>
        </p:nvSpPr>
        <p:spPr>
          <a:xfrm>
            <a:off x="4197096" y="5038344"/>
            <a:ext cx="3657600" cy="228600"/>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06824" y="5056632"/>
            <a:ext cx="3474720" cy="201168"/>
          </a:xfrm>
          <a:prstGeom prst="rect">
            <a:avLst/>
          </a:prstGeom>
          <a:noFill/>
        </p:spPr>
        <p:txBody>
          <a:bodyPr wrap="square">
            <a:spAutoFit/>
          </a:bodyPr>
          <a:lstStyle/>
          <a:p>
            <a:pPr algn="l"/>
            <a:r>
              <a:rPr sz="850" b="1" i="0">
                <a:solidFill>
                  <a:srgbClr val="FFFFFF"/>
                </a:solidFill>
              </a:rPr>
              <a:t>Timeline: Resolves H2 2026</a:t>
            </a:r>
          </a:p>
        </p:txBody>
      </p:sp>
      <p:sp>
        <p:nvSpPr>
          <p:cNvPr id="29" name="Rectangle 28"/>
          <p:cNvSpPr/>
          <p:nvPr/>
        </p:nvSpPr>
        <p:spPr>
          <a:xfrm>
            <a:off x="8074152" y="1627632"/>
            <a:ext cx="3657600"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1664208"/>
            <a:ext cx="3474720" cy="256032"/>
          </a:xfrm>
          <a:prstGeom prst="rect">
            <a:avLst/>
          </a:prstGeom>
          <a:noFill/>
        </p:spPr>
        <p:txBody>
          <a:bodyPr wrap="square">
            <a:spAutoFit/>
          </a:bodyPr>
          <a:lstStyle/>
          <a:p>
            <a:pPr algn="l"/>
            <a:r>
              <a:rPr sz="1100" b="1" i="0">
                <a:solidFill>
                  <a:srgbClr val="FFFFFF"/>
                </a:solidFill>
              </a:rPr>
              <a:t>BUCKET 3: Structural / Volume Loss</a:t>
            </a:r>
          </a:p>
        </p:txBody>
      </p:sp>
      <p:sp>
        <p:nvSpPr>
          <p:cNvPr id="31" name="Rectangle 30"/>
          <p:cNvSpPr/>
          <p:nvPr/>
        </p:nvSpPr>
        <p:spPr>
          <a:xfrm>
            <a:off x="8074152" y="1947672"/>
            <a:ext cx="3657600" cy="2286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83879" y="1965960"/>
            <a:ext cx="3474720" cy="201168"/>
          </a:xfrm>
          <a:prstGeom prst="rect">
            <a:avLst/>
          </a:prstGeom>
          <a:noFill/>
        </p:spPr>
        <p:txBody>
          <a:bodyPr wrap="square">
            <a:spAutoFit/>
          </a:bodyPr>
          <a:lstStyle/>
          <a:p>
            <a:pPr algn="l"/>
            <a:r>
              <a:rPr sz="900" b="1" i="0">
                <a:solidFill>
                  <a:srgbClr val="FFFFFF"/>
                </a:solidFill>
              </a:rPr>
              <a:t>⚠️ ONGOING — not fully resolved</a:t>
            </a:r>
          </a:p>
        </p:txBody>
      </p:sp>
      <p:sp>
        <p:nvSpPr>
          <p:cNvPr id="33" name="Rectangle 32"/>
          <p:cNvSpPr/>
          <p:nvPr/>
        </p:nvSpPr>
        <p:spPr>
          <a:xfrm>
            <a:off x="8074152" y="2176272"/>
            <a:ext cx="3657600" cy="26060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11312" y="2240280"/>
            <a:ext cx="3383280" cy="2377440"/>
          </a:xfrm>
          <a:prstGeom prst="rect">
            <a:avLst/>
          </a:prstGeom>
          <a:noFill/>
        </p:spPr>
        <p:txBody>
          <a:bodyPr wrap="square">
            <a:spAutoFit/>
          </a:bodyPr>
          <a:lstStyle/>
          <a:p>
            <a:r>
              <a:rPr sz="950" b="0">
                <a:solidFill>
                  <a:srgbClr val="2D2D2D"/>
                </a:solidFill>
              </a:rPr>
              <a:t>Abbott lost market share in the 23-province Jiangxi round</a:t>
            </a:r>
          </a:p>
          <a:p>
            <a:r>
              <a:rPr sz="950" b="0">
                <a:solidFill>
                  <a:srgbClr val="2D2D2D"/>
                </a:solidFill>
              </a:rPr>
              <a:t>  (won 0 of 13 lots) — that volume went to domestic rivals</a:t>
            </a:r>
          </a:p>
          <a:p>
            <a:r>
              <a:rPr sz="950" b="0">
                <a:solidFill>
                  <a:srgbClr val="2D2D2D"/>
                </a:solidFill>
              </a:rPr>
              <a:t>DRG/DIP payment reform continues to suppress test volumes</a:t>
            </a:r>
          </a:p>
          <a:p>
            <a:r>
              <a:rPr sz="950" b="0">
                <a:solidFill>
                  <a:srgbClr val="2D2D2D"/>
                </a:solidFill>
              </a:rPr>
              <a:t>  in Chinese hospitals regardless of VBP pricing</a:t>
            </a:r>
          </a:p>
          <a:p>
            <a:r>
              <a:rPr sz="950" b="0">
                <a:solidFill>
                  <a:srgbClr val="2D2D2D"/>
                </a:solidFill>
              </a:rPr>
              <a:t>Domestic companies (Mindray, Snibe, Maccura) are targeting</a:t>
            </a:r>
          </a:p>
          <a:p>
            <a:r>
              <a:rPr sz="950" b="0">
                <a:solidFill>
                  <a:srgbClr val="2D2D2D"/>
                </a:solidFill>
              </a:rPr>
              <a:t>  IVD share from ~10% → &gt;20% — VBP accelerated this</a:t>
            </a:r>
          </a:p>
          <a:p>
            <a:r>
              <a:rPr sz="950" b="0">
                <a:solidFill>
                  <a:srgbClr val="2D2D2D"/>
                </a:solidFill>
              </a:rPr>
              <a:t>Abbott 'got the price cut with no volume offset'</a:t>
            </a:r>
          </a:p>
          <a:p>
            <a:r>
              <a:rPr sz="950" b="0">
                <a:solidFill>
                  <a:srgbClr val="2D2D2D"/>
                </a:solidFill>
              </a:rPr>
              <a:t>Management guides 'stable' — not 'recovering'</a:t>
            </a:r>
          </a:p>
        </p:txBody>
      </p:sp>
      <p:sp>
        <p:nvSpPr>
          <p:cNvPr id="35" name="Rectangle 34"/>
          <p:cNvSpPr/>
          <p:nvPr/>
        </p:nvSpPr>
        <p:spPr>
          <a:xfrm>
            <a:off x="8074152" y="4782312"/>
            <a:ext cx="3657600" cy="2560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83879" y="4800600"/>
            <a:ext cx="3474720" cy="228600"/>
          </a:xfrm>
          <a:prstGeom prst="rect">
            <a:avLst/>
          </a:prstGeom>
          <a:noFill/>
        </p:spPr>
        <p:txBody>
          <a:bodyPr wrap="square">
            <a:spAutoFit/>
          </a:bodyPr>
          <a:lstStyle/>
          <a:p>
            <a:pPr algn="l"/>
            <a:r>
              <a:rPr sz="850" b="1" i="0">
                <a:solidFill>
                  <a:srgbClr val="2D2D2D"/>
                </a:solidFill>
              </a:rPr>
              <a:t>Impact: Ongoing; no recovery
expected. Structural
new normal for China
Core Lab.</a:t>
            </a:r>
          </a:p>
        </p:txBody>
      </p:sp>
      <p:sp>
        <p:nvSpPr>
          <p:cNvPr id="37" name="Rectangle 36"/>
          <p:cNvSpPr/>
          <p:nvPr/>
        </p:nvSpPr>
        <p:spPr>
          <a:xfrm>
            <a:off x="8074152" y="5038344"/>
            <a:ext cx="3657600" cy="2286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83879" y="5056632"/>
            <a:ext cx="3474720" cy="201168"/>
          </a:xfrm>
          <a:prstGeom prst="rect">
            <a:avLst/>
          </a:prstGeom>
          <a:noFill/>
        </p:spPr>
        <p:txBody>
          <a:bodyPr wrap="square">
            <a:spAutoFit/>
          </a:bodyPr>
          <a:lstStyle/>
          <a:p>
            <a:pPr algn="l"/>
            <a:r>
              <a:rPr sz="850" b="1" i="0">
                <a:solidFill>
                  <a:srgbClr val="FFFFFF"/>
                </a:solidFill>
              </a:rPr>
              <a:t>Timeline: Permanent / ongoing</a:t>
            </a:r>
          </a:p>
        </p:txBody>
      </p:sp>
      <p:sp>
        <p:nvSpPr>
          <p:cNvPr id="39" name="Rectangle 38"/>
          <p:cNvSpPr/>
          <p:nvPr/>
        </p:nvSpPr>
        <p:spPr>
          <a:xfrm>
            <a:off x="320040" y="5349240"/>
            <a:ext cx="11521440" cy="1261872"/>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5404104"/>
            <a:ext cx="4572000" cy="256032"/>
          </a:xfrm>
          <a:prstGeom prst="rect">
            <a:avLst/>
          </a:prstGeom>
          <a:noFill/>
        </p:spPr>
        <p:txBody>
          <a:bodyPr wrap="square">
            <a:spAutoFit/>
          </a:bodyPr>
          <a:lstStyle/>
          <a:p>
            <a:pPr algn="l"/>
            <a:r>
              <a:rPr sz="1200" b="1" i="0">
                <a:solidFill>
                  <a:srgbClr val="00478A"/>
                </a:solidFill>
              </a:rPr>
              <a:t>Bottom Line on Remaining Headwind:</a:t>
            </a:r>
          </a:p>
        </p:txBody>
      </p:sp>
      <p:sp>
        <p:nvSpPr>
          <p:cNvPr id="41" name="TextBox 40"/>
          <p:cNvSpPr txBox="1"/>
          <p:nvPr/>
        </p:nvSpPr>
        <p:spPr>
          <a:xfrm>
            <a:off x="502920" y="5705856"/>
            <a:ext cx="11064240" cy="868680"/>
          </a:xfrm>
          <a:prstGeom prst="rect">
            <a:avLst/>
          </a:prstGeom>
          <a:noFill/>
        </p:spPr>
        <p:txBody>
          <a:bodyPr wrap="square">
            <a:spAutoFit/>
          </a:bodyPr>
          <a:lstStyle/>
          <a:p>
            <a:pPr algn="l"/>
            <a:r>
              <a:rPr sz="1100" b="0" i="0">
                <a:solidFill>
                  <a:srgbClr val="2D2D2D"/>
                </a:solidFill>
              </a:rPr>
              <a:t>The acute shock (Bucket 1) is mostly done. The YoY comparisons get easier mechanically through H2 2026 (Bucket 2). What's permanent is the lower price level itself and some share loss to domestic rivals (Bucket 3). Management is correctly guiding 'stable' rather than 'recovery.' A true growth story in China Core Lab would require Abbott to win back volume on newly priced reagents — which is possible but not assumed in guidance.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How to Monitor the Remaining Headwind</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What to watch to assess whether the VBP recovery is on track — or if new risks emerge</a:t>
            </a:r>
          </a:p>
        </p:txBody>
      </p:sp>
      <p:sp>
        <p:nvSpPr>
          <p:cNvPr id="5" name="Rectangle 4"/>
          <p:cNvSpPr/>
          <p:nvPr/>
        </p:nvSpPr>
        <p:spPr>
          <a:xfrm>
            <a:off x="0" y="1005840"/>
            <a:ext cx="12188952" cy="3657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China VBP Analysis</a:t>
            </a:r>
          </a:p>
        </p:txBody>
      </p:sp>
      <p:sp>
        <p:nvSpPr>
          <p:cNvPr id="8" name="TextBox 7"/>
          <p:cNvSpPr txBox="1"/>
          <p:nvPr/>
        </p:nvSpPr>
        <p:spPr>
          <a:xfrm>
            <a:off x="365760" y="1143000"/>
            <a:ext cx="5669280" cy="274320"/>
          </a:xfrm>
          <a:prstGeom prst="rect">
            <a:avLst/>
          </a:prstGeom>
          <a:noFill/>
        </p:spPr>
        <p:txBody>
          <a:bodyPr wrap="square">
            <a:spAutoFit/>
          </a:bodyPr>
          <a:lstStyle/>
          <a:p>
            <a:pPr algn="l"/>
            <a:r>
              <a:rPr sz="1300" b="1" i="0">
                <a:solidFill>
                  <a:srgbClr val="00478A"/>
                </a:solidFill>
              </a:rPr>
              <a:t>Key Signals to Track</a:t>
            </a:r>
          </a:p>
        </p:txBody>
      </p:sp>
      <p:sp>
        <p:nvSpPr>
          <p:cNvPr id="9" name="Rectangle 8"/>
          <p:cNvSpPr/>
          <p:nvPr/>
        </p:nvSpPr>
        <p:spPr>
          <a:xfrm>
            <a:off x="320040" y="1481328"/>
            <a:ext cx="2286000" cy="65836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36192"/>
            <a:ext cx="2103120" cy="566928"/>
          </a:xfrm>
          <a:prstGeom prst="rect">
            <a:avLst/>
          </a:prstGeom>
          <a:noFill/>
        </p:spPr>
        <p:txBody>
          <a:bodyPr wrap="square">
            <a:spAutoFit/>
          </a:bodyPr>
          <a:lstStyle/>
          <a:p>
            <a:pPr algn="l"/>
            <a:r>
              <a:rPr sz="900" b="1" i="0">
                <a:solidFill>
                  <a:srgbClr val="00478A"/>
                </a:solidFill>
              </a:rPr>
              <a:t>China Core Lab YoY growth</a:t>
            </a:r>
          </a:p>
        </p:txBody>
      </p:sp>
      <p:sp>
        <p:nvSpPr>
          <p:cNvPr id="11" name="Rectangle 10"/>
          <p:cNvSpPr/>
          <p:nvPr/>
        </p:nvSpPr>
        <p:spPr>
          <a:xfrm>
            <a:off x="2606040" y="1481328"/>
            <a:ext cx="3200400" cy="65836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24912" y="1536192"/>
            <a:ext cx="3017520" cy="566928"/>
          </a:xfrm>
          <a:prstGeom prst="rect">
            <a:avLst/>
          </a:prstGeom>
          <a:noFill/>
        </p:spPr>
        <p:txBody>
          <a:bodyPr wrap="square">
            <a:spAutoFit/>
          </a:bodyPr>
          <a:lstStyle/>
          <a:p>
            <a:pPr algn="l"/>
            <a:r>
              <a:rPr sz="850" b="0" i="0">
                <a:solidFill>
                  <a:srgbClr val="2D2D2D"/>
                </a:solidFill>
              </a:rPr>
              <a:t>Is the base effect working through? Q1 2026 = flat. Watch Q2–Q4 2026 for first positive prints.</a:t>
            </a:r>
          </a:p>
        </p:txBody>
      </p:sp>
      <p:sp>
        <p:nvSpPr>
          <p:cNvPr id="13" name="Rectangle 12"/>
          <p:cNvSpPr/>
          <p:nvPr/>
        </p:nvSpPr>
        <p:spPr>
          <a:xfrm>
            <a:off x="5806440" y="1481328"/>
            <a:ext cx="109728" cy="658368"/>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1536192"/>
            <a:ext cx="3017520" cy="566928"/>
          </a:xfrm>
          <a:prstGeom prst="rect">
            <a:avLst/>
          </a:prstGeom>
          <a:noFill/>
        </p:spPr>
        <p:txBody>
          <a:bodyPr wrap="square">
            <a:spAutoFit/>
          </a:bodyPr>
          <a:lstStyle/>
          <a:p>
            <a:pPr algn="l"/>
            <a:r>
              <a:rPr sz="850" b="0" i="1">
                <a:solidFill>
                  <a:srgbClr val="5A5A5A"/>
                </a:solidFill>
              </a:rPr>
              <a:t>Q1 2026: FLAT ✅ — first non-negative quarter</a:t>
            </a:r>
          </a:p>
        </p:txBody>
      </p:sp>
      <p:sp>
        <p:nvSpPr>
          <p:cNvPr id="15" name="Rectangle 14"/>
          <p:cNvSpPr/>
          <p:nvPr/>
        </p:nvSpPr>
        <p:spPr>
          <a:xfrm>
            <a:off x="320040" y="2185416"/>
            <a:ext cx="2286000" cy="65836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240280"/>
            <a:ext cx="2103120" cy="566928"/>
          </a:xfrm>
          <a:prstGeom prst="rect">
            <a:avLst/>
          </a:prstGeom>
          <a:noFill/>
        </p:spPr>
        <p:txBody>
          <a:bodyPr wrap="square">
            <a:spAutoFit/>
          </a:bodyPr>
          <a:lstStyle/>
          <a:p>
            <a:pPr algn="l"/>
            <a:r>
              <a:rPr sz="900" b="1" i="0">
                <a:solidFill>
                  <a:srgbClr val="00478A"/>
                </a:solidFill>
              </a:rPr>
              <a:t>New VBP round announcements
(Chinese NHSA / provincial)</a:t>
            </a:r>
          </a:p>
        </p:txBody>
      </p:sp>
      <p:sp>
        <p:nvSpPr>
          <p:cNvPr id="17" name="Rectangle 16"/>
          <p:cNvSpPr/>
          <p:nvPr/>
        </p:nvSpPr>
        <p:spPr>
          <a:xfrm>
            <a:off x="2606040" y="2185416"/>
            <a:ext cx="3200400" cy="65836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24912" y="2240280"/>
            <a:ext cx="3017520" cy="566928"/>
          </a:xfrm>
          <a:prstGeom prst="rect">
            <a:avLst/>
          </a:prstGeom>
          <a:noFill/>
        </p:spPr>
        <p:txBody>
          <a:bodyPr wrap="square">
            <a:spAutoFit/>
          </a:bodyPr>
          <a:lstStyle/>
          <a:p>
            <a:pPr algn="l"/>
            <a:r>
              <a:rPr sz="850" b="0" i="0">
                <a:solidFill>
                  <a:srgbClr val="2D2D2D"/>
                </a:solidFill>
              </a:rPr>
              <a:t>New categories entering procurement = new headwinds. Coagulation at scale, hematology, POCT are the next logical targets.</a:t>
            </a:r>
          </a:p>
        </p:txBody>
      </p:sp>
      <p:sp>
        <p:nvSpPr>
          <p:cNvPr id="19" name="Rectangle 18"/>
          <p:cNvSpPr/>
          <p:nvPr/>
        </p:nvSpPr>
        <p:spPr>
          <a:xfrm>
            <a:off x="5806440" y="2185416"/>
            <a:ext cx="109728" cy="658368"/>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0" y="2240280"/>
            <a:ext cx="3017520" cy="566928"/>
          </a:xfrm>
          <a:prstGeom prst="rect">
            <a:avLst/>
          </a:prstGeom>
          <a:noFill/>
        </p:spPr>
        <p:txBody>
          <a:bodyPr wrap="square">
            <a:spAutoFit/>
          </a:bodyPr>
          <a:lstStyle/>
          <a:p>
            <a:pPr algn="l"/>
            <a:r>
              <a:rPr sz="850" b="0" i="1">
                <a:solidFill>
                  <a:srgbClr val="5A5A5A"/>
                </a:solidFill>
              </a:rPr>
              <a:t>Coagulation, POCT, hematology not yet at alliance scale</a:t>
            </a:r>
          </a:p>
        </p:txBody>
      </p:sp>
      <p:sp>
        <p:nvSpPr>
          <p:cNvPr id="21" name="Rectangle 20"/>
          <p:cNvSpPr/>
          <p:nvPr/>
        </p:nvSpPr>
        <p:spPr>
          <a:xfrm>
            <a:off x="320040" y="2889504"/>
            <a:ext cx="2286000" cy="65836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944368"/>
            <a:ext cx="2103120" cy="566928"/>
          </a:xfrm>
          <a:prstGeom prst="rect">
            <a:avLst/>
          </a:prstGeom>
          <a:noFill/>
        </p:spPr>
        <p:txBody>
          <a:bodyPr wrap="square">
            <a:spAutoFit/>
          </a:bodyPr>
          <a:lstStyle/>
          <a:p>
            <a:pPr algn="l"/>
            <a:r>
              <a:rPr sz="900" b="1" i="0">
                <a:solidFill>
                  <a:srgbClr val="00478A"/>
                </a:solidFill>
              </a:rPr>
              <a:t>Domestic rival disclosures
(Mindray, Snibe)</a:t>
            </a:r>
          </a:p>
        </p:txBody>
      </p:sp>
      <p:sp>
        <p:nvSpPr>
          <p:cNvPr id="23" name="Rectangle 22"/>
          <p:cNvSpPr/>
          <p:nvPr/>
        </p:nvSpPr>
        <p:spPr>
          <a:xfrm>
            <a:off x="2606040" y="2889504"/>
            <a:ext cx="3200400" cy="65836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24912" y="2944368"/>
            <a:ext cx="3017520" cy="566928"/>
          </a:xfrm>
          <a:prstGeom prst="rect">
            <a:avLst/>
          </a:prstGeom>
          <a:noFill/>
        </p:spPr>
        <p:txBody>
          <a:bodyPr wrap="square">
            <a:spAutoFit/>
          </a:bodyPr>
          <a:lstStyle/>
          <a:p>
            <a:pPr algn="l"/>
            <a:r>
              <a:rPr sz="850" b="0" i="0">
                <a:solidFill>
                  <a:srgbClr val="2D2D2D"/>
                </a:solidFill>
              </a:rPr>
              <a:t>Mindray is targeting IVD share from ~10% → 20%+. Their China IVD revenue growth tells you how much share is flowing away from MNCs.</a:t>
            </a:r>
          </a:p>
        </p:txBody>
      </p:sp>
      <p:sp>
        <p:nvSpPr>
          <p:cNvPr id="25" name="Rectangle 24"/>
          <p:cNvSpPr/>
          <p:nvPr/>
        </p:nvSpPr>
        <p:spPr>
          <a:xfrm>
            <a:off x="5806440" y="2889504"/>
            <a:ext cx="109728" cy="658368"/>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0" y="2944368"/>
            <a:ext cx="3017520" cy="566928"/>
          </a:xfrm>
          <a:prstGeom prst="rect">
            <a:avLst/>
          </a:prstGeom>
          <a:noFill/>
        </p:spPr>
        <p:txBody>
          <a:bodyPr wrap="square">
            <a:spAutoFit/>
          </a:bodyPr>
          <a:lstStyle/>
          <a:p>
            <a:pPr algn="l"/>
            <a:r>
              <a:rPr sz="850" b="0" i="1">
                <a:solidFill>
                  <a:srgbClr val="5A5A5A"/>
                </a:solidFill>
              </a:rPr>
              <a:t>Mindray IVD growing double-digits; structural risk ongoing</a:t>
            </a:r>
          </a:p>
        </p:txBody>
      </p:sp>
      <p:sp>
        <p:nvSpPr>
          <p:cNvPr id="27" name="Rectangle 26"/>
          <p:cNvSpPr/>
          <p:nvPr/>
        </p:nvSpPr>
        <p:spPr>
          <a:xfrm>
            <a:off x="320040" y="3593592"/>
            <a:ext cx="2286000" cy="65836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648456"/>
            <a:ext cx="2103120" cy="566928"/>
          </a:xfrm>
          <a:prstGeom prst="rect">
            <a:avLst/>
          </a:prstGeom>
          <a:noFill/>
        </p:spPr>
        <p:txBody>
          <a:bodyPr wrap="square">
            <a:spAutoFit/>
          </a:bodyPr>
          <a:lstStyle/>
          <a:p>
            <a:pPr algn="l"/>
            <a:r>
              <a:rPr sz="900" b="1" i="0">
                <a:solidFill>
                  <a:srgbClr val="00478A"/>
                </a:solidFill>
              </a:rPr>
              <a:t>Roche / Siemens China
Dx commentary</a:t>
            </a:r>
          </a:p>
        </p:txBody>
      </p:sp>
      <p:sp>
        <p:nvSpPr>
          <p:cNvPr id="29" name="Rectangle 28"/>
          <p:cNvSpPr/>
          <p:nvPr/>
        </p:nvSpPr>
        <p:spPr>
          <a:xfrm>
            <a:off x="2606040" y="3593592"/>
            <a:ext cx="3200400" cy="65836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24912" y="3648456"/>
            <a:ext cx="3017520" cy="566928"/>
          </a:xfrm>
          <a:prstGeom prst="rect">
            <a:avLst/>
          </a:prstGeom>
          <a:noFill/>
        </p:spPr>
        <p:txBody>
          <a:bodyPr wrap="square">
            <a:spAutoFit/>
          </a:bodyPr>
          <a:lstStyle/>
          <a:p>
            <a:pPr algn="l"/>
            <a:r>
              <a:rPr sz="850" b="0" i="0">
                <a:solidFill>
                  <a:srgbClr val="2D2D2D"/>
                </a:solidFill>
              </a:rPr>
              <a:t>Best read-across on pace of normalization. Roche confirmed CHF headwind dropping from ~CHF 136M/qtr to ~CHF 60M/qtr by Q1 2026.</a:t>
            </a:r>
          </a:p>
        </p:txBody>
      </p:sp>
      <p:sp>
        <p:nvSpPr>
          <p:cNvPr id="31" name="Rectangle 30"/>
          <p:cNvSpPr/>
          <p:nvPr/>
        </p:nvSpPr>
        <p:spPr>
          <a:xfrm>
            <a:off x="5806440" y="3593592"/>
            <a:ext cx="109728" cy="658368"/>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0" y="3648456"/>
            <a:ext cx="3017520" cy="566928"/>
          </a:xfrm>
          <a:prstGeom prst="rect">
            <a:avLst/>
          </a:prstGeom>
          <a:noFill/>
        </p:spPr>
        <p:txBody>
          <a:bodyPr wrap="square">
            <a:spAutoFit/>
          </a:bodyPr>
          <a:lstStyle/>
          <a:p>
            <a:pPr algn="l"/>
            <a:r>
              <a:rPr sz="850" b="0" i="1">
                <a:solidFill>
                  <a:srgbClr val="5A5A5A"/>
                </a:solidFill>
              </a:rPr>
              <a:t>Roche: still 'diminished but continuing' in 2026</a:t>
            </a:r>
          </a:p>
        </p:txBody>
      </p:sp>
      <p:sp>
        <p:nvSpPr>
          <p:cNvPr id="33" name="Rectangle 32"/>
          <p:cNvSpPr/>
          <p:nvPr/>
        </p:nvSpPr>
        <p:spPr>
          <a:xfrm>
            <a:off x="320040" y="4297680"/>
            <a:ext cx="2286000" cy="65836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352544"/>
            <a:ext cx="2103120" cy="566928"/>
          </a:xfrm>
          <a:prstGeom prst="rect">
            <a:avLst/>
          </a:prstGeom>
          <a:noFill/>
        </p:spPr>
        <p:txBody>
          <a:bodyPr wrap="square">
            <a:spAutoFit/>
          </a:bodyPr>
          <a:lstStyle/>
          <a:p>
            <a:pPr algn="l"/>
            <a:r>
              <a:rPr sz="900" b="1" i="0">
                <a:solidFill>
                  <a:srgbClr val="00478A"/>
                </a:solidFill>
              </a:rPr>
              <a:t>Abbott Alinity i China
local manufacturing ramp</a:t>
            </a:r>
          </a:p>
        </p:txBody>
      </p:sp>
      <p:sp>
        <p:nvSpPr>
          <p:cNvPr id="35" name="Rectangle 34"/>
          <p:cNvSpPr/>
          <p:nvPr/>
        </p:nvSpPr>
        <p:spPr>
          <a:xfrm>
            <a:off x="2606040" y="4297680"/>
            <a:ext cx="3200400" cy="65836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24912" y="4352544"/>
            <a:ext cx="3017520" cy="566928"/>
          </a:xfrm>
          <a:prstGeom prst="rect">
            <a:avLst/>
          </a:prstGeom>
          <a:noFill/>
        </p:spPr>
        <p:txBody>
          <a:bodyPr wrap="square">
            <a:spAutoFit/>
          </a:bodyPr>
          <a:lstStyle/>
          <a:p>
            <a:pPr algn="l"/>
            <a:r>
              <a:rPr sz="850" b="0" i="0">
                <a:solidFill>
                  <a:srgbClr val="2D2D2D"/>
                </a:solidFill>
              </a:rPr>
              <a:t>Abbott launched locally made Alinity i instruments in China (Hangzhou factory) in Oct 2024. Success here could lower cost basis and improve price competitiveness in future VBP rounds.</a:t>
            </a:r>
          </a:p>
        </p:txBody>
      </p:sp>
      <p:sp>
        <p:nvSpPr>
          <p:cNvPr id="37" name="Rectangle 36"/>
          <p:cNvSpPr/>
          <p:nvPr/>
        </p:nvSpPr>
        <p:spPr>
          <a:xfrm>
            <a:off x="5806440" y="4297680"/>
            <a:ext cx="109728" cy="658368"/>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0" y="4352544"/>
            <a:ext cx="3017520" cy="566928"/>
          </a:xfrm>
          <a:prstGeom prst="rect">
            <a:avLst/>
          </a:prstGeom>
          <a:noFill/>
        </p:spPr>
        <p:txBody>
          <a:bodyPr wrap="square">
            <a:spAutoFit/>
          </a:bodyPr>
          <a:lstStyle/>
          <a:p>
            <a:pPr algn="l"/>
            <a:r>
              <a:rPr sz="850" b="0" i="1">
                <a:solidFill>
                  <a:srgbClr val="5A5A5A"/>
                </a:solidFill>
              </a:rPr>
              <a:t>Launched Oct 2024; early; medium-term strategic bet</a:t>
            </a:r>
          </a:p>
        </p:txBody>
      </p:sp>
      <p:sp>
        <p:nvSpPr>
          <p:cNvPr id="39" name="Rectangle 38"/>
          <p:cNvSpPr/>
          <p:nvPr/>
        </p:nvSpPr>
        <p:spPr>
          <a:xfrm>
            <a:off x="320040" y="5001768"/>
            <a:ext cx="2286000" cy="65836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5056632"/>
            <a:ext cx="2103120" cy="566928"/>
          </a:xfrm>
          <a:prstGeom prst="rect">
            <a:avLst/>
          </a:prstGeom>
          <a:noFill/>
        </p:spPr>
        <p:txBody>
          <a:bodyPr wrap="square">
            <a:spAutoFit/>
          </a:bodyPr>
          <a:lstStyle/>
          <a:p>
            <a:pPr algn="l"/>
            <a:r>
              <a:rPr sz="900" b="1" i="0">
                <a:solidFill>
                  <a:srgbClr val="00478A"/>
                </a:solidFill>
              </a:rPr>
              <a:t>DRG/DIP policy updates</a:t>
            </a:r>
          </a:p>
        </p:txBody>
      </p:sp>
      <p:sp>
        <p:nvSpPr>
          <p:cNvPr id="41" name="Rectangle 40"/>
          <p:cNvSpPr/>
          <p:nvPr/>
        </p:nvSpPr>
        <p:spPr>
          <a:xfrm>
            <a:off x="2606040" y="5001768"/>
            <a:ext cx="3200400" cy="65836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24912" y="5056632"/>
            <a:ext cx="3017520" cy="566928"/>
          </a:xfrm>
          <a:prstGeom prst="rect">
            <a:avLst/>
          </a:prstGeom>
          <a:noFill/>
        </p:spPr>
        <p:txBody>
          <a:bodyPr wrap="square">
            <a:spAutoFit/>
          </a:bodyPr>
          <a:lstStyle/>
          <a:p>
            <a:pPr algn="l"/>
            <a:r>
              <a:rPr sz="850" b="0" i="0">
                <a:solidFill>
                  <a:srgbClr val="2D2D2D"/>
                </a:solidFill>
              </a:rPr>
              <a:t>If China relaxes hospital payment caps (DRG/DIP), that would boost test volumes without any new VBP needed.</a:t>
            </a:r>
          </a:p>
        </p:txBody>
      </p:sp>
      <p:sp>
        <p:nvSpPr>
          <p:cNvPr id="43" name="Rectangle 42"/>
          <p:cNvSpPr/>
          <p:nvPr/>
        </p:nvSpPr>
        <p:spPr>
          <a:xfrm>
            <a:off x="5806440" y="5001768"/>
            <a:ext cx="109728" cy="658368"/>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43600" y="5056632"/>
            <a:ext cx="3017520" cy="566928"/>
          </a:xfrm>
          <a:prstGeom prst="rect">
            <a:avLst/>
          </a:prstGeom>
          <a:noFill/>
        </p:spPr>
        <p:txBody>
          <a:bodyPr wrap="square">
            <a:spAutoFit/>
          </a:bodyPr>
          <a:lstStyle/>
          <a:p>
            <a:pPr algn="l"/>
            <a:r>
              <a:rPr sz="850" b="0" i="1">
                <a:solidFill>
                  <a:srgbClr val="5A5A5A"/>
                </a:solidFill>
              </a:rPr>
              <a:t>No relaxation signaled as of mid-2026</a:t>
            </a:r>
          </a:p>
        </p:txBody>
      </p:sp>
      <p:sp>
        <p:nvSpPr>
          <p:cNvPr id="45" name="TextBox 44"/>
          <p:cNvSpPr txBox="1"/>
          <p:nvPr/>
        </p:nvSpPr>
        <p:spPr>
          <a:xfrm>
            <a:off x="9098280" y="1143000"/>
            <a:ext cx="2926080" cy="274320"/>
          </a:xfrm>
          <a:prstGeom prst="rect">
            <a:avLst/>
          </a:prstGeom>
          <a:noFill/>
        </p:spPr>
        <p:txBody>
          <a:bodyPr wrap="square">
            <a:spAutoFit/>
          </a:bodyPr>
          <a:lstStyle/>
          <a:p>
            <a:pPr algn="l"/>
            <a:r>
              <a:rPr sz="1100" b="1" i="0">
                <a:solidFill>
                  <a:srgbClr val="00478A"/>
                </a:solidFill>
              </a:rPr>
              <a:t>Expected Comp Pattern — China Core Lab</a:t>
            </a:r>
          </a:p>
        </p:txBody>
      </p:sp>
      <p:sp>
        <p:nvSpPr>
          <p:cNvPr id="46" name="Rectangle 45"/>
          <p:cNvSpPr/>
          <p:nvPr/>
        </p:nvSpPr>
        <p:spPr>
          <a:xfrm>
            <a:off x="9052560" y="1481328"/>
            <a:ext cx="1097280" cy="493776"/>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16568" y="1591056"/>
            <a:ext cx="1005840" cy="274320"/>
          </a:xfrm>
          <a:prstGeom prst="rect">
            <a:avLst/>
          </a:prstGeom>
          <a:noFill/>
        </p:spPr>
        <p:txBody>
          <a:bodyPr wrap="square">
            <a:spAutoFit/>
          </a:bodyPr>
          <a:lstStyle/>
          <a:p>
            <a:pPr algn="l"/>
            <a:r>
              <a:rPr sz="900" b="1" i="0">
                <a:solidFill>
                  <a:srgbClr val="2D2D2D"/>
                </a:solidFill>
              </a:rPr>
              <a:t>Q1 2025</a:t>
            </a:r>
          </a:p>
        </p:txBody>
      </p:sp>
      <p:sp>
        <p:nvSpPr>
          <p:cNvPr id="48" name="Rectangle 47"/>
          <p:cNvSpPr/>
          <p:nvPr/>
        </p:nvSpPr>
        <p:spPr>
          <a:xfrm>
            <a:off x="10149840" y="1481328"/>
            <a:ext cx="1463040" cy="493776"/>
          </a:xfrm>
          <a:prstGeom prst="rect">
            <a:avLst/>
          </a:prstGeom>
          <a:solidFill>
            <a:srgbClr val="FFEDD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3848" y="1591056"/>
            <a:ext cx="1371600" cy="274320"/>
          </a:xfrm>
          <a:prstGeom prst="rect">
            <a:avLst/>
          </a:prstGeom>
          <a:noFill/>
        </p:spPr>
        <p:txBody>
          <a:bodyPr wrap="square">
            <a:spAutoFit/>
          </a:bodyPr>
          <a:lstStyle/>
          <a:p>
            <a:pPr algn="ctr"/>
            <a:r>
              <a:rPr sz="900" b="1" i="0">
                <a:solidFill>
                  <a:srgbClr val="C0392B"/>
                </a:solidFill>
              </a:rPr>
              <a:t>–20% to –25%</a:t>
            </a:r>
          </a:p>
        </p:txBody>
      </p:sp>
      <p:sp>
        <p:nvSpPr>
          <p:cNvPr id="50" name="Rectangle 49"/>
          <p:cNvSpPr/>
          <p:nvPr/>
        </p:nvSpPr>
        <p:spPr>
          <a:xfrm>
            <a:off x="11612880" y="1481328"/>
            <a:ext cx="274320" cy="49377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052560" y="2002536"/>
            <a:ext cx="1097280" cy="493776"/>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16568" y="2112264"/>
            <a:ext cx="1005840" cy="274320"/>
          </a:xfrm>
          <a:prstGeom prst="rect">
            <a:avLst/>
          </a:prstGeom>
          <a:noFill/>
        </p:spPr>
        <p:txBody>
          <a:bodyPr wrap="square">
            <a:spAutoFit/>
          </a:bodyPr>
          <a:lstStyle/>
          <a:p>
            <a:pPr algn="l"/>
            <a:r>
              <a:rPr sz="900" b="1" i="0">
                <a:solidFill>
                  <a:srgbClr val="2D2D2D"/>
                </a:solidFill>
              </a:rPr>
              <a:t>Q2 2025</a:t>
            </a:r>
          </a:p>
        </p:txBody>
      </p:sp>
      <p:sp>
        <p:nvSpPr>
          <p:cNvPr id="53" name="Rectangle 52"/>
          <p:cNvSpPr/>
          <p:nvPr/>
        </p:nvSpPr>
        <p:spPr>
          <a:xfrm>
            <a:off x="10149840" y="2002536"/>
            <a:ext cx="1463040" cy="493776"/>
          </a:xfrm>
          <a:prstGeom prst="rect">
            <a:avLst/>
          </a:prstGeom>
          <a:solidFill>
            <a:srgbClr val="FFEDD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213848" y="2112264"/>
            <a:ext cx="1371600" cy="274320"/>
          </a:xfrm>
          <a:prstGeom prst="rect">
            <a:avLst/>
          </a:prstGeom>
          <a:noFill/>
        </p:spPr>
        <p:txBody>
          <a:bodyPr wrap="square">
            <a:spAutoFit/>
          </a:bodyPr>
          <a:lstStyle/>
          <a:p>
            <a:pPr algn="ctr"/>
            <a:r>
              <a:rPr sz="900" b="1" i="0">
                <a:solidFill>
                  <a:srgbClr val="C0392B"/>
                </a:solidFill>
              </a:rPr>
              <a:t>–15% to –20%</a:t>
            </a:r>
          </a:p>
        </p:txBody>
      </p:sp>
      <p:sp>
        <p:nvSpPr>
          <p:cNvPr id="55" name="Rectangle 54"/>
          <p:cNvSpPr/>
          <p:nvPr/>
        </p:nvSpPr>
        <p:spPr>
          <a:xfrm>
            <a:off x="11612880" y="2002536"/>
            <a:ext cx="274320" cy="49377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052560" y="2523744"/>
            <a:ext cx="1097280" cy="493776"/>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16568" y="2633472"/>
            <a:ext cx="1005840" cy="274320"/>
          </a:xfrm>
          <a:prstGeom prst="rect">
            <a:avLst/>
          </a:prstGeom>
          <a:noFill/>
        </p:spPr>
        <p:txBody>
          <a:bodyPr wrap="square">
            <a:spAutoFit/>
          </a:bodyPr>
          <a:lstStyle/>
          <a:p>
            <a:pPr algn="l"/>
            <a:r>
              <a:rPr sz="900" b="1" i="0">
                <a:solidFill>
                  <a:srgbClr val="2D2D2D"/>
                </a:solidFill>
              </a:rPr>
              <a:t>Q3 2025</a:t>
            </a:r>
          </a:p>
        </p:txBody>
      </p:sp>
      <p:sp>
        <p:nvSpPr>
          <p:cNvPr id="58" name="Rectangle 57"/>
          <p:cNvSpPr/>
          <p:nvPr/>
        </p:nvSpPr>
        <p:spPr>
          <a:xfrm>
            <a:off x="10149840" y="2523744"/>
            <a:ext cx="1463040" cy="493776"/>
          </a:xfrm>
          <a:prstGeom prst="rect">
            <a:avLst/>
          </a:prstGeom>
          <a:solidFill>
            <a:srgbClr val="FFEDD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13848" y="2633472"/>
            <a:ext cx="1371600" cy="274320"/>
          </a:xfrm>
          <a:prstGeom prst="rect">
            <a:avLst/>
          </a:prstGeom>
          <a:noFill/>
        </p:spPr>
        <p:txBody>
          <a:bodyPr wrap="square">
            <a:spAutoFit/>
          </a:bodyPr>
          <a:lstStyle/>
          <a:p>
            <a:pPr algn="ctr"/>
            <a:r>
              <a:rPr sz="900" b="1" i="0">
                <a:solidFill>
                  <a:srgbClr val="C0392B"/>
                </a:solidFill>
              </a:rPr>
              <a:t>–15% to –20%</a:t>
            </a:r>
          </a:p>
        </p:txBody>
      </p:sp>
      <p:sp>
        <p:nvSpPr>
          <p:cNvPr id="60" name="Rectangle 59"/>
          <p:cNvSpPr/>
          <p:nvPr/>
        </p:nvSpPr>
        <p:spPr>
          <a:xfrm>
            <a:off x="11612880" y="2523744"/>
            <a:ext cx="274320" cy="49377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052560" y="3044952"/>
            <a:ext cx="1097280" cy="493776"/>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16568" y="3154680"/>
            <a:ext cx="1005840" cy="274320"/>
          </a:xfrm>
          <a:prstGeom prst="rect">
            <a:avLst/>
          </a:prstGeom>
          <a:noFill/>
        </p:spPr>
        <p:txBody>
          <a:bodyPr wrap="square">
            <a:spAutoFit/>
          </a:bodyPr>
          <a:lstStyle/>
          <a:p>
            <a:pPr algn="l"/>
            <a:r>
              <a:rPr sz="900" b="1" i="0">
                <a:solidFill>
                  <a:srgbClr val="2D2D2D"/>
                </a:solidFill>
              </a:rPr>
              <a:t>Q4 2025</a:t>
            </a:r>
          </a:p>
        </p:txBody>
      </p:sp>
      <p:sp>
        <p:nvSpPr>
          <p:cNvPr id="63" name="Rectangle 62"/>
          <p:cNvSpPr/>
          <p:nvPr/>
        </p:nvSpPr>
        <p:spPr>
          <a:xfrm>
            <a:off x="10149840" y="3044952"/>
            <a:ext cx="1463040" cy="493776"/>
          </a:xfrm>
          <a:prstGeom prst="rect">
            <a:avLst/>
          </a:prstGeom>
          <a:solidFill>
            <a:srgbClr val="FFFFD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213848" y="3154680"/>
            <a:ext cx="1371600" cy="274320"/>
          </a:xfrm>
          <a:prstGeom prst="rect">
            <a:avLst/>
          </a:prstGeom>
          <a:noFill/>
        </p:spPr>
        <p:txBody>
          <a:bodyPr wrap="square">
            <a:spAutoFit/>
          </a:bodyPr>
          <a:lstStyle/>
          <a:p>
            <a:pPr algn="ctr"/>
            <a:r>
              <a:rPr sz="900" b="1" i="0">
                <a:solidFill>
                  <a:srgbClr val="E87D1E"/>
                </a:solidFill>
              </a:rPr>
              <a:t>–10% to –15%</a:t>
            </a:r>
          </a:p>
        </p:txBody>
      </p:sp>
      <p:sp>
        <p:nvSpPr>
          <p:cNvPr id="65" name="Rectangle 64"/>
          <p:cNvSpPr/>
          <p:nvPr/>
        </p:nvSpPr>
        <p:spPr>
          <a:xfrm>
            <a:off x="11612880" y="3044952"/>
            <a:ext cx="274320" cy="493776"/>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052560" y="3566160"/>
            <a:ext cx="1097280" cy="493776"/>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16568" y="3675887"/>
            <a:ext cx="1005840" cy="274320"/>
          </a:xfrm>
          <a:prstGeom prst="rect">
            <a:avLst/>
          </a:prstGeom>
          <a:noFill/>
        </p:spPr>
        <p:txBody>
          <a:bodyPr wrap="square">
            <a:spAutoFit/>
          </a:bodyPr>
          <a:lstStyle/>
          <a:p>
            <a:pPr algn="l"/>
            <a:r>
              <a:rPr sz="900" b="1" i="0">
                <a:solidFill>
                  <a:srgbClr val="2D2D2D"/>
                </a:solidFill>
              </a:rPr>
              <a:t>Q1 2026</a:t>
            </a:r>
          </a:p>
        </p:txBody>
      </p:sp>
      <p:sp>
        <p:nvSpPr>
          <p:cNvPr id="68" name="Rectangle 67"/>
          <p:cNvSpPr/>
          <p:nvPr/>
        </p:nvSpPr>
        <p:spPr>
          <a:xfrm>
            <a:off x="10149840" y="3566160"/>
            <a:ext cx="1463040" cy="493776"/>
          </a:xfrm>
          <a:prstGeom prst="rect">
            <a:avLst/>
          </a:prstGeom>
          <a:solidFill>
            <a:srgbClr val="B4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213848" y="3675887"/>
            <a:ext cx="1371600" cy="274320"/>
          </a:xfrm>
          <a:prstGeom prst="rect">
            <a:avLst/>
          </a:prstGeom>
          <a:noFill/>
        </p:spPr>
        <p:txBody>
          <a:bodyPr wrap="square">
            <a:spAutoFit/>
          </a:bodyPr>
          <a:lstStyle/>
          <a:p>
            <a:pPr algn="ctr"/>
            <a:r>
              <a:rPr sz="900" b="1" i="0">
                <a:solidFill>
                  <a:srgbClr val="008A4B"/>
                </a:solidFill>
              </a:rPr>
              <a:t>~Flat ✅</a:t>
            </a:r>
          </a:p>
        </p:txBody>
      </p:sp>
      <p:sp>
        <p:nvSpPr>
          <p:cNvPr id="70" name="Rectangle 69"/>
          <p:cNvSpPr/>
          <p:nvPr/>
        </p:nvSpPr>
        <p:spPr>
          <a:xfrm>
            <a:off x="11612880" y="3566160"/>
            <a:ext cx="274320" cy="493776"/>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052560" y="4087368"/>
            <a:ext cx="1097280" cy="493776"/>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16568" y="4197096"/>
            <a:ext cx="1005840" cy="274320"/>
          </a:xfrm>
          <a:prstGeom prst="rect">
            <a:avLst/>
          </a:prstGeom>
          <a:noFill/>
        </p:spPr>
        <p:txBody>
          <a:bodyPr wrap="square">
            <a:spAutoFit/>
          </a:bodyPr>
          <a:lstStyle/>
          <a:p>
            <a:pPr algn="l"/>
            <a:r>
              <a:rPr sz="900" b="1" i="0">
                <a:solidFill>
                  <a:srgbClr val="2D2D2D"/>
                </a:solidFill>
              </a:rPr>
              <a:t>Q2 2026</a:t>
            </a:r>
          </a:p>
        </p:txBody>
      </p:sp>
      <p:sp>
        <p:nvSpPr>
          <p:cNvPr id="73" name="Rectangle 72"/>
          <p:cNvSpPr/>
          <p:nvPr/>
        </p:nvSpPr>
        <p:spPr>
          <a:xfrm>
            <a:off x="10149840" y="4087368"/>
            <a:ext cx="1463040" cy="493776"/>
          </a:xfrm>
          <a:prstGeom prst="rect">
            <a:avLst/>
          </a:prstGeom>
          <a:solidFill>
            <a:srgbClr val="B4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213848" y="4197096"/>
            <a:ext cx="1371600" cy="274320"/>
          </a:xfrm>
          <a:prstGeom prst="rect">
            <a:avLst/>
          </a:prstGeom>
          <a:noFill/>
        </p:spPr>
        <p:txBody>
          <a:bodyPr wrap="square">
            <a:spAutoFit/>
          </a:bodyPr>
          <a:lstStyle/>
          <a:p>
            <a:pPr algn="ctr"/>
            <a:r>
              <a:rPr sz="900" b="1" i="0">
                <a:solidFill>
                  <a:srgbClr val="008A4B"/>
                </a:solidFill>
              </a:rPr>
              <a:t>+1% to +3%E</a:t>
            </a:r>
          </a:p>
        </p:txBody>
      </p:sp>
      <p:sp>
        <p:nvSpPr>
          <p:cNvPr id="75" name="Rectangle 74"/>
          <p:cNvSpPr/>
          <p:nvPr/>
        </p:nvSpPr>
        <p:spPr>
          <a:xfrm>
            <a:off x="11612880" y="4087368"/>
            <a:ext cx="274320" cy="493776"/>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052560" y="4608576"/>
            <a:ext cx="1097280" cy="493776"/>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116568" y="4718304"/>
            <a:ext cx="1005840" cy="274320"/>
          </a:xfrm>
          <a:prstGeom prst="rect">
            <a:avLst/>
          </a:prstGeom>
          <a:noFill/>
        </p:spPr>
        <p:txBody>
          <a:bodyPr wrap="square">
            <a:spAutoFit/>
          </a:bodyPr>
          <a:lstStyle/>
          <a:p>
            <a:pPr algn="l"/>
            <a:r>
              <a:rPr sz="900" b="1" i="0">
                <a:solidFill>
                  <a:srgbClr val="2D2D2D"/>
                </a:solidFill>
              </a:rPr>
              <a:t>Q3 2026</a:t>
            </a:r>
          </a:p>
        </p:txBody>
      </p:sp>
      <p:sp>
        <p:nvSpPr>
          <p:cNvPr id="78" name="Rectangle 77"/>
          <p:cNvSpPr/>
          <p:nvPr/>
        </p:nvSpPr>
        <p:spPr>
          <a:xfrm>
            <a:off x="10149840" y="4608576"/>
            <a:ext cx="1463040" cy="493776"/>
          </a:xfrm>
          <a:prstGeom prst="rect">
            <a:avLst/>
          </a:prstGeom>
          <a:solidFill>
            <a:srgbClr val="B4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213848" y="4718304"/>
            <a:ext cx="1371600" cy="274320"/>
          </a:xfrm>
          <a:prstGeom prst="rect">
            <a:avLst/>
          </a:prstGeom>
          <a:noFill/>
        </p:spPr>
        <p:txBody>
          <a:bodyPr wrap="square">
            <a:spAutoFit/>
          </a:bodyPr>
          <a:lstStyle/>
          <a:p>
            <a:pPr algn="ctr"/>
            <a:r>
              <a:rPr sz="900" b="1" i="0">
                <a:solidFill>
                  <a:srgbClr val="008A4B"/>
                </a:solidFill>
              </a:rPr>
              <a:t>+3% to +5%E</a:t>
            </a:r>
          </a:p>
        </p:txBody>
      </p:sp>
      <p:sp>
        <p:nvSpPr>
          <p:cNvPr id="80" name="Rectangle 79"/>
          <p:cNvSpPr/>
          <p:nvPr/>
        </p:nvSpPr>
        <p:spPr>
          <a:xfrm>
            <a:off x="11612880" y="4608576"/>
            <a:ext cx="274320" cy="493776"/>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052560" y="5129783"/>
            <a:ext cx="1097280" cy="493776"/>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116568" y="5239512"/>
            <a:ext cx="1005840" cy="274320"/>
          </a:xfrm>
          <a:prstGeom prst="rect">
            <a:avLst/>
          </a:prstGeom>
          <a:noFill/>
        </p:spPr>
        <p:txBody>
          <a:bodyPr wrap="square">
            <a:spAutoFit/>
          </a:bodyPr>
          <a:lstStyle/>
          <a:p>
            <a:pPr algn="l"/>
            <a:r>
              <a:rPr sz="900" b="1" i="0">
                <a:solidFill>
                  <a:srgbClr val="2D2D2D"/>
                </a:solidFill>
              </a:rPr>
              <a:t>Q4 2026</a:t>
            </a:r>
          </a:p>
        </p:txBody>
      </p:sp>
      <p:sp>
        <p:nvSpPr>
          <p:cNvPr id="83" name="Rectangle 82"/>
          <p:cNvSpPr/>
          <p:nvPr/>
        </p:nvSpPr>
        <p:spPr>
          <a:xfrm>
            <a:off x="10149840" y="5129783"/>
            <a:ext cx="1463040" cy="493776"/>
          </a:xfrm>
          <a:prstGeom prst="rect">
            <a:avLst/>
          </a:prstGeom>
          <a:solidFill>
            <a:srgbClr val="B4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213848" y="5239512"/>
            <a:ext cx="1371600" cy="274320"/>
          </a:xfrm>
          <a:prstGeom prst="rect">
            <a:avLst/>
          </a:prstGeom>
          <a:noFill/>
        </p:spPr>
        <p:txBody>
          <a:bodyPr wrap="square">
            <a:spAutoFit/>
          </a:bodyPr>
          <a:lstStyle/>
          <a:p>
            <a:pPr algn="ctr"/>
            <a:r>
              <a:rPr sz="900" b="1" i="0">
                <a:solidFill>
                  <a:srgbClr val="008A4B"/>
                </a:solidFill>
              </a:rPr>
              <a:t>+3% to +5%E</a:t>
            </a:r>
          </a:p>
        </p:txBody>
      </p:sp>
      <p:sp>
        <p:nvSpPr>
          <p:cNvPr id="85" name="Rectangle 84"/>
          <p:cNvSpPr/>
          <p:nvPr/>
        </p:nvSpPr>
        <p:spPr>
          <a:xfrm>
            <a:off x="11612880" y="5129783"/>
            <a:ext cx="274320" cy="493776"/>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052560" y="6492240"/>
            <a:ext cx="3017520" cy="182880"/>
          </a:xfrm>
          <a:prstGeom prst="rect">
            <a:avLst/>
          </a:prstGeom>
          <a:noFill/>
        </p:spPr>
        <p:txBody>
          <a:bodyPr wrap="square">
            <a:spAutoFit/>
          </a:bodyPr>
          <a:lstStyle/>
          <a:p>
            <a:pPr algn="l"/>
            <a:r>
              <a:rPr sz="750" b="0" i="1">
                <a:solidFill>
                  <a:srgbClr val="5A5A5A"/>
                </a:solidFill>
              </a:rPr>
              <a:t>E = estimated; actual depends on new VBP rounds &amp; respiratory season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760720"/>
            <a:ext cx="12188952"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82880"/>
            <a:ext cx="11430000" cy="685800"/>
          </a:xfrm>
          <a:prstGeom prst="rect">
            <a:avLst/>
          </a:prstGeom>
          <a:noFill/>
        </p:spPr>
        <p:txBody>
          <a:bodyPr wrap="square">
            <a:spAutoFit/>
          </a:bodyPr>
          <a:lstStyle/>
          <a:p>
            <a:pPr algn="l"/>
            <a:r>
              <a:rPr sz="3600" b="1" i="0">
                <a:solidFill>
                  <a:srgbClr val="FFFFFF"/>
                </a:solidFill>
              </a:rPr>
              <a:t>Bottom Line</a:t>
            </a:r>
          </a:p>
        </p:txBody>
      </p:sp>
      <p:sp>
        <p:nvSpPr>
          <p:cNvPr id="6" name="Rectangle 5"/>
          <p:cNvSpPr/>
          <p:nvPr/>
        </p:nvSpPr>
        <p:spPr>
          <a:xfrm>
            <a:off x="274320" y="1143000"/>
            <a:ext cx="502920" cy="804672"/>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325880"/>
            <a:ext cx="502920" cy="457200"/>
          </a:xfrm>
          <a:prstGeom prst="rect">
            <a:avLst/>
          </a:prstGeom>
          <a:noFill/>
        </p:spPr>
        <p:txBody>
          <a:bodyPr wrap="square">
            <a:spAutoFit/>
          </a:bodyPr>
          <a:lstStyle/>
          <a:p>
            <a:pPr algn="ctr"/>
            <a:r>
              <a:rPr sz="2200" b="1" i="0">
                <a:solidFill>
                  <a:srgbClr val="FFFFFF"/>
                </a:solidFill>
              </a:rPr>
              <a:t>1</a:t>
            </a:r>
          </a:p>
        </p:txBody>
      </p:sp>
      <p:sp>
        <p:nvSpPr>
          <p:cNvPr id="8" name="Rectangle 7"/>
          <p:cNvSpPr/>
          <p:nvPr/>
        </p:nvSpPr>
        <p:spPr>
          <a:xfrm>
            <a:off x="777240" y="1143000"/>
            <a:ext cx="11109960" cy="804672"/>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179576"/>
            <a:ext cx="10698480" cy="292608"/>
          </a:xfrm>
          <a:prstGeom prst="rect">
            <a:avLst/>
          </a:prstGeom>
          <a:noFill/>
        </p:spPr>
        <p:txBody>
          <a:bodyPr wrap="square">
            <a:spAutoFit/>
          </a:bodyPr>
          <a:lstStyle/>
          <a:p>
            <a:pPr algn="l"/>
            <a:r>
              <a:rPr sz="1100" b="1" i="0">
                <a:solidFill>
                  <a:srgbClr val="008A4B"/>
                </a:solidFill>
              </a:rPr>
              <a:t>The acute shock is over.</a:t>
            </a:r>
          </a:p>
        </p:txBody>
      </p:sp>
      <p:sp>
        <p:nvSpPr>
          <p:cNvPr id="10" name="TextBox 9"/>
          <p:cNvSpPr txBox="1"/>
          <p:nvPr/>
        </p:nvSpPr>
        <p:spPr>
          <a:xfrm>
            <a:off x="932688" y="1490472"/>
            <a:ext cx="10698480" cy="438912"/>
          </a:xfrm>
          <a:prstGeom prst="rect">
            <a:avLst/>
          </a:prstGeom>
          <a:noFill/>
        </p:spPr>
        <p:txBody>
          <a:bodyPr wrap="square">
            <a:spAutoFit/>
          </a:bodyPr>
          <a:lstStyle/>
          <a:p>
            <a:pPr algn="l"/>
            <a:r>
              <a:rPr sz="950" b="0" i="0">
                <a:solidFill>
                  <a:srgbClr val="CCCCCC"/>
                </a:solidFill>
              </a:rPr>
              <a:t>~80% of China Core Lab reagents are now priced at post-VBP levels. Q1 2026 was the first quarter of flat China Core Lab revenue after 5 quarters of –15% to –30% declines. The incremental remaining rounds (fertility, cancer markers) hit where Abbott has small share — 'not significant.'</a:t>
            </a:r>
          </a:p>
        </p:txBody>
      </p:sp>
      <p:sp>
        <p:nvSpPr>
          <p:cNvPr id="11" name="Rectangle 10"/>
          <p:cNvSpPr/>
          <p:nvPr/>
        </p:nvSpPr>
        <p:spPr>
          <a:xfrm>
            <a:off x="274320" y="2039112"/>
            <a:ext cx="502920" cy="804672"/>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2221992"/>
            <a:ext cx="502920" cy="457200"/>
          </a:xfrm>
          <a:prstGeom prst="rect">
            <a:avLst/>
          </a:prstGeom>
          <a:noFill/>
        </p:spPr>
        <p:txBody>
          <a:bodyPr wrap="square">
            <a:spAutoFit/>
          </a:bodyPr>
          <a:lstStyle/>
          <a:p>
            <a:pPr algn="ctr"/>
            <a:r>
              <a:rPr sz="2200" b="1" i="0">
                <a:solidFill>
                  <a:srgbClr val="FFFFFF"/>
                </a:solidFill>
              </a:rPr>
              <a:t>2</a:t>
            </a:r>
          </a:p>
        </p:txBody>
      </p:sp>
      <p:sp>
        <p:nvSpPr>
          <p:cNvPr id="13" name="Rectangle 12"/>
          <p:cNvSpPr/>
          <p:nvPr/>
        </p:nvSpPr>
        <p:spPr>
          <a:xfrm>
            <a:off x="777240" y="2039112"/>
            <a:ext cx="11109960" cy="804672"/>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075688"/>
            <a:ext cx="10698480" cy="292608"/>
          </a:xfrm>
          <a:prstGeom prst="rect">
            <a:avLst/>
          </a:prstGeom>
          <a:noFill/>
        </p:spPr>
        <p:txBody>
          <a:bodyPr wrap="square">
            <a:spAutoFit/>
          </a:bodyPr>
          <a:lstStyle/>
          <a:p>
            <a:pPr algn="l"/>
            <a:r>
              <a:rPr sz="1100" b="1" i="0">
                <a:solidFill>
                  <a:srgbClr val="E87D1E"/>
                </a:solidFill>
              </a:rPr>
              <a:t>Prices will not recover — this is permanent.</a:t>
            </a:r>
          </a:p>
        </p:txBody>
      </p:sp>
      <p:sp>
        <p:nvSpPr>
          <p:cNvPr id="15" name="TextBox 14"/>
          <p:cNvSpPr txBox="1"/>
          <p:nvPr/>
        </p:nvSpPr>
        <p:spPr>
          <a:xfrm>
            <a:off x="932688" y="2386584"/>
            <a:ext cx="10698480" cy="438912"/>
          </a:xfrm>
          <a:prstGeom prst="rect">
            <a:avLst/>
          </a:prstGeom>
          <a:noFill/>
        </p:spPr>
        <p:txBody>
          <a:bodyPr wrap="square">
            <a:spAutoFit/>
          </a:bodyPr>
          <a:lstStyle/>
          <a:p>
            <a:pPr algn="l"/>
            <a:r>
              <a:rPr sz="950" b="0" i="0">
                <a:solidFill>
                  <a:srgbClr val="CCCCCC"/>
                </a:solidFill>
              </a:rPr>
              <a:t>VBP prices don't bounce back. The $400–500M annual headwind represents a permanent reduction in the pricing of China Core Lab reagents. Management correctly guides 'stable' not 'recovery.' True China growth would require winning volume back from domestic rivals at the new lower prices.</a:t>
            </a:r>
          </a:p>
        </p:txBody>
      </p:sp>
      <p:sp>
        <p:nvSpPr>
          <p:cNvPr id="16" name="Rectangle 15"/>
          <p:cNvSpPr/>
          <p:nvPr/>
        </p:nvSpPr>
        <p:spPr>
          <a:xfrm>
            <a:off x="274320" y="2935224"/>
            <a:ext cx="502920" cy="804672"/>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3118104"/>
            <a:ext cx="502920" cy="457200"/>
          </a:xfrm>
          <a:prstGeom prst="rect">
            <a:avLst/>
          </a:prstGeom>
          <a:noFill/>
        </p:spPr>
        <p:txBody>
          <a:bodyPr wrap="square">
            <a:spAutoFit/>
          </a:bodyPr>
          <a:lstStyle/>
          <a:p>
            <a:pPr algn="ctr"/>
            <a:r>
              <a:rPr sz="2200" b="1" i="0">
                <a:solidFill>
                  <a:srgbClr val="FFFFFF"/>
                </a:solidFill>
              </a:rPr>
              <a:t>3</a:t>
            </a:r>
          </a:p>
        </p:txBody>
      </p:sp>
      <p:sp>
        <p:nvSpPr>
          <p:cNvPr id="18" name="Rectangle 17"/>
          <p:cNvSpPr/>
          <p:nvPr/>
        </p:nvSpPr>
        <p:spPr>
          <a:xfrm>
            <a:off x="777240" y="2935224"/>
            <a:ext cx="11109960" cy="804672"/>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2971800"/>
            <a:ext cx="10698480" cy="292608"/>
          </a:xfrm>
          <a:prstGeom prst="rect">
            <a:avLst/>
          </a:prstGeom>
          <a:noFill/>
        </p:spPr>
        <p:txBody>
          <a:bodyPr wrap="square">
            <a:spAutoFit/>
          </a:bodyPr>
          <a:lstStyle/>
          <a:p>
            <a:pPr algn="l"/>
            <a:r>
              <a:rPr sz="1100" b="1" i="0">
                <a:solidFill>
                  <a:srgbClr val="E87D1E"/>
                </a:solidFill>
              </a:rPr>
              <a:t>The 2026 story is a base-effect story, not a business recovery.</a:t>
            </a:r>
          </a:p>
        </p:txBody>
      </p:sp>
      <p:sp>
        <p:nvSpPr>
          <p:cNvPr id="20" name="TextBox 19"/>
          <p:cNvSpPr txBox="1"/>
          <p:nvPr/>
        </p:nvSpPr>
        <p:spPr>
          <a:xfrm>
            <a:off x="932688" y="3282696"/>
            <a:ext cx="10698480" cy="438912"/>
          </a:xfrm>
          <a:prstGeom prst="rect">
            <a:avLst/>
          </a:prstGeom>
          <a:noFill/>
        </p:spPr>
        <p:txBody>
          <a:bodyPr wrap="square">
            <a:spAutoFit/>
          </a:bodyPr>
          <a:lstStyle/>
          <a:p>
            <a:pPr algn="l"/>
            <a:r>
              <a:rPr sz="950" b="0" i="0">
                <a:solidFill>
                  <a:srgbClr val="CCCCCC"/>
                </a:solidFill>
              </a:rPr>
              <a:t>H2 2026 will look great on a YoY basis because H2 2025 was terrible. That's mathematics, not a fundamental improvement. Clean, interpretable comps won't exist until 2027 — when all four quarters of 2026 are in the base.</a:t>
            </a:r>
          </a:p>
        </p:txBody>
      </p:sp>
      <p:sp>
        <p:nvSpPr>
          <p:cNvPr id="21" name="Rectangle 20"/>
          <p:cNvSpPr/>
          <p:nvPr/>
        </p:nvSpPr>
        <p:spPr>
          <a:xfrm>
            <a:off x="274320" y="3831335"/>
            <a:ext cx="50292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4014215"/>
            <a:ext cx="502920" cy="457200"/>
          </a:xfrm>
          <a:prstGeom prst="rect">
            <a:avLst/>
          </a:prstGeom>
          <a:noFill/>
        </p:spPr>
        <p:txBody>
          <a:bodyPr wrap="square">
            <a:spAutoFit/>
          </a:bodyPr>
          <a:lstStyle/>
          <a:p>
            <a:pPr algn="ctr"/>
            <a:r>
              <a:rPr sz="2200" b="1" i="0">
                <a:solidFill>
                  <a:srgbClr val="FFFFFF"/>
                </a:solidFill>
              </a:rPr>
              <a:t>4</a:t>
            </a:r>
          </a:p>
        </p:txBody>
      </p:sp>
      <p:sp>
        <p:nvSpPr>
          <p:cNvPr id="23" name="Rectangle 22"/>
          <p:cNvSpPr/>
          <p:nvPr/>
        </p:nvSpPr>
        <p:spPr>
          <a:xfrm>
            <a:off x="777240" y="3831335"/>
            <a:ext cx="11109960" cy="804672"/>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3867911"/>
            <a:ext cx="10698480" cy="292608"/>
          </a:xfrm>
          <a:prstGeom prst="rect">
            <a:avLst/>
          </a:prstGeom>
          <a:noFill/>
        </p:spPr>
        <p:txBody>
          <a:bodyPr wrap="square">
            <a:spAutoFit/>
          </a:bodyPr>
          <a:lstStyle/>
          <a:p>
            <a:pPr algn="l"/>
            <a:r>
              <a:rPr sz="1100" b="1" i="0">
                <a:solidFill>
                  <a:srgbClr val="C0392B"/>
                </a:solidFill>
              </a:rPr>
              <a:t>The structural headwind (volume loss, domestic share gain) continues.</a:t>
            </a:r>
          </a:p>
        </p:txBody>
      </p:sp>
      <p:sp>
        <p:nvSpPr>
          <p:cNvPr id="25" name="TextBox 24"/>
          <p:cNvSpPr txBox="1"/>
          <p:nvPr/>
        </p:nvSpPr>
        <p:spPr>
          <a:xfrm>
            <a:off x="932688" y="4178807"/>
            <a:ext cx="10698480" cy="438912"/>
          </a:xfrm>
          <a:prstGeom prst="rect">
            <a:avLst/>
          </a:prstGeom>
          <a:noFill/>
        </p:spPr>
        <p:txBody>
          <a:bodyPr wrap="square">
            <a:spAutoFit/>
          </a:bodyPr>
          <a:lstStyle/>
          <a:p>
            <a:pPr algn="l"/>
            <a:r>
              <a:rPr sz="950" b="0" i="0">
                <a:solidFill>
                  <a:srgbClr val="CCCCCC"/>
                </a:solidFill>
              </a:rPr>
              <a:t>Abbott explicitly got 'the price cut with no volume offset.' Domestic rivals (Mindray, Snibe, Maccura) won VBP contracts and are growing rapidly. DRG/DIP hospital payment reform continues to suppress test volumes. These are ongoing, not temporary.</a:t>
            </a:r>
          </a:p>
        </p:txBody>
      </p:sp>
      <p:sp>
        <p:nvSpPr>
          <p:cNvPr id="26" name="Rectangle 25"/>
          <p:cNvSpPr/>
          <p:nvPr/>
        </p:nvSpPr>
        <p:spPr>
          <a:xfrm>
            <a:off x="274320" y="4727448"/>
            <a:ext cx="502920" cy="804672"/>
          </a:xfrm>
          <a:prstGeom prst="rect">
            <a:avLst/>
          </a:prstGeom>
          <a:solidFill>
            <a:srgbClr val="4A9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4910328"/>
            <a:ext cx="502920" cy="457200"/>
          </a:xfrm>
          <a:prstGeom prst="rect">
            <a:avLst/>
          </a:prstGeom>
          <a:noFill/>
        </p:spPr>
        <p:txBody>
          <a:bodyPr wrap="square">
            <a:spAutoFit/>
          </a:bodyPr>
          <a:lstStyle/>
          <a:p>
            <a:pPr algn="ctr"/>
            <a:r>
              <a:rPr sz="2200" b="1" i="0">
                <a:solidFill>
                  <a:srgbClr val="FFFFFF"/>
                </a:solidFill>
              </a:rPr>
              <a:t>5</a:t>
            </a:r>
          </a:p>
        </p:txBody>
      </p:sp>
      <p:sp>
        <p:nvSpPr>
          <p:cNvPr id="28" name="Rectangle 27"/>
          <p:cNvSpPr/>
          <p:nvPr/>
        </p:nvSpPr>
        <p:spPr>
          <a:xfrm>
            <a:off x="777240" y="4727448"/>
            <a:ext cx="11109960" cy="804672"/>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764024"/>
            <a:ext cx="10698480" cy="292608"/>
          </a:xfrm>
          <a:prstGeom prst="rect">
            <a:avLst/>
          </a:prstGeom>
          <a:noFill/>
        </p:spPr>
        <p:txBody>
          <a:bodyPr wrap="square">
            <a:spAutoFit/>
          </a:bodyPr>
          <a:lstStyle/>
          <a:p>
            <a:pPr algn="l"/>
            <a:r>
              <a:rPr sz="1100" b="1" i="0">
                <a:solidFill>
                  <a:srgbClr val="4A90C4"/>
                </a:solidFill>
              </a:rPr>
              <a:t>Watch for new VBP category rollouts — the main residual risk.</a:t>
            </a:r>
          </a:p>
        </p:txBody>
      </p:sp>
      <p:sp>
        <p:nvSpPr>
          <p:cNvPr id="30" name="TextBox 29"/>
          <p:cNvSpPr txBox="1"/>
          <p:nvPr/>
        </p:nvSpPr>
        <p:spPr>
          <a:xfrm>
            <a:off x="932688" y="5074920"/>
            <a:ext cx="10698480" cy="438912"/>
          </a:xfrm>
          <a:prstGeom prst="rect">
            <a:avLst/>
          </a:prstGeom>
          <a:noFill/>
        </p:spPr>
        <p:txBody>
          <a:bodyPr wrap="square">
            <a:spAutoFit/>
          </a:bodyPr>
          <a:lstStyle/>
          <a:p>
            <a:pPr algn="l"/>
            <a:r>
              <a:rPr sz="950" b="0" i="0">
                <a:solidFill>
                  <a:srgbClr val="CCCCCC"/>
                </a:solidFill>
              </a:rPr>
              <a:t>Coagulation at multi-province scale, hematology alliances, and eventually POCT are the next targets. If any of these hit in a category where Abbott has significant share, the headwind cycle starts again. Roche and Siemens confirm the same risk in their own forward guidance language.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